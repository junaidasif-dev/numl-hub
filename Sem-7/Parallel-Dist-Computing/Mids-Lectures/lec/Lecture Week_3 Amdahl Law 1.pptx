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7" r:id="rId2"/>
    <p:sldMasterId id="2147483679" r:id="rId3"/>
  </p:sldMasterIdLst>
  <p:notesMasterIdLst>
    <p:notesMasterId r:id="rId23"/>
  </p:notesMasterIdLst>
  <p:sldIdLst>
    <p:sldId id="338" r:id="rId4"/>
    <p:sldId id="257" r:id="rId5"/>
    <p:sldId id="258" r:id="rId6"/>
    <p:sldId id="259" r:id="rId7"/>
    <p:sldId id="260" r:id="rId8"/>
    <p:sldId id="261" r:id="rId9"/>
    <p:sldId id="262" r:id="rId10"/>
    <p:sldId id="263" r:id="rId11"/>
    <p:sldId id="264" r:id="rId12"/>
    <p:sldId id="265" r:id="rId13"/>
    <p:sldId id="335" r:id="rId14"/>
    <p:sldId id="266" r:id="rId15"/>
    <p:sldId id="336" r:id="rId16"/>
    <p:sldId id="337" r:id="rId17"/>
    <p:sldId id="331" r:id="rId18"/>
    <p:sldId id="332" r:id="rId19"/>
    <p:sldId id="333" r:id="rId20"/>
    <p:sldId id="334" r:id="rId21"/>
    <p:sldId id="32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709" autoAdjust="0"/>
  </p:normalViewPr>
  <p:slideViewPr>
    <p:cSldViewPr snapToGrid="0">
      <p:cViewPr varScale="1">
        <p:scale>
          <a:sx n="66" d="100"/>
          <a:sy n="66" d="100"/>
        </p:scale>
        <p:origin x="150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95855" units="1/cm"/>
          <inkml:channelProperty channel="T" name="resolution" value="1" units="1/dev"/>
        </inkml:channelProperties>
      </inkml:inkSource>
      <inkml:timestamp xml:id="ts0" timeString="2022-03-30T03:25:14.388"/>
    </inkml:context>
    <inkml:brush xml:id="br0">
      <inkml:brushProperty name="width" value="0.05292" units="cm"/>
      <inkml:brushProperty name="height" value="0.05292" units="cm"/>
      <inkml:brushProperty name="color" value="#FF0000"/>
    </inkml:brush>
  </inkml:definitions>
  <inkml:trace contextRef="#ctx0" brushRef="#br0">9475 5798 0</inkml:trace>
  <inkml:trace contextRef="#ctx0" brushRef="#br0" timeOffset="6400.46">16050 5770 0,'0'28'218,"27"-28"-202,1 0 0,-1 0 15,1 0-15,0 0-16,27 0 15,-27 0-15,54 0 16,-54 0-16,55 0 15,-28 0-15,0 0 16,28 0-16,0 0 16,-28 0-16,1 0 15,-1 0-15,0 0 16,-27 0-16,-1 0 16,1 0-16,27 0 15,1 0-15,-29 0 0,28 0 16,-27 0-16,27 0 15,28 0-15,-55 0 16,27 0-16,-27 0 16,27-28-1,28 28-15,-83-27 16,55 27-16,-27 0 16,-1 0-16,1-28 15,27 28-15,-27 0 16,-1 0-1,1 0 1,0 0-16,-1 0 16,28 0-1,-27 0 1,0 0 15,-1 0-15,1 0 31,-28-27 46</inkml:trace>
  <inkml:trace contextRef="#ctx0" brushRef="#br0" timeOffset="6642.88">18149 5688 0</inkml:trace>
  <inkml:trace contextRef="#ctx0" brushRef="#br0" timeOffset="10365.44">7017 7123 0,'55'0'281,"55"0"-281,-54 0 16,-29 0-16,29 0 15,26 0 1,-26-27-16,-29 27 16,28-28-1,1 28-15,-29 0 16,1-28-1,27 28 1,-27 0-16,27 0 16,0 0-1,-27 0 1,0 0 31,-1 0-16,1 0-15,-1 0-1,1 0 63,0 0-62,-1 0 78,1 0-79,0 0 17,-1 0 30,1 0-31,-1 0 1,1 0-17</inkml:trace>
  <inkml:trace contextRef="#ctx0" brushRef="#br0" timeOffset="15908.22">19061 7013 0,'27'0'609,"1"0"-593,-1 0 15,29 0-15,-29 0 31,1 0-32,0 0 48,-1 0-48,1 0-15,27 0 16,-27 0 15,-1 0-31,1 0 16,0 0 15,-1 0-31,28 0 47,-27 0-31,0 0 46,-1 0-46,1 0-1,0 0 1,-1 0 0,1 0-1,-1 0 1,1 0-16,0 0 16,-1 0-1,1 0 1,0 0 15,-1 0-31,1 0 16,-1 0-1,1 0 1,27 0 0,-27 0 15,27 0-31,-27 0 15,27-28 1,-27 28 0,-1 0-16,-27-27 15,56 27 1,-29 0-16,1 0 31,-1 0-15,1 0-1,-28-28 17,28 28-32,-1 0 15,1 0 1,0 0 0,-1 0 15,1 0-16,-1 0 1,1 0 15,0 0-31,-1 0 32,1 0-17,-1 0 1,1 0 15,0 0 0,-1 0-15,1 0 0,27 0-1,-27 0 1,-1 0-1,1 0 1,0 0-16,-1 0 16,-27 28-1,56-28 1,-29 0-16,-27 27 31,28-27-31,-1 0 16,1 0 15,0 0-15,27 0 31,-27 0-16,-1 0 63,1 0-79,-1 28 16,1-1-15,0-27-16,-1 0 16,1 0-16,0 0 15,-1 0 17,1 0-17,27 0 1,0 0-16,-27 0 15,0 0 1,-1 0 15,1 0 16,-56 0 47</inkml:trace>
</inkml:ink>
</file>

<file path=ppt/ink/ink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13793" units="1/cm"/>
          <inkml:channelProperty channel="T" name="resolution" value="1" units="1/dev"/>
        </inkml:channelProperties>
      </inkml:inkSource>
      <inkml:timestamp xml:id="ts0" timeString="2024-02-27T12:08:03.24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definitions>
  <inkml:trace contextRef="#ctx0" brushRef="#br0">15296 9228 0,'0'-40'47,"-40"1"-16,40-41-15,0 1-16,0 0 16,0-40-1,0 40 1,0 39-16,0 1 15,0-1 1,40 40 47,39 0-48,0 0 1,40-39-16,0-1 15,40-39 1,39 39 0,-79 1-16,0-1 15,-1 0 1,1 1 0,0 39-1,40-79-15,-40 39 16,-80 40-1,1 0 1,39-40-16,0 1 31,-39-1-15,39 0 0,-39 40-1,-1-39 1,-39 118 140,0-39-140,0 39-16,0 0 15,-39-39 1,39 39 0,0-39-1,0-1-15,0 1 31,-40-40-15,40 79-16</inkml:trace>
  <inkml:trace contextRef="#ctx0" brushRef="#br0" timeOffset="828.067">16960 7842 0,'40'0'140,"-1"0"-108,1 0-17,0 0-15,-40 39 16,39-39 0,-39 40 15</inkml:trace>
  <inkml:trace contextRef="#ctx0" brushRef="#br0" timeOffset="2265.415">17753 7723 0,'0'0'0,"-40"-40"0,0 1 15,1-41 1,39 41-1,-40-1-15,40 1 16,0-1 0,0 0-1,40 40 32,39 0-31,0-39-16,-39 39 15,39 0 1,-39 0 0,-1 0-1,-39 39 32,0 1-16,0 39-15,0-39 0,0-1-1,-39 1 1,-1 0 0,1-1-16,-1 1 15,0-1 1,40 1-1,-39-40 1,39 40 0,0-1 46,0 1-31,0-1 1,79-39-1,-39 0-15,-1 0-1,1 0 1,-1 0-16,1 0 15,0 0 1,-1 0 0,-39-79 77,0 40-61,0-41-32,0 41 15,0-1 1,-39 40 46</inkml:trace>
  <inkml:trace contextRef="#ctx0" brushRef="#br0" timeOffset="3405.956">18506 7327 0,'-40'0'78,"0"79"-15,1-79-63,39 40 15,0 39 1,-40 0 15,40-39-15,0-1 15,0 1-15,0-1-1,40-39 48,39 0-48,-39 0-15,39 0 16,0 0 0,-39 0 15,-40-39 78,0-1-109,0-79 16,0 80 0,0-40-1,-40 39 16,0 0-15,1 40 0,39-39-16,-40 39 15</inkml:trace>
  <inkml:trace contextRef="#ctx0" brushRef="#br1" timeOffset="11121.832">20883 9149 0,'0'-80'79,"0"41"-64,0-1 1,0 1-1,0-1 1,0 0-16,0-39 16,0 40 15,40-41-31,39 41 16,0-40-1,1 39 1,78-39-1,-39 39-15,0 40 16,0-39 0,0-1-1,-1 0 1,-38 40-16,-1-39 16,79-40-1,-78 79 1,-1-40-16,0 0 15,0 1 1,40-1 0,-79 0-16,0 40 15,-80 0 157,40 40-141,-40 0-31,40-1 16,0 1 0,0 0-1,-39 39-15,-1-79 16,40 79 0,0-39 15</inkml:trace>
  <inkml:trace contextRef="#ctx0" brushRef="#br1" timeOffset="12074.826">22072 7802 0,'40'0'47,"-1"0"-31,40 0 0,1 0-16,-41 40 15,1-40 1,39 0-1,-79 39 1,40-39-16</inkml:trace>
  <inkml:trace contextRef="#ctx0" brushRef="#br1" timeOffset="13793.749">22944 7366 0,'0'0'0,"-40"0"31,40-39 94,40 39-109,39-40-1,-39 40 1,-1 0-16,1 0 31,-1 0-15,1 0 31,-40 40-32,40-1-15,-40 1 31,0 0-15,0-1 0,0 1-1,0-1 1,0 1 0,0 0-16,0-1 15,-40 40 1,40-39-1,-40 0-15,40 39 16,-39-79 0,39 39-1,0 1-15,0 0 32,0-1-17,0 1 1,0 0-1,-40-40 64,1-119-64,-1 39-15,-39 1 16,79 0-1,0 39 1,0 1-16,0-1 16,39 40 62,1 0-63,0 0-15,-1 0 16,40 0 0,-39 0-1,0 40-15,39-1 16,-39 1 15,-1-40-15,1 0-16,-1 40 31,1-40-15,-40 39 15</inkml:trace>
  <inkml:trace contextRef="#ctx0" brushRef="#br1" timeOffset="15074.89">23776 7248 0,'-40'0'16,"1"0"62,39 39-31,-40 40-47,0 1 15,40-1 1,0 0 0,0-39 15,0-1 0,0 1 0,0-1-15,40 1 0,0-40-1,-1 40 1,1-40-1,-1 0 1,1 0 31,39 0 15,-79-40-46,0 0 0,40 40-1,-40-39 1,0-1 62,0 1-62,0-1-16,0 0 15,0 1 1,0-1 0,0 1-16,0-1 15,0 0 32,-40 40-31,1-39 15,-1-1-31</inkml:trace>
  <inkml:trace contextRef="#ctx0" brushRef="#br1" timeOffset="16168.616">19298 7129 0,'0'39'125,"0"1"-109,0 39-1,0 40-15,0 0 16,40-40-1,-1 0 1,1-39-16,-40 39 16,40-79 31</inkml:trace>
  <inkml:trace contextRef="#ctx0" brushRef="#br1" timeOffset="16856.069">19655 7248 0</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1-09-21T12:22:31.739"/>
    </inkml:context>
    <inkml:brush xml:id="br0">
      <inkml:brushProperty name="width" value="0.05292" units="cm"/>
      <inkml:brushProperty name="height" value="0.05292" units="cm"/>
      <inkml:brushProperty name="color" value="#FF0000"/>
    </inkml:brush>
  </inkml:definitions>
  <inkml:trace contextRef="#ctx0" brushRef="#br0">9947 14263 0</inkml:trace>
  <inkml:trace contextRef="#ctx0" brushRef="#br0" timeOffset="9697.01">13047 13965 0</inkml:trace>
  <inkml:trace contextRef="#ctx0" brushRef="#br0" timeOffset="61396.15">12030 13295 0</inkml:trace>
  <inkml:trace contextRef="#ctx0" brushRef="#br0" timeOffset="90078.15">18281 9004 0</inkml:trace>
  <inkml:trace contextRef="#ctx0" brushRef="#br0" timeOffset="117367.33">15081 5730 0</inkml:trace>
  <inkml:trace contextRef="#ctx0" brushRef="#br0" timeOffset="181922.24">16222 4390 0</inkml:trace>
  <inkml:trace contextRef="#ctx0" brushRef="#br0" timeOffset="189218.16">16197 4366 0</inkml:trace>
</inkml:ink>
</file>

<file path=ppt/ink/ink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13793" units="1/cm"/>
          <inkml:channelProperty channel="T" name="resolution" value="1" units="1/dev"/>
        </inkml:channelProperties>
      </inkml:inkSource>
      <inkml:timestamp xml:id="ts0" timeString="2024-02-27T12:25:04.090"/>
    </inkml:context>
    <inkml:brush xml:id="br0">
      <inkml:brushProperty name="width" value="0.05292" units="cm"/>
      <inkml:brushProperty name="height" value="0.05292" units="cm"/>
      <inkml:brushProperty name="color" value="#FF0000"/>
    </inkml:brush>
  </inkml:definitions>
  <inkml:trace contextRef="#ctx0" brushRef="#br0">8718 13743 0,'0'-40'62,"40"40"-15,39 0-16,-39 0-15,-1 0 15,1 0 1,-1 0 14,1 40 17,-40-1-47,0 1 15,0 0 16,0-1 0,0 1-32,0-1 1,0 1 15,0 0-15,0-1-1,0 1 48,0-1-16,-40-39 234,1 0-265,-40 0-1,39 0-15,0 0 16,1 0-1,-1 0 17,-39 0 77,39 0-78,1 0-15,-1 0 15,40-39 16,0-1-16,-40 40-31,40-39 16,0-1 31,0 0-16,0 1 0,0-1 1,0 1-1,0-1 0,0 0 0,40 40 47</inkml:trace>
  <inkml:trace contextRef="#ctx0" brushRef="#br0" timeOffset="7409.403">18109 5584 0,'40'0'0,"0"0"16,-1 0 0,1 0-1,-1 0 17,1 0-17,0 0 1,-1 0 31,-39 40-47,40-1 31,0 1-15,-40 0-1,0-1 16,0 1-15,0-1 0,0 1 15,0 0-31,0-1 16,0 1-1,0-1 1,0 1 46,0 0-62,-40-40 32,40 39 30,-40-39-46,1 40-1,-1-40 1,0 39 0,1 1-1,-1-40 1,1 0-1,-1 0 1,0 0 0,1 0-1,-1 0 1,0 0-16,1 0 16,-1 0 15,1 0-16,-1-40 1,40-39 0,-40 79-1,40-39-15,0-1 32,40 0 14</inkml:trace>
  <inkml:trace contextRef="#ctx0" brushRef="#br0" timeOffset="15221.45">11848 12594 0,'40'0'172,"0"0"-125,-1 0-47,1 0 31,0 0 1,-40 40-17,39-40 48,-39 39-48,0 1 1,40 0 31,-40-1-32,39-39 17,-39 40-17,0-1 1,0 1 15,0 0-15,0-1 31,0 1 0,0 0-1,0-1-30,0 1 47,0-1-1,-39-39-15,-1 0 0,1 0-32,-1 0 1,0 0 0,1 0-1,-1 0 17,0 0-17,1 0 1,-1 0 15,1-39-15,-1-1 31,40 1-32,-40 39 1,40-40-1,0 0 32,0 1-15,0-1-17,0 0 1,0 1-1,0-1 17,0 1-32,0-1 62,40 40 16,-40-40-46,40 40 77,-40-39-15</inkml:trace>
  <inkml:trace contextRef="#ctx0" brushRef="#br0" timeOffset="33861.346">17198 15367 0,'0'-40'78,"40"40"125,-1 0-187,1 0-1,-1 0 16,1 40-15,0-1 31,-40 1 0,39-40-32,-39 79 1,0-39 15,40 39-15,-40-40 0,40 1-1,-40 39 1,0 0-16,0-39 15,39 39 1,-39-39 0,40 39-1,-40-39-15,0-1 16,0 1 15,0 0-31,0-1 16,0 1 15,0-1-31,0 1 16,0 0-1,0-1 1,0 1 0,0-1-16,0 41 15,0-1 16,0-40-15,0 1-16,-40 0 16,1-40-1,39 79 1,-40-40-16,0 1 16,1 39-1,-1-79 1,0 79-16,1-79 62,-1 0-15,1 0-31,-1 0-1,0 0 1,-39 0 0,39 0-16,1 0 31,-1 0-15,1 0-1,-1 0 1,0 0 15,1 0-31,-1 0 16,40-39-1,-40 39 1,1 0-16,39-40 16,-40 40-1,40-39 1,-39 39-1,39-40-15,-40 0 16,0 40 0,40-39-1,-39-1-15,39 1 16,0-1 0,-40 0-1,40 1 1,0-40-16,0 39 15,0 0 1,0 1 0,0-40-1,0 39 1,0-39 15,0 39-31,0 1 16,0-1-1,0-39 1,0 39 0,0 1-16,0-1 15,0 0 1,0 1 0,40-1-16,-1 0 15,-39-39 1,40 40 15,-40-1-31,0 0 16,40 40-1,-40-39 1,39 39-16,1-40 16,-1 1 15,-39-1-16,40 0 1,0 1 15,-40-1-31,39 40 16,1 0 31,-40-39-32,79-1 17,-39 40-17,-1-40 1,1 1 0,0 39-1,-40-40-15,39 40 16,1 0-1,0-39 1,-40-1 0,39 40-16,-39-40 47,40 40-16</inkml:trace>
  <inkml:trace contextRef="#ctx0" brushRef="#br0" timeOffset="61500.362">9709 13703 0,'39'0'141,"1"0"-110,0 0 0,-1 0-15,1 0-1,-40 40 1,39-40 0,-39 39-1,40-39 17,-40 40-1,0 0 78,0-1-78,0 1-15,0-1 15,0 1 16,0 0-16,0-1 48,0 1-48,-40-1-16,40 1 1,-39-40 0,-1 0 77,1 0-14,-1 0-64,0 0-15,-39-40 16,0 1 15,79-1 16,-40 40-31,40-39-1,0-1 16,-39 40-15,39-40 0,0 1 31,0-1-16,0 1-16,0-1 1,0 0 0,0 1-1,39-1 1,1 40-16,-40-39 16</inkml:trace>
  <inkml:trace contextRef="#ctx0" brushRef="#br0" timeOffset="68516.062">8797 12832 0,'40'0'312,"0"0"-312,-1 0 47,1 0 31,-1 0-15,-39 39-32,40-39 0,-40 40-15,0 0 0,40-1 62,-40 1-31,0 0-1,0-1-14,0 1-1,0-1 94,-40-39-47,40 40-62,-40-40 77,40 40-77,-39-40 0,-1 39-1,1-39 1,39 40 0,-40-40 15,0 0 78,1 0-31,-1 0-46,0 0-32,1 0 15,-1 0 48,1-40 15,39 1-16,0-1-30,0 0-1,0 1 16,0-1-32,0 1 17,0-1-17,0 0 16,0 1 1,0-1 15</inkml:trace>
  <inkml:trace contextRef="#ctx0" brushRef="#br0" timeOffset="75206.457">8797 10970 0,'40'0'204,"0"0"-158,-1 0 17,1 0-16,-1 0 15,-39 40-62,0 0 16,40-40 0,-40 39 15,0 1 94,0-1-78,0 1-16,0 0-15,0-1 30,0 1 48,0 0-63,-40-1 48,1-39-64,-1 0 1,40 40-1,-39-40 79,-1 0-31,0 0-48,1 0-15,-1 0 47,0 0 0,1 0-16,-1 0-15,40-40 46,0 1-30,0-1-1,0 0 16,0 1-16,0-1 0,0 0-15,0 1 0,0-1-1,0 1 16,40-1-15</inkml:trace>
  <inkml:trace contextRef="#ctx0" brushRef="#br0" timeOffset="83171.604">8995 8871 0,'40'0'250,"0"0"-218,-1 0 14,1 0 1,0 0 0,-1 0 16,1 0 30,-40 40 126</inkml:trace>
  <inkml:trace contextRef="#ctx0" brushRef="#br0" timeOffset="86610.967">8797 8951 0,'40'0'125,"0"0"-94,-1 0-15,1 0 62,-40 39 0,39-39-62,-39 40 15,0-1-31,0 1 47,0 0 0,0-1-32,0 1 16,0-1-15,0 1 47,0 0-17,0-1 64,0 1-79,0-1 0,-39-39 1,39 40-1,-40-40 16,1 0 31,-1 0-47,40-40-15,-40 40-1,40-39 17,0-1-1,0 1 0,-39 39-15,39-40-1,0 0 1,0 1 0,0-1 15,0-39-16,0 0-15,0 0 16,0 39 0,0 0-1,0 1-15,39 39 63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DF9EE5-29F7-4936-BB9E-C496A010A518}" type="datetimeFigureOut">
              <a:rPr lang="en-US" smtClean="0"/>
              <a:t>2/27/2024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85E8A-A197-49EA-96E2-2AD1E68BD263}" type="slidenum">
              <a:rPr lang="en-US" smtClean="0"/>
              <a:t>‹#›</a:t>
            </a:fld>
            <a:endParaRPr lang="en-US"/>
          </a:p>
        </p:txBody>
      </p:sp>
    </p:spTree>
    <p:extLst>
      <p:ext uri="{BB962C8B-B14F-4D97-AF65-F5344CB8AC3E}">
        <p14:creationId xmlns:p14="http://schemas.microsoft.com/office/powerpoint/2010/main" val="1664205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800" b="0" i="0" dirty="0">
                <a:solidFill>
                  <a:srgbClr val="262626"/>
                </a:solidFill>
                <a:effectLst/>
                <a:latin typeface="NewBaskerville-Roman"/>
              </a:rPr>
              <a:t>Parallelization based on individual processes with their own memory spaces can be distributed memory on different nodes of a computer or within a node. Stream</a:t>
            </a:r>
            <a:br>
              <a:rPr lang="en-US" sz="1800" b="0" i="0" dirty="0">
                <a:solidFill>
                  <a:srgbClr val="262626"/>
                </a:solidFill>
                <a:effectLst/>
                <a:latin typeface="NewBaskerville-Roman"/>
              </a:rPr>
            </a:br>
            <a:r>
              <a:rPr lang="en-US" sz="1800" b="0" i="0" dirty="0">
                <a:solidFill>
                  <a:srgbClr val="262626"/>
                </a:solidFill>
                <a:effectLst/>
                <a:latin typeface="NewBaskerville-Roman"/>
              </a:rPr>
              <a:t>processing is generally associated with GPUs. The model for modern hardware and application software will help you better understand how to plan to port your application to current parallel hardware.</a:t>
            </a:r>
            <a:r>
              <a:rPr lang="en-US" dirty="0"/>
              <a:t> </a:t>
            </a:r>
            <a:br>
              <a:rPr lang="en-US" dirty="0"/>
            </a:br>
            <a:endParaRPr lang="LID4096" dirty="0"/>
          </a:p>
        </p:txBody>
      </p:sp>
      <p:sp>
        <p:nvSpPr>
          <p:cNvPr id="4" name="Slide Number Placeholder 3"/>
          <p:cNvSpPr>
            <a:spLocks noGrp="1"/>
          </p:cNvSpPr>
          <p:nvPr>
            <p:ph type="sldNum" sz="quarter" idx="5"/>
          </p:nvPr>
        </p:nvSpPr>
        <p:spPr/>
        <p:txBody>
          <a:bodyPr/>
          <a:lstStyle/>
          <a:p>
            <a:fld id="{EAD85E8A-A197-49EA-96E2-2AD1E68BD263}" type="slidenum">
              <a:rPr lang="en-US" smtClean="0"/>
              <a:t>13</a:t>
            </a:fld>
            <a:endParaRPr lang="en-US"/>
          </a:p>
        </p:txBody>
      </p:sp>
    </p:spTree>
    <p:extLst>
      <p:ext uri="{BB962C8B-B14F-4D97-AF65-F5344CB8AC3E}">
        <p14:creationId xmlns:p14="http://schemas.microsoft.com/office/powerpoint/2010/main" val="291266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Vectorization—Work on more than one unit of data at a time</a:t>
            </a:r>
            <a:br>
              <a:rPr lang="en-US" dirty="0"/>
            </a:br>
            <a:r>
              <a:rPr lang="en-US" dirty="0"/>
              <a:t>– Threads —Deploy more than one compute pathway to engage more processing cores</a:t>
            </a:r>
            <a:br>
              <a:rPr lang="en-US" dirty="0"/>
            </a:br>
            <a:r>
              <a:rPr lang="en-US" dirty="0"/>
              <a:t>– Processes—Separate program instances to spread out the calculation into separate memory spaces</a:t>
            </a:r>
            <a:br>
              <a:rPr lang="en-US" dirty="0"/>
            </a:br>
            <a:r>
              <a:rPr lang="en-US" dirty="0"/>
              <a:t>– Off-loading the calculation to GPUs—Send the data to the graphics processor to</a:t>
            </a:r>
            <a:br>
              <a:rPr lang="en-US" dirty="0"/>
            </a:br>
            <a:r>
              <a:rPr lang="en-US" dirty="0"/>
              <a:t>calculate </a:t>
            </a:r>
            <a:br>
              <a:rPr lang="en-US" dirty="0"/>
            </a:br>
            <a:endParaRPr lang="LID4096" dirty="0"/>
          </a:p>
        </p:txBody>
      </p:sp>
      <p:sp>
        <p:nvSpPr>
          <p:cNvPr id="4" name="Slide Number Placeholder 3"/>
          <p:cNvSpPr>
            <a:spLocks noGrp="1"/>
          </p:cNvSpPr>
          <p:nvPr>
            <p:ph type="sldNum" sz="quarter" idx="5"/>
          </p:nvPr>
        </p:nvSpPr>
        <p:spPr/>
        <p:txBody>
          <a:bodyPr/>
          <a:lstStyle/>
          <a:p>
            <a:fld id="{EAD85E8A-A197-49EA-96E2-2AD1E68BD263}" type="slidenum">
              <a:rPr lang="en-US" smtClean="0"/>
              <a:t>14</a:t>
            </a:fld>
            <a:endParaRPr lang="en-US"/>
          </a:p>
        </p:txBody>
      </p:sp>
    </p:spTree>
    <p:extLst>
      <p:ext uri="{BB962C8B-B14F-4D97-AF65-F5344CB8AC3E}">
        <p14:creationId xmlns:p14="http://schemas.microsoft.com/office/powerpoint/2010/main" val="3060904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903859" y="1728598"/>
            <a:ext cx="5336285" cy="677108"/>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subTitle" idx="4"/>
          </p:nvPr>
        </p:nvSpPr>
        <p:spPr>
          <a:xfrm>
            <a:off x="2053084" y="3568675"/>
            <a:ext cx="5037835" cy="492443"/>
          </a:xfrm>
          <a:prstGeom prst="rect">
            <a:avLst/>
          </a:prstGeom>
        </p:spPr>
        <p:txBody>
          <a:bodyPr wrap="square" lIns="0" tIns="0" rIns="0" bIns="0">
            <a:spAutoFit/>
          </a:bodyPr>
          <a:lstStyle>
            <a:lvl1pPr>
              <a:defRPr sz="3200" b="0" i="0" u="heavy">
                <a:solidFill>
                  <a:schemeClr val="hlink"/>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00768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089824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9244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11100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718216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095969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3004565" y="461901"/>
            <a:ext cx="3134868" cy="2708434"/>
          </a:xfrm>
        </p:spPr>
        <p:txBody>
          <a:bodyPr/>
          <a:lstStyle/>
          <a:p>
            <a:r>
              <a:rPr lang="de-DE"/>
              <a:t>Titelmasterformat durch Klicken bearbeiten</a:t>
            </a:r>
          </a:p>
        </p:txBody>
      </p:sp>
      <p:sp>
        <p:nvSpPr>
          <p:cNvPr id="3" name="Inhaltsplatzhalter 2"/>
          <p:cNvSpPr>
            <a:spLocks noGrp="1"/>
          </p:cNvSpPr>
          <p:nvPr>
            <p:ph sz="half" idx="1"/>
          </p:nvPr>
        </p:nvSpPr>
        <p:spPr>
          <a:xfrm>
            <a:off x="457200" y="1600204"/>
            <a:ext cx="4038600" cy="20928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48200" y="1600204"/>
            <a:ext cx="4038600" cy="20928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5A2ABE47-9B4F-4BE7-BD84-C5864EF90CD1}" type="datetime1">
              <a:rPr lang="de-DE" smtClean="0"/>
              <a:t>27.02.2024</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6C6AE60A-B69C-4790-82F7-3882EDF23186}" type="slidenum">
              <a:rPr lang="de-DE" smtClean="0"/>
              <a:t>‹#›</a:t>
            </a:fld>
            <a:endParaRPr lang="de-DE"/>
          </a:p>
        </p:txBody>
      </p:sp>
    </p:spTree>
    <p:extLst>
      <p:ext uri="{BB962C8B-B14F-4D97-AF65-F5344CB8AC3E}">
        <p14:creationId xmlns:p14="http://schemas.microsoft.com/office/powerpoint/2010/main" val="134470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0B4F17-C843-4DBB-B859-C77EA1F01CA2}" type="datetime1">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2794847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D6111C-B94E-42B8-B445-5EB7C98BDEFA}" type="datetime1">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2722358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AEB5BEB-004C-45AF-9D38-AF2A5B6958D8}" type="datetime1">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3569526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3F3847-5007-47F7-9DE7-1A8B40CDBD7A}" type="datetime1">
              <a:rPr lang="en-US" smtClean="0"/>
              <a:t>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518931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38C468-910D-4313-A10C-FCB0AD170BFD}" type="datetime1">
              <a:rPr lang="en-US" smtClean="0"/>
              <a:t>2/27/2024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1419815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B9082A-79BD-433F-9B5F-8BCD4EAA65BE}" type="datetime1">
              <a:rPr lang="en-US" smtClean="0"/>
              <a:t>2/27/2024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39921303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A1E931-F403-4304-9F63-1E06B9CECA24}" type="datetime1">
              <a:rPr lang="en-US" smtClean="0"/>
              <a:t>2/27/2024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4263054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D999AFF-1278-442B-856D-5DA176929955}" type="datetime1">
              <a:rPr lang="en-US" smtClean="0"/>
              <a:t>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5008177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5896CE0-495C-4667-B550-99C326EA790F}" type="datetime1">
              <a:rPr lang="en-US" smtClean="0"/>
              <a:t>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1292012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0B1E5B-267A-4BE7-9081-5F0AACC5A54F}" type="datetime1">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38989364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BFDB41-B124-4EA0-B637-71E64E804772}" type="datetime1">
              <a:rPr lang="en-US" smtClean="0"/>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20865852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C697DB89-CDD6-472D-8A6C-DAA95BB1FA3E}"/>
              </a:ext>
            </a:extLst>
          </p:cNvPr>
          <p:cNvGrpSpPr>
            <a:grpSpLocks/>
          </p:cNvGrpSpPr>
          <p:nvPr/>
        </p:nvGrpSpPr>
        <p:grpSpPr bwMode="auto">
          <a:xfrm>
            <a:off x="0" y="0"/>
            <a:ext cx="5867400" cy="6858000"/>
            <a:chOff x="0" y="0"/>
            <a:chExt cx="3696" cy="4320"/>
          </a:xfrm>
        </p:grpSpPr>
        <p:sp>
          <p:nvSpPr>
            <p:cNvPr id="5" name="Rectangle 3">
              <a:extLst>
                <a:ext uri="{FF2B5EF4-FFF2-40B4-BE49-F238E27FC236}">
                  <a16:creationId xmlns:a16="http://schemas.microsoft.com/office/drawing/2014/main" id="{2D1A2CC5-F66F-4FF1-9C12-E4C07F549013}"/>
                </a:ext>
              </a:extLst>
            </p:cNvPr>
            <p:cNvSpPr>
              <a:spLocks noChangeArrowheads="1"/>
            </p:cNvSpPr>
            <p:nvPr/>
          </p:nvSpPr>
          <p:spPr bwMode="auto">
            <a:xfrm>
              <a:off x="0" y="0"/>
              <a:ext cx="2880" cy="432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PK" altLang="en-PK" sz="2400" b="0" i="0" u="none" strike="noStrike" kern="1200" cap="none" spc="0" normalizeH="0" baseline="0" noProof="0">
                <a:ln>
                  <a:noFill/>
                </a:ln>
                <a:solidFill>
                  <a:srgbClr val="003366"/>
                </a:solidFill>
                <a:effectLst/>
                <a:uLnTx/>
                <a:uFillTx/>
                <a:latin typeface="Times New Roman" panose="02020603050405020304" pitchFamily="18" charset="0"/>
                <a:ea typeface="+mn-ea"/>
                <a:cs typeface="+mn-cs"/>
              </a:endParaRPr>
            </a:p>
          </p:txBody>
        </p:sp>
        <p:sp>
          <p:nvSpPr>
            <p:cNvPr id="6" name="AutoShape 4">
              <a:extLst>
                <a:ext uri="{FF2B5EF4-FFF2-40B4-BE49-F238E27FC236}">
                  <a16:creationId xmlns:a16="http://schemas.microsoft.com/office/drawing/2014/main" id="{94194141-4B13-4C0B-9E9E-4B6DF58F22B6}"/>
                </a:ext>
              </a:extLst>
            </p:cNvPr>
            <p:cNvSpPr>
              <a:spLocks noChangeArrowheads="1"/>
            </p:cNvSpPr>
            <p:nvPr/>
          </p:nvSpPr>
          <p:spPr bwMode="white">
            <a:xfrm>
              <a:off x="432" y="624"/>
              <a:ext cx="3264" cy="1200"/>
            </a:xfrm>
            <a:prstGeom prst="roundRect">
              <a:avLst>
                <a:gd name="adj" fmla="val 50000"/>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PK" altLang="en-PK" sz="2400" b="0" i="0" u="none" strike="noStrike" kern="1200" cap="none" spc="0" normalizeH="0" baseline="0" noProof="0">
                <a:ln>
                  <a:noFill/>
                </a:ln>
                <a:solidFill>
                  <a:srgbClr val="003366"/>
                </a:solidFill>
                <a:effectLst/>
                <a:uLnTx/>
                <a:uFillTx/>
                <a:latin typeface="Times New Roman" panose="02020603050405020304" pitchFamily="18" charset="0"/>
                <a:ea typeface="+mn-ea"/>
                <a:cs typeface="+mn-cs"/>
              </a:endParaRPr>
            </a:p>
          </p:txBody>
        </p:sp>
      </p:grpSp>
      <p:grpSp>
        <p:nvGrpSpPr>
          <p:cNvPr id="7" name="Group 5">
            <a:extLst>
              <a:ext uri="{FF2B5EF4-FFF2-40B4-BE49-F238E27FC236}">
                <a16:creationId xmlns:a16="http://schemas.microsoft.com/office/drawing/2014/main" id="{4CCC10C4-1070-49FF-9EC0-FC19F4D37B5A}"/>
              </a:ext>
            </a:extLst>
          </p:cNvPr>
          <p:cNvGrpSpPr>
            <a:grpSpLocks/>
          </p:cNvGrpSpPr>
          <p:nvPr/>
        </p:nvGrpSpPr>
        <p:grpSpPr bwMode="auto">
          <a:xfrm>
            <a:off x="3632200" y="4889500"/>
            <a:ext cx="4876800" cy="319088"/>
            <a:chOff x="2288" y="3080"/>
            <a:chExt cx="3072" cy="201"/>
          </a:xfrm>
        </p:grpSpPr>
        <p:sp>
          <p:nvSpPr>
            <p:cNvPr id="8" name="AutoShape 6">
              <a:extLst>
                <a:ext uri="{FF2B5EF4-FFF2-40B4-BE49-F238E27FC236}">
                  <a16:creationId xmlns:a16="http://schemas.microsoft.com/office/drawing/2014/main" id="{95304FCF-25DE-4BD8-A83B-51D9A6ECE647}"/>
                </a:ext>
              </a:extLst>
            </p:cNvPr>
            <p:cNvSpPr>
              <a:spLocks noChangeArrowheads="1"/>
            </p:cNvSpPr>
            <p:nvPr/>
          </p:nvSpPr>
          <p:spPr bwMode="auto">
            <a:xfrm flipH="1">
              <a:off x="2288" y="3080"/>
              <a:ext cx="2914" cy="200"/>
            </a:xfrm>
            <a:prstGeom prst="roundRect">
              <a:avLst>
                <a:gd name="adj" fmla="val 0"/>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sp>
          <p:nvSpPr>
            <p:cNvPr id="9" name="AutoShape 7">
              <a:extLst>
                <a:ext uri="{FF2B5EF4-FFF2-40B4-BE49-F238E27FC236}">
                  <a16:creationId xmlns:a16="http://schemas.microsoft.com/office/drawing/2014/main" id="{16389DA0-8CD8-4422-9A8F-A93463A81D39}"/>
                </a:ext>
              </a:extLst>
            </p:cNvPr>
            <p:cNvSpPr>
              <a:spLocks noChangeArrowheads="1"/>
            </p:cNvSpPr>
            <p:nvPr/>
          </p:nvSpPr>
          <p:spPr bwMode="auto">
            <a:xfrm>
              <a:off x="5196" y="3080"/>
              <a:ext cx="164" cy="201"/>
            </a:xfrm>
            <a:prstGeom prst="flowChartDelay">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grpSp>
      <p:sp>
        <p:nvSpPr>
          <p:cNvPr id="5128" name="Rectangle 8"/>
          <p:cNvSpPr>
            <a:spLocks noGrp="1" noChangeArrowheads="1"/>
          </p:cNvSpPr>
          <p:nvPr>
            <p:ph type="subTitle" idx="1"/>
          </p:nvPr>
        </p:nvSpPr>
        <p:spPr>
          <a:xfrm>
            <a:off x="4673601" y="2927350"/>
            <a:ext cx="4013200" cy="1822450"/>
          </a:xfrm>
        </p:spPr>
        <p:txBody>
          <a:bodyPr anchor="b"/>
          <a:lstStyle>
            <a:lvl1pPr marL="0" indent="0">
              <a:buFont typeface="Wingdings" pitchFamily="2" charset="2"/>
              <a:buNone/>
              <a:defRPr>
                <a:solidFill>
                  <a:schemeClr val="tx2"/>
                </a:solidFill>
              </a:defRPr>
            </a:lvl1pPr>
          </a:lstStyle>
          <a:p>
            <a:r>
              <a:rPr lang="en-US"/>
              <a:t>Click to edit Master subtitle style</a:t>
            </a:r>
          </a:p>
        </p:txBody>
      </p:sp>
      <p:sp>
        <p:nvSpPr>
          <p:cNvPr id="5132"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r>
              <a:rPr lang="en-US"/>
              <a:t>Click to edit Master title style</a:t>
            </a:r>
          </a:p>
        </p:txBody>
      </p:sp>
      <p:sp>
        <p:nvSpPr>
          <p:cNvPr id="10" name="Date Placeholder 9">
            <a:extLst>
              <a:ext uri="{FF2B5EF4-FFF2-40B4-BE49-F238E27FC236}">
                <a16:creationId xmlns:a16="http://schemas.microsoft.com/office/drawing/2014/main" id="{E9144541-1081-4B27-9E4B-DD51FC1DCE6A}"/>
              </a:ext>
            </a:extLst>
          </p:cNvPr>
          <p:cNvSpPr>
            <a:spLocks noGrp="1" noChangeArrowheads="1"/>
          </p:cNvSpPr>
          <p:nvPr>
            <p:ph type="dt" sz="quarter" idx="10"/>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00B4F17-C843-4DBB-B859-C77EA1F01CA2}" type="datetime1">
              <a:rPr kumimoji="0" lang="en-US" sz="1400" b="0" i="0" u="none" strike="noStrike" kern="1200" cap="none" spc="0" normalizeH="0" baseline="0" noProof="0" smtClean="0">
                <a:ln>
                  <a:noFill/>
                </a:ln>
                <a:solidFill>
                  <a:srgbClr val="FFFFFF"/>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2/27/2024</a:t>
            </a:fld>
            <a:endParaRPr kumimoji="0" lang="en-US" sz="1400" b="0" i="0" u="none" strike="noStrike" kern="1200" cap="none" spc="0" normalizeH="0" baseline="0" noProof="0">
              <a:ln>
                <a:noFill/>
              </a:ln>
              <a:solidFill>
                <a:srgbClr val="FFFFFF"/>
              </a:solidFill>
              <a:effectLst/>
              <a:uLnTx/>
              <a:uFillTx/>
              <a:latin typeface="Arial" charset="0"/>
              <a:ea typeface="+mn-ea"/>
              <a:cs typeface="+mn-cs"/>
            </a:endParaRPr>
          </a:p>
        </p:txBody>
      </p:sp>
      <p:sp>
        <p:nvSpPr>
          <p:cNvPr id="11" name="Footer Placeholder 10">
            <a:extLst>
              <a:ext uri="{FF2B5EF4-FFF2-40B4-BE49-F238E27FC236}">
                <a16:creationId xmlns:a16="http://schemas.microsoft.com/office/drawing/2014/main" id="{97755DD8-7CD3-439F-A290-5D547A54A737}"/>
              </a:ext>
            </a:extLst>
          </p:cNvPr>
          <p:cNvSpPr>
            <a:spLocks noGrp="1" noChangeArrowheads="1"/>
          </p:cNvSpPr>
          <p:nvPr>
            <p:ph type="ftr" sz="quarter" idx="11"/>
          </p:nvPr>
        </p:nvSpPr>
        <p:spPr/>
        <p:txBody>
          <a:bodyPr/>
          <a:lstStyle>
            <a:lvl1pPr algn="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12" name="Slide Number Placeholder 11">
            <a:extLst>
              <a:ext uri="{FF2B5EF4-FFF2-40B4-BE49-F238E27FC236}">
                <a16:creationId xmlns:a16="http://schemas.microsoft.com/office/drawing/2014/main" id="{2137CD04-9D5B-417F-A66B-C38A4D2D5246}"/>
              </a:ext>
            </a:extLst>
          </p:cNvPr>
          <p:cNvSpPr>
            <a:spLocks noGrp="1" noChangeArrowheads="1"/>
          </p:cNvSpPr>
          <p:nvPr>
            <p:ph type="sldNum" sz="quarter" idx="12"/>
          </p:nvPr>
        </p:nvSpPr>
        <p:spPr>
          <a:xfrm>
            <a:off x="76202" y="6248400"/>
            <a:ext cx="587375" cy="488950"/>
          </a:xfrm>
        </p:spPr>
        <p:txBody>
          <a:bodyP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3857694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6D41561C-CEBF-48F4-9E28-C4482E17CA74}"/>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CD6111C-B94E-42B8-B445-5EB7C98BDEFA}"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2/27/2024</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0E5660E3-240B-41E3-888C-1B88C6F558A9}"/>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59180715-2C5B-4D99-B35D-5CB9C8F567D7}"/>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7463943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11">
            <a:extLst>
              <a:ext uri="{FF2B5EF4-FFF2-40B4-BE49-F238E27FC236}">
                <a16:creationId xmlns:a16="http://schemas.microsoft.com/office/drawing/2014/main" id="{9AE7B7F9-9B63-4C99-B240-FC12E76B5802}"/>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AEB5BEB-004C-45AF-9D38-AF2A5B6958D8}"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2/27/2024</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6EDBDB97-8B17-4504-8ADA-64F907DF670C}"/>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331478AB-4749-4D3C-8589-3B6D14C30A9C}"/>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42019047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2" y="2362204"/>
            <a:ext cx="377031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0914" y="2362204"/>
            <a:ext cx="3770312"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38D3B876-73DB-429F-B4A5-ACDB21507ACA}"/>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13F3847-5007-47F7-9DE7-1A8B40CDBD7A}"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2/27/2024</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2">
            <a:extLst>
              <a:ext uri="{FF2B5EF4-FFF2-40B4-BE49-F238E27FC236}">
                <a16:creationId xmlns:a16="http://schemas.microsoft.com/office/drawing/2014/main" id="{B730567E-7D9B-4A0A-8C19-E932DA0EC6FD}"/>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7" name="Rectangle 13">
            <a:extLst>
              <a:ext uri="{FF2B5EF4-FFF2-40B4-BE49-F238E27FC236}">
                <a16:creationId xmlns:a16="http://schemas.microsoft.com/office/drawing/2014/main" id="{E332F7B6-D444-4E55-96A6-522A403CFEE0}"/>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2837354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23D9AB9F-2A0C-4FBB-B382-9C21E1687AF2}"/>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538C468-910D-4313-A10C-FCB0AD170BFD}"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2/27/2024</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8" name="Rectangle 12">
            <a:extLst>
              <a:ext uri="{FF2B5EF4-FFF2-40B4-BE49-F238E27FC236}">
                <a16:creationId xmlns:a16="http://schemas.microsoft.com/office/drawing/2014/main" id="{DA914F3E-D7BB-499F-8AAC-D29CA4F04513}"/>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9" name="Rectangle 13">
            <a:extLst>
              <a:ext uri="{FF2B5EF4-FFF2-40B4-BE49-F238E27FC236}">
                <a16:creationId xmlns:a16="http://schemas.microsoft.com/office/drawing/2014/main" id="{07F3BCB4-F714-4117-802E-711CF7676F4A}"/>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5513007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F582D231-FDF6-426E-A616-698440509C70}"/>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6B9082A-79BD-433F-9B5F-8BCD4EAA65BE}"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2/27/2024</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4" name="Rectangle 12">
            <a:extLst>
              <a:ext uri="{FF2B5EF4-FFF2-40B4-BE49-F238E27FC236}">
                <a16:creationId xmlns:a16="http://schemas.microsoft.com/office/drawing/2014/main" id="{0EDCA115-9E3C-40D4-8912-F4E20DB6BA21}"/>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3">
            <a:extLst>
              <a:ext uri="{FF2B5EF4-FFF2-40B4-BE49-F238E27FC236}">
                <a16:creationId xmlns:a16="http://schemas.microsoft.com/office/drawing/2014/main" id="{2499D514-9105-4111-8B91-F8810A02CA1E}"/>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2299158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2939D947-A124-40F1-A1CD-BD82F65EC023}"/>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FA1E931-F403-4304-9F63-1E06B9CECA24}"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2/27/2024</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3" name="Rectangle 12">
            <a:extLst>
              <a:ext uri="{FF2B5EF4-FFF2-40B4-BE49-F238E27FC236}">
                <a16:creationId xmlns:a16="http://schemas.microsoft.com/office/drawing/2014/main" id="{3EDE26CF-7FFF-494A-9127-8D239D271FE7}"/>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4" name="Rectangle 13">
            <a:extLst>
              <a:ext uri="{FF2B5EF4-FFF2-40B4-BE49-F238E27FC236}">
                <a16:creationId xmlns:a16="http://schemas.microsoft.com/office/drawing/2014/main" id="{008D1E9E-3392-4D0F-B80B-A17511304F48}"/>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5713883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11">
            <a:extLst>
              <a:ext uri="{FF2B5EF4-FFF2-40B4-BE49-F238E27FC236}">
                <a16:creationId xmlns:a16="http://schemas.microsoft.com/office/drawing/2014/main" id="{E3958604-85A8-4A4E-97A7-ABA204D8DF83}"/>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D999AFF-1278-442B-856D-5DA176929955}"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2/27/2024</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2">
            <a:extLst>
              <a:ext uri="{FF2B5EF4-FFF2-40B4-BE49-F238E27FC236}">
                <a16:creationId xmlns:a16="http://schemas.microsoft.com/office/drawing/2014/main" id="{84B8F9BB-0FC1-41C7-ADBB-7B2886ABC111}"/>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7" name="Rectangle 13">
            <a:extLst>
              <a:ext uri="{FF2B5EF4-FFF2-40B4-BE49-F238E27FC236}">
                <a16:creationId xmlns:a16="http://schemas.microsoft.com/office/drawing/2014/main" id="{0CABE9D4-E092-4117-9D3B-3D8D4681F1E9}"/>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6881627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11">
            <a:extLst>
              <a:ext uri="{FF2B5EF4-FFF2-40B4-BE49-F238E27FC236}">
                <a16:creationId xmlns:a16="http://schemas.microsoft.com/office/drawing/2014/main" id="{ED75601F-C8A4-4A90-80B4-5F520901F0CD}"/>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5896CE0-495C-4667-B550-99C326EA790F}"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2/27/2024</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2">
            <a:extLst>
              <a:ext uri="{FF2B5EF4-FFF2-40B4-BE49-F238E27FC236}">
                <a16:creationId xmlns:a16="http://schemas.microsoft.com/office/drawing/2014/main" id="{72DF7F1E-3D7B-4FB8-A9F7-B9D427D05816}"/>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7" name="Rectangle 13">
            <a:extLst>
              <a:ext uri="{FF2B5EF4-FFF2-40B4-BE49-F238E27FC236}">
                <a16:creationId xmlns:a16="http://schemas.microsoft.com/office/drawing/2014/main" id="{7AFB0A65-4C06-4F69-91E5-B374EC5B4499}"/>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7930748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64D6AB3-0BE0-4AE2-A565-F6DB7E10D854}"/>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540B1E5B-267A-4BE7-9081-5F0AACC5A54F}"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2/27/2024</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984E88F6-7B9B-48EF-88D1-8B85462701E2}"/>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6AFD07A6-C54B-4303-8783-79A5AA51DF0A}"/>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6911018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762004"/>
            <a:ext cx="1981200" cy="53244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762004"/>
            <a:ext cx="5791200" cy="53244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BE454C69-05BB-4376-BF5B-F23F07E40E4A}"/>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5BFDB41-B124-4EA0-B637-71E64E804772}"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2/27/2024</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4BE95B74-3904-4687-A858-1857057DFA2E}"/>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001F3940-CBCF-4E25-ACC0-395A595B0371}"/>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9311580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p>
            <a:r>
              <a:rPr lang="en-US"/>
              <a:t>Click to edit Master title style</a:t>
            </a:r>
          </a:p>
        </p:txBody>
      </p:sp>
      <p:sp>
        <p:nvSpPr>
          <p:cNvPr id="3" name="Table Placeholder 2"/>
          <p:cNvSpPr>
            <a:spLocks noGrp="1"/>
          </p:cNvSpPr>
          <p:nvPr>
            <p:ph type="tbl" idx="1"/>
          </p:nvPr>
        </p:nvSpPr>
        <p:spPr>
          <a:xfrm>
            <a:off x="838202" y="2362204"/>
            <a:ext cx="7693025" cy="3724275"/>
          </a:xfrm>
        </p:spPr>
        <p:txBody>
          <a:bodyPr/>
          <a:lstStyle/>
          <a:p>
            <a:pPr lvl="0"/>
            <a:r>
              <a:rPr lang="en-US" noProof="0"/>
              <a:t>Click icon to add table</a:t>
            </a:r>
          </a:p>
        </p:txBody>
      </p:sp>
      <p:sp>
        <p:nvSpPr>
          <p:cNvPr id="4" name="Rectangle 11">
            <a:extLst>
              <a:ext uri="{FF2B5EF4-FFF2-40B4-BE49-F238E27FC236}">
                <a16:creationId xmlns:a16="http://schemas.microsoft.com/office/drawing/2014/main" id="{BF77D68F-D4CE-414A-BDA9-E33AB488CC07}"/>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C9712A5-15C0-46B1-B4C5-317166927FB6}"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2/27/2024</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2B1A1324-E8FC-418E-94C0-85F2BD7D6EDE}"/>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E9B9D749-3CF9-4C82-90AE-BA2A543AFDF7}"/>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86258667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3.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004565" y="461899"/>
            <a:ext cx="3134868" cy="696594"/>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a:xfrm>
            <a:off x="535939" y="1558493"/>
            <a:ext cx="8072120" cy="492443"/>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3"/>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3"/>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2/27/2024</a:t>
            </a:fld>
            <a:endParaRPr lang="en-US"/>
          </a:p>
        </p:txBody>
      </p:sp>
      <p:sp>
        <p:nvSpPr>
          <p:cNvPr id="6" name="Holder 6"/>
          <p:cNvSpPr>
            <a:spLocks noGrp="1"/>
          </p:cNvSpPr>
          <p:nvPr>
            <p:ph type="sldNum" sz="quarter" idx="7"/>
          </p:nvPr>
        </p:nvSpPr>
        <p:spPr>
          <a:xfrm>
            <a:off x="6583680" y="6377943"/>
            <a:ext cx="210312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4806215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9712A5-15C0-46B1-B4C5-317166927FB6}" type="datetime1">
              <a:rPr lang="en-US" smtClean="0"/>
              <a:t>2/27/2024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12D027-24A8-4AF6-867F-FA52C9C9E1D1}" type="slidenum">
              <a:rPr lang="en-US" smtClean="0"/>
              <a:t>‹#›</a:t>
            </a:fld>
            <a:endParaRPr lang="en-US"/>
          </a:p>
        </p:txBody>
      </p:sp>
    </p:spTree>
    <p:extLst>
      <p:ext uri="{BB962C8B-B14F-4D97-AF65-F5344CB8AC3E}">
        <p14:creationId xmlns:p14="http://schemas.microsoft.com/office/powerpoint/2010/main" val="43850419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B2A3329E-0904-47A4-ACB5-5B91293A5AE5}"/>
              </a:ext>
            </a:extLst>
          </p:cNvPr>
          <p:cNvGrpSpPr>
            <a:grpSpLocks/>
          </p:cNvGrpSpPr>
          <p:nvPr/>
        </p:nvGrpSpPr>
        <p:grpSpPr bwMode="auto">
          <a:xfrm>
            <a:off x="0" y="0"/>
            <a:ext cx="7620000" cy="6858000"/>
            <a:chOff x="0" y="0"/>
            <a:chExt cx="4800" cy="4320"/>
          </a:xfrm>
        </p:grpSpPr>
        <p:grpSp>
          <p:nvGrpSpPr>
            <p:cNvPr id="1032" name="Group 3">
              <a:extLst>
                <a:ext uri="{FF2B5EF4-FFF2-40B4-BE49-F238E27FC236}">
                  <a16:creationId xmlns:a16="http://schemas.microsoft.com/office/drawing/2014/main" id="{0FF77DB7-AD29-49C8-93AA-EA0184FC38B0}"/>
                </a:ext>
              </a:extLst>
            </p:cNvPr>
            <p:cNvGrpSpPr>
              <a:grpSpLocks/>
            </p:cNvGrpSpPr>
            <p:nvPr/>
          </p:nvGrpSpPr>
          <p:grpSpPr bwMode="auto">
            <a:xfrm>
              <a:off x="0" y="0"/>
              <a:ext cx="2016" cy="4320"/>
              <a:chOff x="0" y="0"/>
              <a:chExt cx="2016" cy="4320"/>
            </a:xfrm>
          </p:grpSpPr>
          <p:sp>
            <p:nvSpPr>
              <p:cNvPr id="1036" name="Rectangle 4">
                <a:extLst>
                  <a:ext uri="{FF2B5EF4-FFF2-40B4-BE49-F238E27FC236}">
                    <a16:creationId xmlns:a16="http://schemas.microsoft.com/office/drawing/2014/main" id="{D438BB5E-926C-4E0C-9E77-FE8E0784A033}"/>
                  </a:ext>
                </a:extLst>
              </p:cNvPr>
              <p:cNvSpPr>
                <a:spLocks noChangeArrowheads="1"/>
              </p:cNvSpPr>
              <p:nvPr/>
            </p:nvSpPr>
            <p:spPr bwMode="auto">
              <a:xfrm>
                <a:off x="0" y="0"/>
                <a:ext cx="480" cy="432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sp>
            <p:nvSpPr>
              <p:cNvPr id="1037" name="Freeform 5">
                <a:extLst>
                  <a:ext uri="{FF2B5EF4-FFF2-40B4-BE49-F238E27FC236}">
                    <a16:creationId xmlns:a16="http://schemas.microsoft.com/office/drawing/2014/main" id="{95302D45-DF44-4885-8F20-439784359D8D}"/>
                  </a:ext>
                </a:extLst>
              </p:cNvPr>
              <p:cNvSpPr>
                <a:spLocks/>
              </p:cNvSpPr>
              <p:nvPr/>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xtLst>
                <a:ext uri="{91240B29-F687-4F45-9708-019B960494DF}">
                  <a14:hiddenLine xmlns:a14="http://schemas.microsoft.com/office/drawing/2010/main" w="9525" cap="flat" cmpd="sng">
                    <a:solidFill>
                      <a:srgbClr val="000000"/>
                    </a:solidFill>
                    <a:prstDash val="solid"/>
                    <a:miter lim="800000"/>
                    <a:headEnd type="none" w="med" len="med"/>
                    <a:tailEnd type="none" w="med" len="me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srgbClr val="003366"/>
                  </a:solidFill>
                  <a:effectLst/>
                  <a:uLnTx/>
                  <a:uFillTx/>
                  <a:latin typeface="Arial"/>
                  <a:ea typeface="+mn-ea"/>
                  <a:cs typeface="+mn-cs"/>
                </a:endParaRPr>
              </a:p>
            </p:txBody>
          </p:sp>
        </p:grpSp>
        <p:grpSp>
          <p:nvGrpSpPr>
            <p:cNvPr id="1033" name="Group 6">
              <a:extLst>
                <a:ext uri="{FF2B5EF4-FFF2-40B4-BE49-F238E27FC236}">
                  <a16:creationId xmlns:a16="http://schemas.microsoft.com/office/drawing/2014/main" id="{165704AF-ADD4-4E42-9951-9885E2AF3F0F}"/>
                </a:ext>
              </a:extLst>
            </p:cNvPr>
            <p:cNvGrpSpPr>
              <a:grpSpLocks/>
            </p:cNvGrpSpPr>
            <p:nvPr/>
          </p:nvGrpSpPr>
          <p:grpSpPr bwMode="auto">
            <a:xfrm>
              <a:off x="144" y="1248"/>
              <a:ext cx="4656" cy="201"/>
              <a:chOff x="144" y="1248"/>
              <a:chExt cx="4656" cy="201"/>
            </a:xfrm>
          </p:grpSpPr>
          <p:sp>
            <p:nvSpPr>
              <p:cNvPr id="1034" name="AutoShape 7">
                <a:extLst>
                  <a:ext uri="{FF2B5EF4-FFF2-40B4-BE49-F238E27FC236}">
                    <a16:creationId xmlns:a16="http://schemas.microsoft.com/office/drawing/2014/main" id="{AD015C4F-F9D0-48B2-8315-4799ABF1D801}"/>
                  </a:ext>
                </a:extLst>
              </p:cNvPr>
              <p:cNvSpPr>
                <a:spLocks noChangeArrowheads="1"/>
              </p:cNvSpPr>
              <p:nvPr/>
            </p:nvSpPr>
            <p:spPr bwMode="auto">
              <a:xfrm>
                <a:off x="384" y="1248"/>
                <a:ext cx="4416" cy="200"/>
              </a:xfrm>
              <a:prstGeom prst="roundRect">
                <a:avLst>
                  <a:gd name="adj" fmla="val 0"/>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sp>
            <p:nvSpPr>
              <p:cNvPr id="1035" name="AutoShape 8">
                <a:extLst>
                  <a:ext uri="{FF2B5EF4-FFF2-40B4-BE49-F238E27FC236}">
                    <a16:creationId xmlns:a16="http://schemas.microsoft.com/office/drawing/2014/main" id="{7C227202-0AB4-426A-A6CB-F2C45BDC74EA}"/>
                  </a:ext>
                </a:extLst>
              </p:cNvPr>
              <p:cNvSpPr>
                <a:spLocks noChangeArrowheads="1"/>
              </p:cNvSpPr>
              <p:nvPr/>
            </p:nvSpPr>
            <p:spPr bwMode="auto">
              <a:xfrm flipH="1">
                <a:off x="144" y="1248"/>
                <a:ext cx="248" cy="201"/>
              </a:xfrm>
              <a:prstGeom prst="flowChartDelay">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grpSp>
      </p:grpSp>
      <p:sp>
        <p:nvSpPr>
          <p:cNvPr id="1027" name="AutoShape 9">
            <a:extLst>
              <a:ext uri="{FF2B5EF4-FFF2-40B4-BE49-F238E27FC236}">
                <a16:creationId xmlns:a16="http://schemas.microsoft.com/office/drawing/2014/main" id="{A90FCFEC-9F9D-4254-8D92-7B25B6EE3A30}"/>
              </a:ext>
            </a:extLst>
          </p:cNvPr>
          <p:cNvSpPr>
            <a:spLocks noGrp="1" noChangeArrowheads="1"/>
          </p:cNvSpPr>
          <p:nvPr>
            <p:ph type="title"/>
          </p:nvPr>
        </p:nvSpPr>
        <p:spPr bwMode="auto">
          <a:xfrm>
            <a:off x="762000" y="762000"/>
            <a:ext cx="7924800" cy="11430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pPr lvl="0"/>
            <a:r>
              <a:rPr lang="en-US" altLang="en-PK"/>
              <a:t>Click to edit Master title style</a:t>
            </a:r>
          </a:p>
        </p:txBody>
      </p:sp>
      <p:sp>
        <p:nvSpPr>
          <p:cNvPr id="1028" name="Rectangle 10">
            <a:extLst>
              <a:ext uri="{FF2B5EF4-FFF2-40B4-BE49-F238E27FC236}">
                <a16:creationId xmlns:a16="http://schemas.microsoft.com/office/drawing/2014/main" id="{B398F237-95A9-4BFF-B4A1-C78F7FF69C6E}"/>
              </a:ext>
            </a:extLst>
          </p:cNvPr>
          <p:cNvSpPr>
            <a:spLocks noGrp="1" noChangeArrowheads="1"/>
          </p:cNvSpPr>
          <p:nvPr>
            <p:ph type="body" idx="1"/>
          </p:nvPr>
        </p:nvSpPr>
        <p:spPr bwMode="auto">
          <a:xfrm>
            <a:off x="838202" y="2362204"/>
            <a:ext cx="7693025"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PK"/>
              <a:t>Edit Master text styles</a:t>
            </a:r>
          </a:p>
          <a:p>
            <a:pPr lvl="1"/>
            <a:r>
              <a:rPr lang="en-US" altLang="en-PK"/>
              <a:t>Second level</a:t>
            </a:r>
          </a:p>
          <a:p>
            <a:pPr lvl="2"/>
            <a:r>
              <a:rPr lang="en-US" altLang="en-PK"/>
              <a:t>Third level</a:t>
            </a:r>
          </a:p>
          <a:p>
            <a:pPr lvl="3"/>
            <a:r>
              <a:rPr lang="en-US" altLang="en-PK"/>
              <a:t>Fourth level</a:t>
            </a:r>
          </a:p>
          <a:p>
            <a:pPr lvl="4"/>
            <a:r>
              <a:rPr lang="en-US" altLang="en-PK"/>
              <a:t>Fifth level</a:t>
            </a:r>
          </a:p>
        </p:txBody>
      </p:sp>
      <p:sp>
        <p:nvSpPr>
          <p:cNvPr id="4107" name="Rectangle 11">
            <a:extLst>
              <a:ext uri="{FF2B5EF4-FFF2-40B4-BE49-F238E27FC236}">
                <a16:creationId xmlns:a16="http://schemas.microsoft.com/office/drawing/2014/main" id="{1D379FF3-7792-4E0A-B32B-CDBBF4ABCF0C}"/>
              </a:ext>
            </a:extLst>
          </p:cNvPr>
          <p:cNvSpPr>
            <a:spLocks noGrp="1" noChangeArrowheads="1"/>
          </p:cNvSpPr>
          <p:nvPr>
            <p:ph type="dt" sz="half" idx="2"/>
          </p:nvPr>
        </p:nvSpPr>
        <p:spPr bwMode="auto">
          <a:xfrm>
            <a:off x="2438402" y="6248404"/>
            <a:ext cx="2130425"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atin typeface="Arial"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C9712A5-15C0-46B1-B4C5-317166927FB6}"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2/27/2024</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4108" name="Rectangle 12">
            <a:extLst>
              <a:ext uri="{FF2B5EF4-FFF2-40B4-BE49-F238E27FC236}">
                <a16:creationId xmlns:a16="http://schemas.microsoft.com/office/drawing/2014/main" id="{5F8406A0-86DE-4CF8-BE66-1FC1EC81C117}"/>
              </a:ext>
            </a:extLst>
          </p:cNvPr>
          <p:cNvSpPr>
            <a:spLocks noGrp="1" noChangeArrowheads="1"/>
          </p:cNvSpPr>
          <p:nvPr>
            <p:ph type="ftr" sz="quarter" idx="3"/>
          </p:nvPr>
        </p:nvSpPr>
        <p:spPr bwMode="auto">
          <a:xfrm>
            <a:off x="5791200" y="6248404"/>
            <a:ext cx="2897188"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Arial"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4109" name="Rectangle 13">
            <a:extLst>
              <a:ext uri="{FF2B5EF4-FFF2-40B4-BE49-F238E27FC236}">
                <a16:creationId xmlns:a16="http://schemas.microsoft.com/office/drawing/2014/main" id="{B08A31F9-D76D-43DC-8BDE-F2140B37C315}"/>
              </a:ext>
            </a:extLst>
          </p:cNvPr>
          <p:cNvSpPr>
            <a:spLocks noGrp="1" noChangeArrowheads="1"/>
          </p:cNvSpPr>
          <p:nvPr>
            <p:ph type="sldNum" sz="quarter" idx="4"/>
          </p:nvPr>
        </p:nvSpPr>
        <p:spPr bwMode="auto">
          <a:xfrm>
            <a:off x="84140" y="6242050"/>
            <a:ext cx="587375" cy="48895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bodyPr>
          <a:lstStyle>
            <a:lvl1pPr eaLnBrk="1" hangingPunct="1">
              <a:defRPr sz="2600"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97205444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hf sldNum="0" hdr="0" ftr="0" dt="0"/>
  <p:txStyles>
    <p:titleStyle>
      <a:lvl1pPr algn="l" rtl="0" eaLnBrk="1" fontAlgn="base" hangingPunct="1">
        <a:lnSpc>
          <a:spcPct val="90000"/>
        </a:lnSpc>
        <a:spcBef>
          <a:spcPct val="0"/>
        </a:spcBef>
        <a:spcAft>
          <a:spcPct val="0"/>
        </a:spcAft>
        <a:defRPr sz="3600" b="1">
          <a:solidFill>
            <a:schemeClr val="tx2"/>
          </a:solidFill>
          <a:latin typeface="+mj-lt"/>
          <a:ea typeface="+mj-ea"/>
          <a:cs typeface="+mj-cs"/>
        </a:defRPr>
      </a:lvl1pPr>
      <a:lvl2pPr algn="l" rtl="0" eaLnBrk="1" fontAlgn="base" hangingPunct="1">
        <a:lnSpc>
          <a:spcPct val="90000"/>
        </a:lnSpc>
        <a:spcBef>
          <a:spcPct val="0"/>
        </a:spcBef>
        <a:spcAft>
          <a:spcPct val="0"/>
        </a:spcAft>
        <a:defRPr sz="3600" b="1">
          <a:solidFill>
            <a:schemeClr val="tx2"/>
          </a:solidFill>
          <a:latin typeface="Arial" charset="0"/>
        </a:defRPr>
      </a:lvl2pPr>
      <a:lvl3pPr algn="l" rtl="0" eaLnBrk="1" fontAlgn="base" hangingPunct="1">
        <a:lnSpc>
          <a:spcPct val="90000"/>
        </a:lnSpc>
        <a:spcBef>
          <a:spcPct val="0"/>
        </a:spcBef>
        <a:spcAft>
          <a:spcPct val="0"/>
        </a:spcAft>
        <a:defRPr sz="3600" b="1">
          <a:solidFill>
            <a:schemeClr val="tx2"/>
          </a:solidFill>
          <a:latin typeface="Arial" charset="0"/>
        </a:defRPr>
      </a:lvl3pPr>
      <a:lvl4pPr algn="l" rtl="0" eaLnBrk="1" fontAlgn="base" hangingPunct="1">
        <a:lnSpc>
          <a:spcPct val="90000"/>
        </a:lnSpc>
        <a:spcBef>
          <a:spcPct val="0"/>
        </a:spcBef>
        <a:spcAft>
          <a:spcPct val="0"/>
        </a:spcAft>
        <a:defRPr sz="3600" b="1">
          <a:solidFill>
            <a:schemeClr val="tx2"/>
          </a:solidFill>
          <a:latin typeface="Arial" charset="0"/>
        </a:defRPr>
      </a:lvl4pPr>
      <a:lvl5pPr algn="l" rtl="0" eaLnBrk="1" fontAlgn="base" hangingPunct="1">
        <a:lnSpc>
          <a:spcPct val="90000"/>
        </a:lnSpc>
        <a:spcBef>
          <a:spcPct val="0"/>
        </a:spcBef>
        <a:spcAft>
          <a:spcPct val="0"/>
        </a:spcAft>
        <a:defRPr sz="3600" b="1">
          <a:solidFill>
            <a:schemeClr val="tx2"/>
          </a:solidFill>
          <a:latin typeface="Arial" charset="0"/>
        </a:defRPr>
      </a:lvl5pPr>
      <a:lvl6pPr marL="457200" algn="l" rtl="0" eaLnBrk="1" fontAlgn="base" hangingPunct="1">
        <a:lnSpc>
          <a:spcPct val="90000"/>
        </a:lnSpc>
        <a:spcBef>
          <a:spcPct val="0"/>
        </a:spcBef>
        <a:spcAft>
          <a:spcPct val="0"/>
        </a:spcAft>
        <a:defRPr sz="3600" b="1">
          <a:solidFill>
            <a:schemeClr val="tx2"/>
          </a:solidFill>
          <a:latin typeface="Arial" charset="0"/>
        </a:defRPr>
      </a:lvl6pPr>
      <a:lvl7pPr marL="914400" algn="l" rtl="0" eaLnBrk="1" fontAlgn="base" hangingPunct="1">
        <a:lnSpc>
          <a:spcPct val="90000"/>
        </a:lnSpc>
        <a:spcBef>
          <a:spcPct val="0"/>
        </a:spcBef>
        <a:spcAft>
          <a:spcPct val="0"/>
        </a:spcAft>
        <a:defRPr sz="3600" b="1">
          <a:solidFill>
            <a:schemeClr val="tx2"/>
          </a:solidFill>
          <a:latin typeface="Arial" charset="0"/>
        </a:defRPr>
      </a:lvl7pPr>
      <a:lvl8pPr marL="1371600" algn="l" rtl="0" eaLnBrk="1" fontAlgn="base" hangingPunct="1">
        <a:lnSpc>
          <a:spcPct val="90000"/>
        </a:lnSpc>
        <a:spcBef>
          <a:spcPct val="0"/>
        </a:spcBef>
        <a:spcAft>
          <a:spcPct val="0"/>
        </a:spcAft>
        <a:defRPr sz="3600" b="1">
          <a:solidFill>
            <a:schemeClr val="tx2"/>
          </a:solidFill>
          <a:latin typeface="Arial" charset="0"/>
        </a:defRPr>
      </a:lvl8pPr>
      <a:lvl9pPr marL="1828800" algn="l" rtl="0" eaLnBrk="1" fontAlgn="base" hangingPunct="1">
        <a:lnSpc>
          <a:spcPct val="90000"/>
        </a:lnSpc>
        <a:spcBef>
          <a:spcPct val="0"/>
        </a:spcBef>
        <a:spcAft>
          <a:spcPct val="0"/>
        </a:spcAft>
        <a:defRPr sz="3600" b="1">
          <a:solidFill>
            <a:schemeClr val="tx2"/>
          </a:solidFill>
          <a:latin typeface="Arial" charset="0"/>
        </a:defRPr>
      </a:lvl9pPr>
    </p:titleStyle>
    <p:bodyStyle>
      <a:lvl1pPr marL="342900" indent="-342900" algn="l" rtl="0" eaLnBrk="1" fontAlgn="base" hangingPunct="1">
        <a:spcBef>
          <a:spcPct val="20000"/>
        </a:spcBef>
        <a:spcAft>
          <a:spcPct val="0"/>
        </a:spcAft>
        <a:buClr>
          <a:schemeClr val="tx1"/>
        </a:buClr>
        <a:buSzPct val="75000"/>
        <a:buFont typeface="Wingdings" panose="05000000000000000000" pitchFamily="2" charset="2"/>
        <a:buChar char="l"/>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SzPct val="75000"/>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SzPct val="75000"/>
        <a:buFont typeface="Wingdings" panose="05000000000000000000" pitchFamily="2" charset="2"/>
        <a:buChar char="l"/>
        <a:defRPr sz="2000">
          <a:solidFill>
            <a:schemeClr val="tx1"/>
          </a:solidFill>
          <a:latin typeface="+mn-lt"/>
        </a:defRPr>
      </a:lvl3pPr>
      <a:lvl4pPr marL="1600200" indent="-228600" algn="l" rtl="0" eaLnBrk="1" fontAlgn="base" hangingPunct="1">
        <a:spcBef>
          <a:spcPct val="20000"/>
        </a:spcBef>
        <a:spcAft>
          <a:spcPct val="0"/>
        </a:spcAft>
        <a:buClr>
          <a:schemeClr val="tx1"/>
        </a:buClr>
        <a:buSzPct val="80000"/>
        <a:buChar char="–"/>
        <a:defRPr sz="2000">
          <a:solidFill>
            <a:schemeClr val="tx1"/>
          </a:solidFill>
          <a:latin typeface="+mn-lt"/>
        </a:defRPr>
      </a:lvl4pPr>
      <a:lvl5pPr marL="2057400" indent="-228600" algn="l" rtl="0" eaLnBrk="1" fontAlgn="base" hangingPunct="1">
        <a:spcBef>
          <a:spcPct val="20000"/>
        </a:spcBef>
        <a:spcAft>
          <a:spcPct val="0"/>
        </a:spcAft>
        <a:buClr>
          <a:schemeClr val="tx1"/>
        </a:buClr>
        <a:buSzPct val="65000"/>
        <a:buFont typeface="Wingdings" panose="05000000000000000000" pitchFamily="2" charset="2"/>
        <a:buChar char="l"/>
        <a:defRPr sz="2000">
          <a:solidFill>
            <a:schemeClr val="tx1"/>
          </a:solidFill>
          <a:latin typeface="+mn-lt"/>
        </a:defRPr>
      </a:lvl5pPr>
      <a:lvl6pPr marL="25146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Farhad.Muhammad@numl.edu.pk" TargetMode="Externa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1.emf"/></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23.png"/><Relationship Id="rId1" Type="http://schemas.openxmlformats.org/officeDocument/2006/relationships/slideLayout" Target="../slideLayouts/slideLayout5.xml"/><Relationship Id="rId6" Type="http://schemas.openxmlformats.org/officeDocument/2006/relationships/image" Target="../media/image25.emf"/><Relationship Id="rId5" Type="http://schemas.openxmlformats.org/officeDocument/2006/relationships/customXml" Target="../ink/ink4.xml"/><Relationship Id="rId4" Type="http://schemas.openxmlformats.org/officeDocument/2006/relationships/image" Target="../media/image24.emf"/></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27.tiff"/><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8AC916-7461-472A-83D2-C4792120EBB9}"/>
              </a:ext>
            </a:extLst>
          </p:cNvPr>
          <p:cNvSpPr txBox="1"/>
          <p:nvPr/>
        </p:nvSpPr>
        <p:spPr>
          <a:xfrm>
            <a:off x="4038278" y="5819024"/>
            <a:ext cx="5528603"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3366">
                    <a:lumMod val="75000"/>
                  </a:srgbClr>
                </a:solidFill>
                <a:effectLst/>
                <a:uLnTx/>
                <a:uFillTx/>
                <a:latin typeface="Times New Roman" panose="02020603050405020304" pitchFamily="18" charset="0"/>
                <a:ea typeface="+mn-ea"/>
                <a:cs typeface="Times New Roman" panose="02020603050405020304" pitchFamily="18" charset="0"/>
              </a:rPr>
              <a:t>Department of Computer Science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3366">
                    <a:lumMod val="75000"/>
                  </a:srgbClr>
                </a:solidFill>
                <a:effectLst/>
                <a:uLnTx/>
                <a:uFillTx/>
                <a:latin typeface="Times New Roman" panose="02020603050405020304" pitchFamily="18" charset="0"/>
                <a:ea typeface="+mn-ea"/>
                <a:cs typeface="Times New Roman" panose="02020603050405020304" pitchFamily="18" charset="0"/>
              </a:rPr>
              <a:t>NUML, Islamabad</a:t>
            </a:r>
          </a:p>
        </p:txBody>
      </p:sp>
      <p:sp>
        <p:nvSpPr>
          <p:cNvPr id="4" name="Subtitle 3"/>
          <p:cNvSpPr>
            <a:spLocks noGrp="1"/>
          </p:cNvSpPr>
          <p:nvPr>
            <p:ph type="subTitle" idx="1"/>
          </p:nvPr>
        </p:nvSpPr>
        <p:spPr/>
        <p:txBody>
          <a:bodyPr/>
          <a:lstStyle/>
          <a:p>
            <a:r>
              <a:rPr lang="en-US" b="1" dirty="0" err="1">
                <a:solidFill>
                  <a:schemeClr val="tx1">
                    <a:lumMod val="75000"/>
                  </a:schemeClr>
                </a:solidFill>
              </a:rPr>
              <a:t>Farhad</a:t>
            </a:r>
            <a:r>
              <a:rPr lang="en-US" b="1" dirty="0">
                <a:solidFill>
                  <a:schemeClr val="tx1">
                    <a:lumMod val="75000"/>
                  </a:schemeClr>
                </a:solidFill>
              </a:rPr>
              <a:t> M. </a:t>
            </a:r>
            <a:r>
              <a:rPr lang="en-US" b="1" dirty="0" err="1">
                <a:solidFill>
                  <a:schemeClr val="tx1">
                    <a:lumMod val="75000"/>
                  </a:schemeClr>
                </a:solidFill>
              </a:rPr>
              <a:t>Riaz</a:t>
            </a:r>
            <a:endParaRPr lang="en-US" b="1" dirty="0">
              <a:solidFill>
                <a:schemeClr val="tx1">
                  <a:lumMod val="75000"/>
                </a:schemeClr>
              </a:solidFill>
            </a:endParaRPr>
          </a:p>
          <a:p>
            <a:r>
              <a:rPr lang="en-US" sz="1800" b="1" dirty="0">
                <a:solidFill>
                  <a:schemeClr val="tx1">
                    <a:lumMod val="75000"/>
                  </a:schemeClr>
                </a:solidFill>
                <a:hlinkClick r:id="rId2"/>
              </a:rPr>
              <a:t>Farhad.Muhammad@numl.edu.pk</a:t>
            </a:r>
            <a:r>
              <a:rPr lang="en-US" b="1" dirty="0">
                <a:solidFill>
                  <a:schemeClr val="tx1">
                    <a:lumMod val="75000"/>
                  </a:schemeClr>
                </a:solidFill>
              </a:rPr>
              <a:t> </a:t>
            </a:r>
          </a:p>
        </p:txBody>
      </p:sp>
      <p:sp>
        <p:nvSpPr>
          <p:cNvPr id="7" name="Title 6"/>
          <p:cNvSpPr>
            <a:spLocks noGrp="1"/>
          </p:cNvSpPr>
          <p:nvPr>
            <p:ph type="ctrTitle" sz="quarter"/>
          </p:nvPr>
        </p:nvSpPr>
        <p:spPr/>
        <p:txBody>
          <a:bodyPr/>
          <a:lstStyle/>
          <a:p>
            <a:pPr algn="r"/>
            <a:r>
              <a:rPr lang="en-US" sz="2800" dirty="0"/>
              <a:t>Parallel &amp; Distributed Computing</a:t>
            </a:r>
            <a:br>
              <a:rPr lang="en-US" sz="2800" dirty="0"/>
            </a:br>
            <a:r>
              <a:rPr lang="en-US" sz="2800" dirty="0"/>
              <a:t>Lecture Week 3:</a:t>
            </a:r>
            <a:br>
              <a:rPr lang="en-US" sz="2800" dirty="0"/>
            </a:br>
            <a:r>
              <a:rPr lang="en-US" sz="2800" dirty="0">
                <a:latin typeface="+mn-lt"/>
                <a:cs typeface="Times New Roman" panose="02020603050405020304" pitchFamily="18" charset="0"/>
              </a:rPr>
              <a:t>Amdahl’s Law and Profiling</a:t>
            </a:r>
            <a:endParaRPr lang="en-US" sz="2800" dirty="0">
              <a:latin typeface="+mn-lt"/>
            </a:endParaRPr>
          </a:p>
        </p:txBody>
      </p:sp>
      <p:pic>
        <p:nvPicPr>
          <p:cNvPr id="8" name="Picture 2" descr="NUML Logo PNG Vector (EPS) Free Download">
            <a:extLst>
              <a:ext uri="{FF2B5EF4-FFF2-40B4-BE49-F238E27FC236}">
                <a16:creationId xmlns:a16="http://schemas.microsoft.com/office/drawing/2014/main" id="{2D3C8850-28E9-44A6-8D9F-53E8176364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244" y="1050131"/>
            <a:ext cx="1927513" cy="1785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588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1057" y="461903"/>
            <a:ext cx="1421765" cy="696595"/>
          </a:xfrm>
          <a:prstGeom prst="rect">
            <a:avLst/>
          </a:prstGeom>
        </p:spPr>
        <p:txBody>
          <a:bodyPr vert="horz" wrap="square" lIns="0" tIns="13335" rIns="0" bIns="0" rtlCol="0">
            <a:spAutoFit/>
          </a:bodyPr>
          <a:lstStyle/>
          <a:p>
            <a:pPr marL="12700">
              <a:spcBef>
                <a:spcPts val="105"/>
              </a:spcBef>
            </a:pPr>
            <a:r>
              <a:rPr spc="-25" dirty="0"/>
              <a:t>FLOPS</a:t>
            </a:r>
          </a:p>
        </p:txBody>
      </p:sp>
      <p:sp>
        <p:nvSpPr>
          <p:cNvPr id="3" name="object 3"/>
          <p:cNvSpPr txBox="1"/>
          <p:nvPr/>
        </p:nvSpPr>
        <p:spPr>
          <a:xfrm>
            <a:off x="510796" y="1654203"/>
            <a:ext cx="8122285" cy="1199045"/>
          </a:xfrm>
          <a:prstGeom prst="rect">
            <a:avLst/>
          </a:prstGeom>
        </p:spPr>
        <p:txBody>
          <a:bodyPr vert="horz" wrap="square" lIns="0" tIns="110489" rIns="0" bIns="0" rtlCol="0">
            <a:spAutoFit/>
          </a:bodyPr>
          <a:lstStyle/>
          <a:p>
            <a:pPr marL="355600" indent="-342900" algn="just">
              <a:spcBef>
                <a:spcPts val="869"/>
              </a:spcBef>
              <a:buFont typeface="Arial"/>
              <a:buChar char="•"/>
              <a:tabLst>
                <a:tab pos="354965" algn="l"/>
                <a:tab pos="355600" algn="l"/>
              </a:tabLst>
            </a:pPr>
            <a:r>
              <a:rPr sz="3200" spc="-5" dirty="0">
                <a:solidFill>
                  <a:prstClr val="black"/>
                </a:solidFill>
                <a:latin typeface="Arial" panose="020B0604020202020204" pitchFamily="34" charset="0"/>
                <a:cs typeface="Arial" panose="020B0604020202020204" pitchFamily="34" charset="0"/>
              </a:rPr>
              <a:t>Floating </a:t>
            </a:r>
            <a:r>
              <a:rPr sz="3200" spc="-10" dirty="0">
                <a:solidFill>
                  <a:prstClr val="black"/>
                </a:solidFill>
                <a:latin typeface="Arial" panose="020B0604020202020204" pitchFamily="34" charset="0"/>
                <a:cs typeface="Arial" panose="020B0604020202020204" pitchFamily="34" charset="0"/>
              </a:rPr>
              <a:t>point operations </a:t>
            </a:r>
            <a:r>
              <a:rPr sz="3200" spc="-5" dirty="0">
                <a:solidFill>
                  <a:prstClr val="black"/>
                </a:solidFill>
                <a:latin typeface="Arial" panose="020B0604020202020204" pitchFamily="34" charset="0"/>
                <a:cs typeface="Arial" panose="020B0604020202020204" pitchFamily="34" charset="0"/>
              </a:rPr>
              <a:t>per</a:t>
            </a:r>
            <a:r>
              <a:rPr sz="3200" spc="55" dirty="0">
                <a:solidFill>
                  <a:prstClr val="black"/>
                </a:solidFill>
                <a:latin typeface="Arial" panose="020B0604020202020204" pitchFamily="34" charset="0"/>
                <a:cs typeface="Arial" panose="020B0604020202020204" pitchFamily="34" charset="0"/>
              </a:rPr>
              <a:t> </a:t>
            </a:r>
            <a:r>
              <a:rPr sz="3200" spc="-10" dirty="0">
                <a:solidFill>
                  <a:prstClr val="black"/>
                </a:solidFill>
                <a:latin typeface="Arial" panose="020B0604020202020204" pitchFamily="34" charset="0"/>
                <a:cs typeface="Arial" panose="020B0604020202020204" pitchFamily="34" charset="0"/>
              </a:rPr>
              <a:t>second</a:t>
            </a:r>
            <a:endParaRPr sz="3200" dirty="0">
              <a:solidFill>
                <a:prstClr val="black"/>
              </a:solidFill>
              <a:latin typeface="Arial" panose="020B0604020202020204" pitchFamily="34" charset="0"/>
              <a:cs typeface="Arial" panose="020B0604020202020204" pitchFamily="34" charset="0"/>
            </a:endParaRPr>
          </a:p>
          <a:p>
            <a:pPr marL="355600" indent="-342900" algn="just">
              <a:spcBef>
                <a:spcPts val="770"/>
              </a:spcBef>
              <a:buFont typeface="Arial"/>
              <a:buChar char="•"/>
              <a:tabLst>
                <a:tab pos="354965" algn="l"/>
                <a:tab pos="355600" algn="l"/>
              </a:tabLst>
            </a:pPr>
            <a:r>
              <a:rPr sz="3200" spc="-5" dirty="0">
                <a:solidFill>
                  <a:prstClr val="black"/>
                </a:solidFill>
                <a:latin typeface="Arial" panose="020B0604020202020204" pitchFamily="34" charset="0"/>
                <a:cs typeface="Arial" panose="020B0604020202020204" pitchFamily="34" charset="0"/>
              </a:rPr>
              <a:t>Measure of theoretical peak</a:t>
            </a:r>
            <a:r>
              <a:rPr sz="3200" spc="-50" dirty="0">
                <a:solidFill>
                  <a:prstClr val="black"/>
                </a:solidFill>
                <a:latin typeface="Arial" panose="020B0604020202020204" pitchFamily="34" charset="0"/>
                <a:cs typeface="Arial" panose="020B0604020202020204" pitchFamily="34" charset="0"/>
              </a:rPr>
              <a:t> </a:t>
            </a:r>
            <a:r>
              <a:rPr sz="3200" spc="-10" dirty="0">
                <a:solidFill>
                  <a:prstClr val="black"/>
                </a:solidFill>
                <a:latin typeface="Arial" panose="020B0604020202020204" pitchFamily="34" charset="0"/>
                <a:cs typeface="Arial" panose="020B0604020202020204" pitchFamily="34" charset="0"/>
              </a:rPr>
              <a:t>performance</a:t>
            </a:r>
            <a:endParaRPr sz="3200" dirty="0">
              <a:solidFill>
                <a:prstClr val="black"/>
              </a:solidFill>
              <a:latin typeface="Arial" panose="020B0604020202020204" pitchFamily="34" charset="0"/>
              <a:cs typeface="Arial" panose="020B0604020202020204" pitchFamily="34" charset="0"/>
            </a:endParaRPr>
          </a:p>
        </p:txBody>
      </p:sp>
      <p:pic>
        <p:nvPicPr>
          <p:cNvPr id="4" name="object 4"/>
          <p:cNvPicPr/>
          <p:nvPr/>
        </p:nvPicPr>
        <p:blipFill>
          <a:blip r:embed="rId2" cstate="print"/>
          <a:stretch>
            <a:fillRect/>
          </a:stretch>
        </p:blipFill>
        <p:spPr>
          <a:xfrm>
            <a:off x="1379107" y="3870579"/>
            <a:ext cx="914535" cy="222381"/>
          </a:xfrm>
          <a:prstGeom prst="rect">
            <a:avLst/>
          </a:prstGeom>
        </p:spPr>
      </p:pic>
      <p:pic>
        <p:nvPicPr>
          <p:cNvPr id="5" name="object 5"/>
          <p:cNvPicPr/>
          <p:nvPr/>
        </p:nvPicPr>
        <p:blipFill>
          <a:blip r:embed="rId3" cstate="print"/>
          <a:stretch>
            <a:fillRect/>
          </a:stretch>
        </p:blipFill>
        <p:spPr>
          <a:xfrm>
            <a:off x="2380031" y="3965587"/>
            <a:ext cx="209629" cy="84783"/>
          </a:xfrm>
          <a:prstGeom prst="rect">
            <a:avLst/>
          </a:prstGeom>
        </p:spPr>
      </p:pic>
      <p:pic>
        <p:nvPicPr>
          <p:cNvPr id="6" name="object 6"/>
          <p:cNvPicPr/>
          <p:nvPr/>
        </p:nvPicPr>
        <p:blipFill>
          <a:blip r:embed="rId4" cstate="print"/>
          <a:stretch>
            <a:fillRect/>
          </a:stretch>
        </p:blipFill>
        <p:spPr>
          <a:xfrm>
            <a:off x="2669419" y="3874565"/>
            <a:ext cx="863639" cy="216114"/>
          </a:xfrm>
          <a:prstGeom prst="rect">
            <a:avLst/>
          </a:prstGeom>
        </p:spPr>
      </p:pic>
      <p:pic>
        <p:nvPicPr>
          <p:cNvPr id="7" name="object 7"/>
          <p:cNvPicPr/>
          <p:nvPr/>
        </p:nvPicPr>
        <p:blipFill>
          <a:blip r:embed="rId5" cstate="print"/>
          <a:stretch>
            <a:fillRect/>
          </a:stretch>
        </p:blipFill>
        <p:spPr>
          <a:xfrm>
            <a:off x="3623295" y="3927280"/>
            <a:ext cx="160740" cy="158894"/>
          </a:xfrm>
          <a:prstGeom prst="rect">
            <a:avLst/>
          </a:prstGeom>
        </p:spPr>
      </p:pic>
      <p:pic>
        <p:nvPicPr>
          <p:cNvPr id="8" name="object 8"/>
          <p:cNvPicPr/>
          <p:nvPr/>
        </p:nvPicPr>
        <p:blipFill>
          <a:blip r:embed="rId6" cstate="print"/>
          <a:stretch>
            <a:fillRect/>
          </a:stretch>
        </p:blipFill>
        <p:spPr>
          <a:xfrm>
            <a:off x="3995131" y="3754625"/>
            <a:ext cx="607110" cy="147689"/>
          </a:xfrm>
          <a:prstGeom prst="rect">
            <a:avLst/>
          </a:prstGeom>
        </p:spPr>
      </p:pic>
      <p:pic>
        <p:nvPicPr>
          <p:cNvPr id="9" name="object 9"/>
          <p:cNvPicPr/>
          <p:nvPr/>
        </p:nvPicPr>
        <p:blipFill>
          <a:blip r:embed="rId7" cstate="print"/>
          <a:stretch>
            <a:fillRect/>
          </a:stretch>
        </p:blipFill>
        <p:spPr>
          <a:xfrm>
            <a:off x="3905761" y="3998703"/>
            <a:ext cx="785625" cy="290218"/>
          </a:xfrm>
          <a:prstGeom prst="rect">
            <a:avLst/>
          </a:prstGeom>
        </p:spPr>
      </p:pic>
      <p:pic>
        <p:nvPicPr>
          <p:cNvPr id="10" name="object 10"/>
          <p:cNvPicPr/>
          <p:nvPr/>
        </p:nvPicPr>
        <p:blipFill>
          <a:blip r:embed="rId8" cstate="print"/>
          <a:stretch>
            <a:fillRect/>
          </a:stretch>
        </p:blipFill>
        <p:spPr>
          <a:xfrm>
            <a:off x="4817178" y="3926619"/>
            <a:ext cx="156905" cy="159991"/>
          </a:xfrm>
          <a:prstGeom prst="rect">
            <a:avLst/>
          </a:prstGeom>
        </p:spPr>
      </p:pic>
      <p:pic>
        <p:nvPicPr>
          <p:cNvPr id="11" name="object 11"/>
          <p:cNvPicPr/>
          <p:nvPr/>
        </p:nvPicPr>
        <p:blipFill>
          <a:blip r:embed="rId9" cstate="print"/>
          <a:stretch>
            <a:fillRect/>
          </a:stretch>
        </p:blipFill>
        <p:spPr>
          <a:xfrm>
            <a:off x="5098302" y="3673828"/>
            <a:ext cx="839900" cy="615000"/>
          </a:xfrm>
          <a:prstGeom prst="rect">
            <a:avLst/>
          </a:prstGeom>
        </p:spPr>
      </p:pic>
      <p:pic>
        <p:nvPicPr>
          <p:cNvPr id="12" name="object 12"/>
          <p:cNvPicPr/>
          <p:nvPr/>
        </p:nvPicPr>
        <p:blipFill>
          <a:blip r:embed="rId10" cstate="print"/>
          <a:stretch>
            <a:fillRect/>
          </a:stretch>
        </p:blipFill>
        <p:spPr>
          <a:xfrm>
            <a:off x="6063076" y="3927280"/>
            <a:ext cx="160740" cy="158894"/>
          </a:xfrm>
          <a:prstGeom prst="rect">
            <a:avLst/>
          </a:prstGeom>
        </p:spPr>
      </p:pic>
      <p:pic>
        <p:nvPicPr>
          <p:cNvPr id="13" name="object 13"/>
          <p:cNvPicPr/>
          <p:nvPr/>
        </p:nvPicPr>
        <p:blipFill>
          <a:blip r:embed="rId11" cstate="print"/>
          <a:stretch>
            <a:fillRect/>
          </a:stretch>
        </p:blipFill>
        <p:spPr>
          <a:xfrm>
            <a:off x="6360045" y="3683557"/>
            <a:ext cx="876066" cy="222415"/>
          </a:xfrm>
          <a:prstGeom prst="rect">
            <a:avLst/>
          </a:prstGeom>
        </p:spPr>
      </p:pic>
      <p:pic>
        <p:nvPicPr>
          <p:cNvPr id="14" name="object 14"/>
          <p:cNvPicPr/>
          <p:nvPr/>
        </p:nvPicPr>
        <p:blipFill>
          <a:blip r:embed="rId12" cstate="print"/>
          <a:stretch>
            <a:fillRect/>
          </a:stretch>
        </p:blipFill>
        <p:spPr>
          <a:xfrm>
            <a:off x="6345542" y="3998703"/>
            <a:ext cx="905613" cy="3439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1057" y="461903"/>
            <a:ext cx="1421765" cy="696595"/>
          </a:xfrm>
          <a:prstGeom prst="rect">
            <a:avLst/>
          </a:prstGeom>
        </p:spPr>
        <p:txBody>
          <a:bodyPr vert="horz" wrap="square" lIns="0" tIns="13335" rIns="0" bIns="0" rtlCol="0">
            <a:spAutoFit/>
          </a:bodyPr>
          <a:lstStyle/>
          <a:p>
            <a:pPr marL="12700">
              <a:spcBef>
                <a:spcPts val="105"/>
              </a:spcBef>
            </a:pPr>
            <a:r>
              <a:rPr spc="-25" dirty="0"/>
              <a:t>FLOPS</a:t>
            </a:r>
          </a:p>
        </p:txBody>
      </p:sp>
      <p:sp>
        <p:nvSpPr>
          <p:cNvPr id="3" name="object 3"/>
          <p:cNvSpPr txBox="1"/>
          <p:nvPr/>
        </p:nvSpPr>
        <p:spPr>
          <a:xfrm>
            <a:off x="535940" y="1545085"/>
            <a:ext cx="7920990" cy="4577022"/>
          </a:xfrm>
          <a:prstGeom prst="rect">
            <a:avLst/>
          </a:prstGeom>
        </p:spPr>
        <p:txBody>
          <a:bodyPr vert="horz" wrap="square" lIns="0" tIns="85725" rIns="0" bIns="0" rtlCol="0">
            <a:spAutoFit/>
          </a:bodyPr>
          <a:lstStyle/>
          <a:p>
            <a:pPr marL="355600" marR="5080" indent="-342900" algn="just">
              <a:lnSpc>
                <a:spcPts val="2400"/>
              </a:lnSpc>
              <a:spcBef>
                <a:spcPts val="675"/>
              </a:spcBef>
              <a:buFont typeface="Arial"/>
              <a:buChar char="•"/>
              <a:tabLst>
                <a:tab pos="355600" algn="l"/>
              </a:tabLst>
            </a:pPr>
            <a:r>
              <a:rPr sz="2400" spc="-5" dirty="0">
                <a:solidFill>
                  <a:prstClr val="black"/>
                </a:solidFill>
                <a:latin typeface="Arial" panose="020B0604020202020204" pitchFamily="34" charset="0"/>
                <a:cs typeface="Arial" panose="020B0604020202020204" pitchFamily="34" charset="0"/>
              </a:rPr>
              <a:t>Servers </a:t>
            </a:r>
            <a:r>
              <a:rPr sz="2400" spc="-15" dirty="0">
                <a:solidFill>
                  <a:prstClr val="black"/>
                </a:solidFill>
                <a:latin typeface="Arial" panose="020B0604020202020204" pitchFamily="34" charset="0"/>
                <a:cs typeface="Arial" panose="020B0604020202020204" pitchFamily="34" charset="0"/>
              </a:rPr>
              <a:t>are </a:t>
            </a:r>
            <a:r>
              <a:rPr sz="2400" spc="-5" dirty="0">
                <a:solidFill>
                  <a:prstClr val="black"/>
                </a:solidFill>
                <a:latin typeface="Arial" panose="020B0604020202020204" pitchFamily="34" charset="0"/>
                <a:cs typeface="Arial" panose="020B0604020202020204" pitchFamily="34" charset="0"/>
              </a:rPr>
              <a:t>the only </a:t>
            </a:r>
            <a:r>
              <a:rPr sz="2400" spc="-15" dirty="0">
                <a:solidFill>
                  <a:prstClr val="black"/>
                </a:solidFill>
                <a:latin typeface="Arial" panose="020B0604020202020204" pitchFamily="34" charset="0"/>
                <a:cs typeface="Arial" panose="020B0604020202020204" pitchFamily="34" charset="0"/>
              </a:rPr>
              <a:t>computers </a:t>
            </a:r>
            <a:r>
              <a:rPr sz="2400" spc="-5" dirty="0">
                <a:solidFill>
                  <a:prstClr val="black"/>
                </a:solidFill>
                <a:latin typeface="Arial" panose="020B0604020202020204" pitchFamily="34" charset="0"/>
                <a:cs typeface="Arial" panose="020B0604020202020204" pitchFamily="34" charset="0"/>
              </a:rPr>
              <a:t>that sometimes </a:t>
            </a:r>
            <a:r>
              <a:rPr sz="2400" spc="-20" dirty="0">
                <a:solidFill>
                  <a:prstClr val="black"/>
                </a:solidFill>
                <a:latin typeface="Arial" panose="020B0604020202020204" pitchFamily="34" charset="0"/>
                <a:cs typeface="Arial" panose="020B0604020202020204" pitchFamily="34" charset="0"/>
              </a:rPr>
              <a:t>have </a:t>
            </a:r>
            <a:r>
              <a:rPr sz="2400" spc="-10" dirty="0">
                <a:solidFill>
                  <a:prstClr val="black"/>
                </a:solidFill>
                <a:latin typeface="Arial" panose="020B0604020202020204" pitchFamily="34" charset="0"/>
                <a:cs typeface="Arial" panose="020B0604020202020204" pitchFamily="34" charset="0"/>
              </a:rPr>
              <a:t>more  </a:t>
            </a:r>
            <a:r>
              <a:rPr sz="2400" dirty="0">
                <a:solidFill>
                  <a:prstClr val="black"/>
                </a:solidFill>
                <a:latin typeface="Arial" panose="020B0604020202020204" pitchFamily="34" charset="0"/>
                <a:cs typeface="Arial" panose="020B0604020202020204" pitchFamily="34" charset="0"/>
              </a:rPr>
              <a:t>than </a:t>
            </a:r>
            <a:r>
              <a:rPr sz="2400" spc="-5" dirty="0">
                <a:solidFill>
                  <a:prstClr val="black"/>
                </a:solidFill>
                <a:latin typeface="Arial" panose="020B0604020202020204" pitchFamily="34" charset="0"/>
                <a:cs typeface="Arial" panose="020B0604020202020204" pitchFamily="34" charset="0"/>
              </a:rPr>
              <a:t>one </a:t>
            </a:r>
            <a:r>
              <a:rPr sz="2400" spc="-15" dirty="0">
                <a:solidFill>
                  <a:prstClr val="black"/>
                </a:solidFill>
                <a:latin typeface="Arial" panose="020B0604020202020204" pitchFamily="34" charset="0"/>
                <a:cs typeface="Arial" panose="020B0604020202020204" pitchFamily="34" charset="0"/>
              </a:rPr>
              <a:t>socket; </a:t>
            </a:r>
            <a:r>
              <a:rPr sz="2400" spc="-20" dirty="0">
                <a:solidFill>
                  <a:prstClr val="black"/>
                </a:solidFill>
                <a:latin typeface="Arial" panose="020B0604020202020204" pitchFamily="34" charset="0"/>
                <a:cs typeface="Arial" panose="020B0604020202020204" pitchFamily="34" charset="0"/>
              </a:rPr>
              <a:t>for </a:t>
            </a:r>
            <a:r>
              <a:rPr sz="2400" spc="-10" dirty="0">
                <a:solidFill>
                  <a:prstClr val="black"/>
                </a:solidFill>
                <a:latin typeface="Arial" panose="020B0604020202020204" pitchFamily="34" charset="0"/>
                <a:cs typeface="Arial" panose="020B0604020202020204" pitchFamily="34" charset="0"/>
              </a:rPr>
              <a:t>most </a:t>
            </a:r>
            <a:r>
              <a:rPr sz="2400" spc="-5" dirty="0">
                <a:solidFill>
                  <a:prstClr val="black"/>
                </a:solidFill>
                <a:latin typeface="Arial" panose="020B0604020202020204" pitchFamily="34" charset="0"/>
                <a:cs typeface="Arial" panose="020B0604020202020204" pitchFamily="34" charset="0"/>
              </a:rPr>
              <a:t>home </a:t>
            </a:r>
            <a:r>
              <a:rPr sz="2400" spc="-15" dirty="0">
                <a:solidFill>
                  <a:prstClr val="black"/>
                </a:solidFill>
                <a:latin typeface="Arial" panose="020B0604020202020204" pitchFamily="34" charset="0"/>
                <a:cs typeface="Arial" panose="020B0604020202020204" pitchFamily="34" charset="0"/>
              </a:rPr>
              <a:t>computers </a:t>
            </a:r>
            <a:r>
              <a:rPr sz="2400" spc="-10" dirty="0">
                <a:solidFill>
                  <a:prstClr val="black"/>
                </a:solidFill>
                <a:latin typeface="Arial" panose="020B0604020202020204" pitchFamily="34" charset="0"/>
                <a:cs typeface="Arial" panose="020B0604020202020204" pitchFamily="34" charset="0"/>
              </a:rPr>
              <a:t>(desktop</a:t>
            </a:r>
            <a:r>
              <a:rPr sz="2400" spc="80" dirty="0">
                <a:solidFill>
                  <a:prstClr val="black"/>
                </a:solidFill>
                <a:latin typeface="Arial" panose="020B0604020202020204" pitchFamily="34" charset="0"/>
                <a:cs typeface="Arial" panose="020B0604020202020204" pitchFamily="34" charset="0"/>
              </a:rPr>
              <a:t> </a:t>
            </a:r>
            <a:r>
              <a:rPr sz="2400" dirty="0">
                <a:solidFill>
                  <a:prstClr val="black"/>
                </a:solidFill>
                <a:latin typeface="Arial" panose="020B0604020202020204" pitchFamily="34" charset="0"/>
                <a:cs typeface="Arial" panose="020B0604020202020204" pitchFamily="34" charset="0"/>
              </a:rPr>
              <a:t>or</a:t>
            </a:r>
          </a:p>
          <a:p>
            <a:pPr marL="355600" algn="just">
              <a:lnSpc>
                <a:spcPts val="2425"/>
              </a:lnSpc>
            </a:pPr>
            <a:r>
              <a:rPr sz="2400" spc="-10" dirty="0">
                <a:solidFill>
                  <a:prstClr val="black"/>
                </a:solidFill>
                <a:latin typeface="Arial" panose="020B0604020202020204" pitchFamily="34" charset="0"/>
                <a:cs typeface="Arial" panose="020B0604020202020204" pitchFamily="34" charset="0"/>
              </a:rPr>
              <a:t>laptop), </a:t>
            </a:r>
            <a:r>
              <a:rPr sz="2400" spc="-20" dirty="0">
                <a:solidFill>
                  <a:prstClr val="black"/>
                </a:solidFill>
                <a:latin typeface="Arial" panose="020B0604020202020204" pitchFamily="34" charset="0"/>
                <a:cs typeface="Arial" panose="020B0604020202020204" pitchFamily="34" charset="0"/>
              </a:rPr>
              <a:t>“sockets” </a:t>
            </a:r>
            <a:r>
              <a:rPr sz="2400" spc="-5" dirty="0">
                <a:solidFill>
                  <a:prstClr val="black"/>
                </a:solidFill>
                <a:latin typeface="Arial" panose="020B0604020202020204" pitchFamily="34" charset="0"/>
                <a:cs typeface="Arial" panose="020B0604020202020204" pitchFamily="34" charset="0"/>
              </a:rPr>
              <a:t>will be</a:t>
            </a:r>
            <a:r>
              <a:rPr sz="2400" spc="65" dirty="0">
                <a:solidFill>
                  <a:prstClr val="black"/>
                </a:solidFill>
                <a:latin typeface="Arial" panose="020B0604020202020204" pitchFamily="34" charset="0"/>
                <a:cs typeface="Arial" panose="020B0604020202020204" pitchFamily="34" charset="0"/>
              </a:rPr>
              <a:t> </a:t>
            </a:r>
            <a:r>
              <a:rPr sz="2400" spc="-5" dirty="0">
                <a:solidFill>
                  <a:prstClr val="black"/>
                </a:solidFill>
                <a:latin typeface="Arial" panose="020B0604020202020204" pitchFamily="34" charset="0"/>
                <a:cs typeface="Arial" panose="020B0604020202020204" pitchFamily="34" charset="0"/>
              </a:rPr>
              <a:t>1.</a:t>
            </a:r>
            <a:endParaRPr sz="2400" dirty="0">
              <a:solidFill>
                <a:prstClr val="black"/>
              </a:solidFill>
              <a:latin typeface="Arial" panose="020B0604020202020204" pitchFamily="34" charset="0"/>
              <a:cs typeface="Arial" panose="020B0604020202020204" pitchFamily="34" charset="0"/>
            </a:endParaRPr>
          </a:p>
          <a:p>
            <a:pPr marL="355600" marR="20320" indent="-342900" algn="just">
              <a:lnSpc>
                <a:spcPts val="2400"/>
              </a:lnSpc>
              <a:spcBef>
                <a:spcPts val="580"/>
              </a:spcBef>
              <a:buFont typeface="Arial"/>
              <a:buChar char="•"/>
              <a:tabLst>
                <a:tab pos="355600" algn="l"/>
              </a:tabLst>
            </a:pPr>
            <a:r>
              <a:rPr sz="2400" spc="-10" dirty="0">
                <a:solidFill>
                  <a:prstClr val="black"/>
                </a:solidFill>
                <a:latin typeface="Arial" panose="020B0604020202020204" pitchFamily="34" charset="0"/>
                <a:cs typeface="Arial" panose="020B0604020202020204" pitchFamily="34" charset="0"/>
              </a:rPr>
              <a:t>Cores per </a:t>
            </a:r>
            <a:r>
              <a:rPr sz="2400" spc="-20" dirty="0">
                <a:solidFill>
                  <a:prstClr val="black"/>
                </a:solidFill>
                <a:latin typeface="Arial" panose="020B0604020202020204" pitchFamily="34" charset="0"/>
                <a:cs typeface="Arial" panose="020B0604020202020204" pitchFamily="34" charset="0"/>
              </a:rPr>
              <a:t>socket </a:t>
            </a:r>
            <a:r>
              <a:rPr sz="2400" spc="-5" dirty="0">
                <a:solidFill>
                  <a:prstClr val="black"/>
                </a:solidFill>
                <a:latin typeface="Arial" panose="020B0604020202020204" pitchFamily="34" charset="0"/>
                <a:cs typeface="Arial" panose="020B0604020202020204" pitchFamily="34" charset="0"/>
              </a:rPr>
              <a:t>depends on </a:t>
            </a:r>
            <a:r>
              <a:rPr sz="2400" spc="-15" dirty="0">
                <a:solidFill>
                  <a:prstClr val="black"/>
                </a:solidFill>
                <a:latin typeface="Arial" panose="020B0604020202020204" pitchFamily="34" charset="0"/>
                <a:cs typeface="Arial" panose="020B0604020202020204" pitchFamily="34" charset="0"/>
              </a:rPr>
              <a:t>your </a:t>
            </a:r>
            <a:r>
              <a:rPr sz="2400" spc="-20" dirty="0">
                <a:solidFill>
                  <a:prstClr val="black"/>
                </a:solidFill>
                <a:latin typeface="Arial" panose="020B0604020202020204" pitchFamily="34" charset="0"/>
                <a:cs typeface="Arial" panose="020B0604020202020204" pitchFamily="34" charset="0"/>
              </a:rPr>
              <a:t>CPU. </a:t>
            </a:r>
            <a:r>
              <a:rPr sz="2400" spc="-5" dirty="0">
                <a:solidFill>
                  <a:prstClr val="black"/>
                </a:solidFill>
                <a:latin typeface="Arial" panose="020B0604020202020204" pitchFamily="34" charset="0"/>
                <a:cs typeface="Arial" panose="020B0604020202020204" pitchFamily="34" charset="0"/>
              </a:rPr>
              <a:t>It </a:t>
            </a:r>
            <a:r>
              <a:rPr sz="2400" spc="-10" dirty="0">
                <a:solidFill>
                  <a:prstClr val="black"/>
                </a:solidFill>
                <a:latin typeface="Arial" panose="020B0604020202020204" pitchFamily="34" charset="0"/>
                <a:cs typeface="Arial" panose="020B0604020202020204" pitchFamily="34" charset="0"/>
              </a:rPr>
              <a:t>could </a:t>
            </a:r>
            <a:r>
              <a:rPr sz="2400" spc="-5" dirty="0">
                <a:solidFill>
                  <a:prstClr val="black"/>
                </a:solidFill>
                <a:latin typeface="Arial" panose="020B0604020202020204" pitchFamily="34" charset="0"/>
                <a:cs typeface="Arial" panose="020B0604020202020204" pitchFamily="34" charset="0"/>
              </a:rPr>
              <a:t>be 2 </a:t>
            </a:r>
            <a:r>
              <a:rPr sz="2400" spc="-20" dirty="0">
                <a:solidFill>
                  <a:prstClr val="black"/>
                </a:solidFill>
                <a:latin typeface="Arial" panose="020B0604020202020204" pitchFamily="34" charset="0"/>
                <a:cs typeface="Arial" panose="020B0604020202020204" pitchFamily="34" charset="0"/>
              </a:rPr>
              <a:t>(dual-  </a:t>
            </a:r>
            <a:r>
              <a:rPr sz="2400" spc="-10" dirty="0">
                <a:solidFill>
                  <a:prstClr val="black"/>
                </a:solidFill>
                <a:latin typeface="Arial" panose="020B0604020202020204" pitchFamily="34" charset="0"/>
                <a:cs typeface="Arial" panose="020B0604020202020204" pitchFamily="34" charset="0"/>
              </a:rPr>
              <a:t>core), </a:t>
            </a:r>
            <a:r>
              <a:rPr sz="2400" spc="-5" dirty="0">
                <a:solidFill>
                  <a:prstClr val="black"/>
                </a:solidFill>
                <a:latin typeface="Arial" panose="020B0604020202020204" pitchFamily="34" charset="0"/>
                <a:cs typeface="Arial" panose="020B0604020202020204" pitchFamily="34" charset="0"/>
              </a:rPr>
              <a:t>3, 4 </a:t>
            </a:r>
            <a:r>
              <a:rPr sz="2400" spc="-10" dirty="0">
                <a:solidFill>
                  <a:prstClr val="black"/>
                </a:solidFill>
                <a:latin typeface="Arial" panose="020B0604020202020204" pitchFamily="34" charset="0"/>
                <a:cs typeface="Arial" panose="020B0604020202020204" pitchFamily="34" charset="0"/>
              </a:rPr>
              <a:t>(quad-core), </a:t>
            </a:r>
            <a:r>
              <a:rPr sz="2400" spc="-5" dirty="0">
                <a:solidFill>
                  <a:prstClr val="black"/>
                </a:solidFill>
                <a:latin typeface="Arial" panose="020B0604020202020204" pitchFamily="34" charset="0"/>
                <a:cs typeface="Arial" panose="020B0604020202020204" pitchFamily="34" charset="0"/>
              </a:rPr>
              <a:t>6 </a:t>
            </a:r>
            <a:r>
              <a:rPr sz="2400" spc="-15" dirty="0">
                <a:solidFill>
                  <a:prstClr val="black"/>
                </a:solidFill>
                <a:latin typeface="Arial" panose="020B0604020202020204" pitchFamily="34" charset="0"/>
                <a:cs typeface="Arial" panose="020B0604020202020204" pitchFamily="34" charset="0"/>
              </a:rPr>
              <a:t>(hexa-core), </a:t>
            </a:r>
            <a:r>
              <a:rPr sz="2400" spc="-5" dirty="0">
                <a:solidFill>
                  <a:prstClr val="black"/>
                </a:solidFill>
                <a:latin typeface="Arial" panose="020B0604020202020204" pitchFamily="34" charset="0"/>
                <a:cs typeface="Arial" panose="020B0604020202020204" pitchFamily="34" charset="0"/>
              </a:rPr>
              <a:t>or 8. </a:t>
            </a:r>
            <a:r>
              <a:rPr sz="2400" spc="-15" dirty="0">
                <a:solidFill>
                  <a:prstClr val="black"/>
                </a:solidFill>
                <a:latin typeface="Arial" panose="020B0604020202020204" pitchFamily="34" charset="0"/>
                <a:cs typeface="Arial" panose="020B0604020202020204" pitchFamily="34" charset="0"/>
              </a:rPr>
              <a:t>There are </a:t>
            </a:r>
            <a:r>
              <a:rPr sz="2400" spc="-10" dirty="0">
                <a:solidFill>
                  <a:prstClr val="black"/>
                </a:solidFill>
                <a:latin typeface="Arial" panose="020B0604020202020204" pitchFamily="34" charset="0"/>
                <a:cs typeface="Arial" panose="020B0604020202020204" pitchFamily="34" charset="0"/>
              </a:rPr>
              <a:t>some  prototype CPUs </a:t>
            </a:r>
            <a:r>
              <a:rPr sz="2400" spc="-5" dirty="0">
                <a:solidFill>
                  <a:prstClr val="black"/>
                </a:solidFill>
                <a:latin typeface="Arial" panose="020B0604020202020204" pitchFamily="34" charset="0"/>
                <a:cs typeface="Arial" panose="020B0604020202020204" pitchFamily="34" charset="0"/>
              </a:rPr>
              <a:t>with as </a:t>
            </a:r>
            <a:r>
              <a:rPr sz="2400" spc="-15" dirty="0">
                <a:solidFill>
                  <a:prstClr val="black"/>
                </a:solidFill>
                <a:latin typeface="Arial" panose="020B0604020202020204" pitchFamily="34" charset="0"/>
                <a:cs typeface="Arial" panose="020B0604020202020204" pitchFamily="34" charset="0"/>
              </a:rPr>
              <a:t>many </a:t>
            </a:r>
            <a:r>
              <a:rPr sz="2400" spc="-5" dirty="0">
                <a:solidFill>
                  <a:prstClr val="black"/>
                </a:solidFill>
                <a:latin typeface="Arial" panose="020B0604020202020204" pitchFamily="34" charset="0"/>
                <a:cs typeface="Arial" panose="020B0604020202020204" pitchFamily="34" charset="0"/>
              </a:rPr>
              <a:t>as 80</a:t>
            </a:r>
            <a:r>
              <a:rPr sz="2400" spc="80" dirty="0">
                <a:solidFill>
                  <a:prstClr val="black"/>
                </a:solidFill>
                <a:latin typeface="Arial" panose="020B0604020202020204" pitchFamily="34" charset="0"/>
                <a:cs typeface="Arial" panose="020B0604020202020204" pitchFamily="34" charset="0"/>
              </a:rPr>
              <a:t> </a:t>
            </a:r>
            <a:r>
              <a:rPr sz="2400" spc="-15" dirty="0">
                <a:solidFill>
                  <a:prstClr val="black"/>
                </a:solidFill>
                <a:latin typeface="Arial" panose="020B0604020202020204" pitchFamily="34" charset="0"/>
                <a:cs typeface="Arial" panose="020B0604020202020204" pitchFamily="34" charset="0"/>
              </a:rPr>
              <a:t>cores.</a:t>
            </a:r>
            <a:endParaRPr sz="2400" dirty="0">
              <a:solidFill>
                <a:prstClr val="black"/>
              </a:solidFill>
              <a:latin typeface="Arial" panose="020B0604020202020204" pitchFamily="34" charset="0"/>
              <a:cs typeface="Arial" panose="020B0604020202020204" pitchFamily="34" charset="0"/>
            </a:endParaRPr>
          </a:p>
          <a:p>
            <a:pPr marL="355600" marR="79375" indent="-342900" algn="just">
              <a:lnSpc>
                <a:spcPts val="2400"/>
              </a:lnSpc>
              <a:spcBef>
                <a:spcPts val="600"/>
              </a:spcBef>
              <a:buFont typeface="Arial"/>
              <a:buChar char="•"/>
              <a:tabLst>
                <a:tab pos="355600" algn="l"/>
              </a:tabLst>
            </a:pPr>
            <a:r>
              <a:rPr sz="2400" spc="-5" dirty="0">
                <a:solidFill>
                  <a:prstClr val="black"/>
                </a:solidFill>
                <a:latin typeface="Arial" panose="020B0604020202020204" pitchFamily="34" charset="0"/>
                <a:cs typeface="Arial" panose="020B0604020202020204" pitchFamily="34" charset="0"/>
              </a:rPr>
              <a:t>“Clock </a:t>
            </a:r>
            <a:r>
              <a:rPr sz="2400" spc="-10" dirty="0">
                <a:solidFill>
                  <a:prstClr val="black"/>
                </a:solidFill>
                <a:latin typeface="Arial" panose="020B0604020202020204" pitchFamily="34" charset="0"/>
                <a:cs typeface="Arial" panose="020B0604020202020204" pitchFamily="34" charset="0"/>
              </a:rPr>
              <a:t>cycles per second” </a:t>
            </a:r>
            <a:r>
              <a:rPr sz="2400" spc="-30" dirty="0">
                <a:solidFill>
                  <a:prstClr val="black"/>
                </a:solidFill>
                <a:latin typeface="Arial" panose="020B0604020202020204" pitchFamily="34" charset="0"/>
                <a:cs typeface="Arial" panose="020B0604020202020204" pitchFamily="34" charset="0"/>
              </a:rPr>
              <a:t>refers </a:t>
            </a:r>
            <a:r>
              <a:rPr sz="2400" spc="-15" dirty="0">
                <a:solidFill>
                  <a:prstClr val="black"/>
                </a:solidFill>
                <a:latin typeface="Arial" panose="020B0604020202020204" pitchFamily="34" charset="0"/>
                <a:cs typeface="Arial" panose="020B0604020202020204" pitchFamily="34" charset="0"/>
              </a:rPr>
              <a:t>to </a:t>
            </a:r>
            <a:r>
              <a:rPr sz="2400" spc="-5" dirty="0">
                <a:solidFill>
                  <a:prstClr val="black"/>
                </a:solidFill>
                <a:latin typeface="Arial" panose="020B0604020202020204" pitchFamily="34" charset="0"/>
                <a:cs typeface="Arial" panose="020B0604020202020204" pitchFamily="34" charset="0"/>
              </a:rPr>
              <a:t>the speed of </a:t>
            </a:r>
            <a:r>
              <a:rPr sz="2400" spc="-10" dirty="0">
                <a:solidFill>
                  <a:prstClr val="black"/>
                </a:solidFill>
                <a:latin typeface="Arial" panose="020B0604020202020204" pitchFamily="34" charset="0"/>
                <a:cs typeface="Arial" panose="020B0604020202020204" pitchFamily="34" charset="0"/>
              </a:rPr>
              <a:t>your </a:t>
            </a:r>
            <a:r>
              <a:rPr sz="2400" spc="-20" dirty="0">
                <a:solidFill>
                  <a:prstClr val="black"/>
                </a:solidFill>
                <a:latin typeface="Arial" panose="020B0604020202020204" pitchFamily="34" charset="0"/>
                <a:cs typeface="Arial" panose="020B0604020202020204" pitchFamily="34" charset="0"/>
              </a:rPr>
              <a:t>CPU.  </a:t>
            </a:r>
            <a:r>
              <a:rPr sz="2400" spc="-10" dirty="0">
                <a:solidFill>
                  <a:prstClr val="black"/>
                </a:solidFill>
                <a:latin typeface="Arial" panose="020B0604020202020204" pitchFamily="34" charset="0"/>
                <a:cs typeface="Arial" panose="020B0604020202020204" pitchFamily="34" charset="0"/>
              </a:rPr>
              <a:t>Most </a:t>
            </a:r>
            <a:r>
              <a:rPr sz="2400" spc="-5" dirty="0">
                <a:solidFill>
                  <a:prstClr val="black"/>
                </a:solidFill>
                <a:latin typeface="Arial" panose="020B0604020202020204" pitchFamily="34" charset="0"/>
                <a:cs typeface="Arial" panose="020B0604020202020204" pitchFamily="34" charset="0"/>
              </a:rPr>
              <a:t>modern </a:t>
            </a:r>
            <a:r>
              <a:rPr sz="2400" spc="-10" dirty="0">
                <a:solidFill>
                  <a:prstClr val="black"/>
                </a:solidFill>
                <a:latin typeface="Arial" panose="020B0604020202020204" pitchFamily="34" charset="0"/>
                <a:cs typeface="Arial" panose="020B0604020202020204" pitchFamily="34" charset="0"/>
              </a:rPr>
              <a:t>CPUs </a:t>
            </a:r>
            <a:r>
              <a:rPr sz="2400" spc="-15" dirty="0">
                <a:solidFill>
                  <a:prstClr val="black"/>
                </a:solidFill>
                <a:latin typeface="Arial" panose="020B0604020202020204" pitchFamily="34" charset="0"/>
                <a:cs typeface="Arial" panose="020B0604020202020204" pitchFamily="34" charset="0"/>
              </a:rPr>
              <a:t>are </a:t>
            </a:r>
            <a:r>
              <a:rPr sz="2400" spc="-20" dirty="0">
                <a:solidFill>
                  <a:prstClr val="black"/>
                </a:solidFill>
                <a:latin typeface="Arial" panose="020B0604020202020204" pitchFamily="34" charset="0"/>
                <a:cs typeface="Arial" panose="020B0604020202020204" pitchFamily="34" charset="0"/>
              </a:rPr>
              <a:t>rated </a:t>
            </a:r>
            <a:r>
              <a:rPr sz="2400" spc="-5" dirty="0">
                <a:solidFill>
                  <a:prstClr val="black"/>
                </a:solidFill>
                <a:latin typeface="Arial" panose="020B0604020202020204" pitchFamily="34" charset="0"/>
                <a:cs typeface="Arial" panose="020B0604020202020204" pitchFamily="34" charset="0"/>
              </a:rPr>
              <a:t>in gigahertz. </a:t>
            </a:r>
            <a:r>
              <a:rPr sz="2400" dirty="0">
                <a:solidFill>
                  <a:prstClr val="black"/>
                </a:solidFill>
                <a:latin typeface="Arial" panose="020B0604020202020204" pitchFamily="34" charset="0"/>
                <a:cs typeface="Arial" panose="020B0604020202020204" pitchFamily="34" charset="0"/>
              </a:rPr>
              <a:t>So </a:t>
            </a:r>
            <a:r>
              <a:rPr sz="2400" spc="-5" dirty="0">
                <a:solidFill>
                  <a:prstClr val="black"/>
                </a:solidFill>
                <a:latin typeface="Arial" panose="020B0604020202020204" pitchFamily="34" charset="0"/>
                <a:cs typeface="Arial" panose="020B0604020202020204" pitchFamily="34" charset="0"/>
              </a:rPr>
              <a:t>2 GHz </a:t>
            </a:r>
            <a:r>
              <a:rPr sz="2400" spc="-10" dirty="0">
                <a:solidFill>
                  <a:prstClr val="black"/>
                </a:solidFill>
                <a:latin typeface="Arial" panose="020B0604020202020204" pitchFamily="34" charset="0"/>
                <a:cs typeface="Arial" panose="020B0604020202020204" pitchFamily="34" charset="0"/>
              </a:rPr>
              <a:t>would  </a:t>
            </a:r>
            <a:r>
              <a:rPr sz="2400" spc="-5" dirty="0">
                <a:solidFill>
                  <a:prstClr val="black"/>
                </a:solidFill>
                <a:latin typeface="Arial" panose="020B0604020202020204" pitchFamily="34" charset="0"/>
                <a:cs typeface="Arial" panose="020B0604020202020204" pitchFamily="34" charset="0"/>
              </a:rPr>
              <a:t>be 2,000,000,000 </a:t>
            </a:r>
            <a:r>
              <a:rPr sz="2400" dirty="0">
                <a:solidFill>
                  <a:prstClr val="black"/>
                </a:solidFill>
                <a:latin typeface="Arial" panose="020B0604020202020204" pitchFamily="34" charset="0"/>
                <a:cs typeface="Arial" panose="020B0604020202020204" pitchFamily="34" charset="0"/>
              </a:rPr>
              <a:t>clock </a:t>
            </a:r>
            <a:r>
              <a:rPr sz="2400" spc="-10" dirty="0">
                <a:solidFill>
                  <a:prstClr val="black"/>
                </a:solidFill>
                <a:latin typeface="Arial" panose="020B0604020202020204" pitchFamily="34" charset="0"/>
                <a:cs typeface="Arial" panose="020B0604020202020204" pitchFamily="34" charset="0"/>
              </a:rPr>
              <a:t>cycles per</a:t>
            </a:r>
            <a:r>
              <a:rPr sz="2400" spc="75" dirty="0">
                <a:solidFill>
                  <a:prstClr val="black"/>
                </a:solidFill>
                <a:latin typeface="Arial" panose="020B0604020202020204" pitchFamily="34" charset="0"/>
                <a:cs typeface="Arial" panose="020B0604020202020204" pitchFamily="34" charset="0"/>
              </a:rPr>
              <a:t> </a:t>
            </a:r>
            <a:r>
              <a:rPr sz="2400" spc="-10" dirty="0">
                <a:solidFill>
                  <a:prstClr val="black"/>
                </a:solidFill>
                <a:latin typeface="Arial" panose="020B0604020202020204" pitchFamily="34" charset="0"/>
                <a:cs typeface="Arial" panose="020B0604020202020204" pitchFamily="34" charset="0"/>
              </a:rPr>
              <a:t>second.</a:t>
            </a:r>
            <a:endParaRPr sz="2400" dirty="0">
              <a:solidFill>
                <a:prstClr val="black"/>
              </a:solidFill>
              <a:latin typeface="Arial" panose="020B0604020202020204" pitchFamily="34" charset="0"/>
              <a:cs typeface="Arial" panose="020B0604020202020204" pitchFamily="34" charset="0"/>
            </a:endParaRPr>
          </a:p>
          <a:p>
            <a:pPr marL="355600" marR="61594" indent="-342900" algn="just">
              <a:lnSpc>
                <a:spcPct val="80000"/>
              </a:lnSpc>
              <a:spcBef>
                <a:spcPts val="620"/>
              </a:spcBef>
              <a:buFont typeface="Arial"/>
              <a:buChar char="•"/>
              <a:tabLst>
                <a:tab pos="354965" algn="l"/>
                <a:tab pos="355600" algn="l"/>
              </a:tabLst>
            </a:pPr>
            <a:r>
              <a:rPr sz="2400" spc="-10" dirty="0">
                <a:solidFill>
                  <a:prstClr val="black"/>
                </a:solidFill>
                <a:latin typeface="Arial" panose="020B0604020202020204" pitchFamily="34" charset="0"/>
                <a:cs typeface="Arial" panose="020B0604020202020204" pitchFamily="34" charset="0"/>
              </a:rPr>
              <a:t>The number </a:t>
            </a:r>
            <a:r>
              <a:rPr sz="2400" spc="-5" dirty="0">
                <a:solidFill>
                  <a:prstClr val="black"/>
                </a:solidFill>
                <a:latin typeface="Arial" panose="020B0604020202020204" pitchFamily="34" charset="0"/>
                <a:cs typeface="Arial" panose="020B0604020202020204" pitchFamily="34" charset="0"/>
              </a:rPr>
              <a:t>of </a:t>
            </a:r>
            <a:r>
              <a:rPr sz="2400" spc="-25" dirty="0">
                <a:solidFill>
                  <a:prstClr val="black"/>
                </a:solidFill>
                <a:latin typeface="Arial" panose="020B0604020202020204" pitchFamily="34" charset="0"/>
                <a:cs typeface="Arial" panose="020B0604020202020204" pitchFamily="34" charset="0"/>
              </a:rPr>
              <a:t>FLOPs </a:t>
            </a:r>
            <a:r>
              <a:rPr sz="2400" spc="-5" dirty="0">
                <a:solidFill>
                  <a:prstClr val="black"/>
                </a:solidFill>
                <a:latin typeface="Arial" panose="020B0604020202020204" pitchFamily="34" charset="0"/>
                <a:cs typeface="Arial" panose="020B0604020202020204" pitchFamily="34" charset="0"/>
              </a:rPr>
              <a:t>per </a:t>
            </a:r>
            <a:r>
              <a:rPr sz="2400" spc="-10" dirty="0">
                <a:solidFill>
                  <a:prstClr val="black"/>
                </a:solidFill>
                <a:latin typeface="Arial" panose="020B0604020202020204" pitchFamily="34" charset="0"/>
                <a:cs typeface="Arial" panose="020B0604020202020204" pitchFamily="34" charset="0"/>
              </a:rPr>
              <a:t>cycle </a:t>
            </a:r>
            <a:r>
              <a:rPr sz="2400" spc="-5" dirty="0">
                <a:solidFill>
                  <a:prstClr val="black"/>
                </a:solidFill>
                <a:latin typeface="Arial" panose="020B0604020202020204" pitchFamily="34" charset="0"/>
                <a:cs typeface="Arial" panose="020B0604020202020204" pitchFamily="34" charset="0"/>
              </a:rPr>
              <a:t>also depends on the </a:t>
            </a:r>
            <a:r>
              <a:rPr sz="2400" spc="-20" dirty="0">
                <a:solidFill>
                  <a:prstClr val="black"/>
                </a:solidFill>
                <a:latin typeface="Arial" panose="020B0604020202020204" pitchFamily="34" charset="0"/>
                <a:cs typeface="Arial" panose="020B0604020202020204" pitchFamily="34" charset="0"/>
              </a:rPr>
              <a:t>CPU.  </a:t>
            </a:r>
            <a:r>
              <a:rPr sz="2400" spc="-5" dirty="0">
                <a:solidFill>
                  <a:prstClr val="black"/>
                </a:solidFill>
                <a:latin typeface="Arial" panose="020B0604020202020204" pitchFamily="34" charset="0"/>
                <a:cs typeface="Arial" panose="020B0604020202020204" pitchFamily="34" charset="0"/>
              </a:rPr>
              <a:t>One of the </a:t>
            </a:r>
            <a:r>
              <a:rPr sz="2400" spc="-20" dirty="0">
                <a:solidFill>
                  <a:prstClr val="black"/>
                </a:solidFill>
                <a:latin typeface="Arial" panose="020B0604020202020204" pitchFamily="34" charset="0"/>
                <a:cs typeface="Arial" panose="020B0604020202020204" pitchFamily="34" charset="0"/>
              </a:rPr>
              <a:t>fastest </a:t>
            </a:r>
            <a:r>
              <a:rPr sz="2400" spc="-5" dirty="0">
                <a:solidFill>
                  <a:prstClr val="black"/>
                </a:solidFill>
                <a:latin typeface="Arial" panose="020B0604020202020204" pitchFamily="34" charset="0"/>
                <a:cs typeface="Arial" panose="020B0604020202020204" pitchFamily="34" charset="0"/>
              </a:rPr>
              <a:t>(home </a:t>
            </a:r>
            <a:r>
              <a:rPr sz="2400" spc="-10" dirty="0">
                <a:solidFill>
                  <a:prstClr val="black"/>
                </a:solidFill>
                <a:latin typeface="Arial" panose="020B0604020202020204" pitchFamily="34" charset="0"/>
                <a:cs typeface="Arial" panose="020B0604020202020204" pitchFamily="34" charset="0"/>
              </a:rPr>
              <a:t>computer) CPUs </a:t>
            </a:r>
            <a:r>
              <a:rPr sz="2400" spc="-5" dirty="0">
                <a:solidFill>
                  <a:prstClr val="black"/>
                </a:solidFill>
                <a:latin typeface="Arial" panose="020B0604020202020204" pitchFamily="34" charset="0"/>
                <a:cs typeface="Arial" panose="020B0604020202020204" pitchFamily="34" charset="0"/>
              </a:rPr>
              <a:t>is the </a:t>
            </a:r>
            <a:r>
              <a:rPr sz="2400" spc="-15" dirty="0">
                <a:solidFill>
                  <a:prstClr val="black"/>
                </a:solidFill>
                <a:latin typeface="Arial" panose="020B0604020202020204" pitchFamily="34" charset="0"/>
                <a:cs typeface="Arial" panose="020B0604020202020204" pitchFamily="34" charset="0"/>
              </a:rPr>
              <a:t>Intel </a:t>
            </a:r>
            <a:r>
              <a:rPr sz="2400" spc="-10" dirty="0">
                <a:solidFill>
                  <a:prstClr val="black"/>
                </a:solidFill>
                <a:latin typeface="Arial" panose="020B0604020202020204" pitchFamily="34" charset="0"/>
                <a:cs typeface="Arial" panose="020B0604020202020204" pitchFamily="34" charset="0"/>
              </a:rPr>
              <a:t>Core  </a:t>
            </a:r>
            <a:r>
              <a:rPr sz="2400" spc="-5" dirty="0">
                <a:solidFill>
                  <a:prstClr val="black"/>
                </a:solidFill>
                <a:latin typeface="Arial" panose="020B0604020202020204" pitchFamily="34" charset="0"/>
                <a:cs typeface="Arial" panose="020B0604020202020204" pitchFamily="34" charset="0"/>
              </a:rPr>
              <a:t>i7–970, capable of 4 double-precision or 8 single-precision  </a:t>
            </a:r>
            <a:r>
              <a:rPr sz="2400" spc="-10" dirty="0">
                <a:solidFill>
                  <a:prstClr val="black"/>
                </a:solidFill>
                <a:latin typeface="Arial" panose="020B0604020202020204" pitchFamily="34" charset="0"/>
                <a:cs typeface="Arial" panose="020B0604020202020204" pitchFamily="34" charset="0"/>
              </a:rPr>
              <a:t>floating-point operations per cycle.</a:t>
            </a:r>
            <a:endParaRPr sz="2400" dirty="0">
              <a:solidFill>
                <a:prstClr val="black"/>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7945" y="461903"/>
            <a:ext cx="928369" cy="696595"/>
          </a:xfrm>
          <a:prstGeom prst="rect">
            <a:avLst/>
          </a:prstGeom>
        </p:spPr>
        <p:txBody>
          <a:bodyPr vert="horz" wrap="square" lIns="0" tIns="13335" rIns="0" bIns="0" rtlCol="0">
            <a:spAutoFit/>
          </a:bodyPr>
          <a:lstStyle/>
          <a:p>
            <a:pPr marL="12700">
              <a:spcBef>
                <a:spcPts val="105"/>
              </a:spcBef>
            </a:pPr>
            <a:r>
              <a:rPr spc="-395" dirty="0"/>
              <a:t>T</a:t>
            </a:r>
            <a:r>
              <a:rPr dirty="0"/>
              <a:t>e</a:t>
            </a:r>
            <a:r>
              <a:rPr spc="-40" dirty="0"/>
              <a:t>s</a:t>
            </a:r>
            <a:r>
              <a:rPr dirty="0"/>
              <a:t>t</a:t>
            </a:r>
          </a:p>
        </p:txBody>
      </p:sp>
      <p:sp>
        <p:nvSpPr>
          <p:cNvPr id="3" name="object 3"/>
          <p:cNvSpPr txBox="1"/>
          <p:nvPr/>
        </p:nvSpPr>
        <p:spPr>
          <a:xfrm>
            <a:off x="453836" y="1592978"/>
            <a:ext cx="8236585" cy="2475678"/>
          </a:xfrm>
          <a:prstGeom prst="rect">
            <a:avLst/>
          </a:prstGeom>
        </p:spPr>
        <p:txBody>
          <a:bodyPr vert="horz" wrap="square" lIns="0" tIns="13335" rIns="0" bIns="0" rtlCol="0">
            <a:spAutoFit/>
          </a:bodyPr>
          <a:lstStyle/>
          <a:p>
            <a:pPr marL="355600" indent="-342900" algn="just">
              <a:spcBef>
                <a:spcPts val="105"/>
              </a:spcBef>
              <a:buFont typeface="Arial"/>
              <a:buChar char="•"/>
              <a:tabLst>
                <a:tab pos="354965" algn="l"/>
                <a:tab pos="355600" algn="l"/>
              </a:tabLst>
            </a:pPr>
            <a:r>
              <a:rPr sz="3200" spc="-15" dirty="0">
                <a:solidFill>
                  <a:prstClr val="black"/>
                </a:solidFill>
                <a:latin typeface="Arial" panose="020B0604020202020204" pitchFamily="34" charset="0"/>
                <a:cs typeface="Arial" panose="020B0604020202020204" pitchFamily="34" charset="0"/>
              </a:rPr>
              <a:t>Intel </a:t>
            </a:r>
            <a:r>
              <a:rPr sz="3200" spc="-10" dirty="0">
                <a:solidFill>
                  <a:prstClr val="black"/>
                </a:solidFill>
                <a:latin typeface="Arial" panose="020B0604020202020204" pitchFamily="34" charset="0"/>
                <a:cs typeface="Arial" panose="020B0604020202020204" pitchFamily="34" charset="0"/>
              </a:rPr>
              <a:t>Core i7–970 </a:t>
            </a:r>
            <a:r>
              <a:rPr sz="3200" spc="-5" dirty="0">
                <a:solidFill>
                  <a:prstClr val="black"/>
                </a:solidFill>
                <a:latin typeface="Arial" panose="020B0604020202020204" pitchFamily="34" charset="0"/>
                <a:cs typeface="Arial" panose="020B0604020202020204" pitchFamily="34" charset="0"/>
              </a:rPr>
              <a:t>has </a:t>
            </a:r>
            <a:r>
              <a:rPr sz="3200" dirty="0">
                <a:solidFill>
                  <a:prstClr val="black"/>
                </a:solidFill>
                <a:latin typeface="Arial" panose="020B0604020202020204" pitchFamily="34" charset="0"/>
                <a:cs typeface="Arial" panose="020B0604020202020204" pitchFamily="34" charset="0"/>
              </a:rPr>
              <a:t>6 </a:t>
            </a:r>
            <a:r>
              <a:rPr sz="3200" spc="-10" dirty="0">
                <a:solidFill>
                  <a:prstClr val="black"/>
                </a:solidFill>
                <a:latin typeface="Arial" panose="020B0604020202020204" pitchFamily="34" charset="0"/>
                <a:cs typeface="Arial" panose="020B0604020202020204" pitchFamily="34" charset="0"/>
              </a:rPr>
              <a:t>cores. </a:t>
            </a:r>
            <a:r>
              <a:rPr sz="3200" dirty="0">
                <a:solidFill>
                  <a:prstClr val="black"/>
                </a:solidFill>
                <a:latin typeface="Arial" panose="020B0604020202020204" pitchFamily="34" charset="0"/>
                <a:cs typeface="Arial" panose="020B0604020202020204" pitchFamily="34" charset="0"/>
              </a:rPr>
              <a:t>If it is running</a:t>
            </a:r>
            <a:r>
              <a:rPr sz="3200" spc="35" dirty="0">
                <a:solidFill>
                  <a:prstClr val="black"/>
                </a:solidFill>
                <a:latin typeface="Arial" panose="020B0604020202020204" pitchFamily="34" charset="0"/>
                <a:cs typeface="Arial" panose="020B0604020202020204" pitchFamily="34" charset="0"/>
              </a:rPr>
              <a:t> </a:t>
            </a:r>
            <a:r>
              <a:rPr sz="3200" spc="-10" dirty="0">
                <a:solidFill>
                  <a:prstClr val="black"/>
                </a:solidFill>
                <a:latin typeface="Arial" panose="020B0604020202020204" pitchFamily="34" charset="0"/>
                <a:cs typeface="Arial" panose="020B0604020202020204" pitchFamily="34" charset="0"/>
              </a:rPr>
              <a:t>at</a:t>
            </a:r>
            <a:r>
              <a:rPr lang="en-US" sz="3200" dirty="0">
                <a:solidFill>
                  <a:prstClr val="black"/>
                </a:solidFill>
                <a:latin typeface="Arial" panose="020B0604020202020204" pitchFamily="34" charset="0"/>
                <a:cs typeface="Arial" panose="020B0604020202020204" pitchFamily="34" charset="0"/>
              </a:rPr>
              <a:t> </a:t>
            </a:r>
            <a:r>
              <a:rPr sz="3200" dirty="0">
                <a:solidFill>
                  <a:prstClr val="black"/>
                </a:solidFill>
                <a:latin typeface="Arial" panose="020B0604020202020204" pitchFamily="34" charset="0"/>
                <a:cs typeface="Arial" panose="020B0604020202020204" pitchFamily="34" charset="0"/>
              </a:rPr>
              <a:t>3.46 GHz and </a:t>
            </a:r>
            <a:r>
              <a:rPr sz="3200" spc="-10" dirty="0">
                <a:solidFill>
                  <a:prstClr val="black"/>
                </a:solidFill>
                <a:latin typeface="Arial" panose="020B0604020202020204" pitchFamily="34" charset="0"/>
                <a:cs typeface="Arial" panose="020B0604020202020204" pitchFamily="34" charset="0"/>
              </a:rPr>
              <a:t>can </a:t>
            </a:r>
            <a:r>
              <a:rPr sz="3200" spc="-15" dirty="0">
                <a:solidFill>
                  <a:prstClr val="black"/>
                </a:solidFill>
                <a:latin typeface="Arial" panose="020B0604020202020204" pitchFamily="34" charset="0"/>
                <a:cs typeface="Arial" panose="020B0604020202020204" pitchFamily="34" charset="0"/>
              </a:rPr>
              <a:t>perform </a:t>
            </a:r>
            <a:r>
              <a:rPr sz="3200" dirty="0">
                <a:solidFill>
                  <a:prstClr val="black"/>
                </a:solidFill>
                <a:latin typeface="Arial" panose="020B0604020202020204" pitchFamily="34" charset="0"/>
                <a:cs typeface="Arial" panose="020B0604020202020204" pitchFamily="34" charset="0"/>
              </a:rPr>
              <a:t>8 </a:t>
            </a:r>
            <a:r>
              <a:rPr sz="3200" spc="-5" dirty="0">
                <a:solidFill>
                  <a:prstClr val="black"/>
                </a:solidFill>
                <a:latin typeface="Arial" panose="020B0604020202020204" pitchFamily="34" charset="0"/>
                <a:cs typeface="Arial" panose="020B0604020202020204" pitchFamily="34" charset="0"/>
              </a:rPr>
              <a:t>floating </a:t>
            </a:r>
            <a:r>
              <a:rPr sz="3200" spc="-10" dirty="0">
                <a:solidFill>
                  <a:prstClr val="black"/>
                </a:solidFill>
                <a:latin typeface="Arial" panose="020B0604020202020204" pitchFamily="34" charset="0"/>
                <a:cs typeface="Arial" panose="020B0604020202020204" pitchFamily="34" charset="0"/>
              </a:rPr>
              <a:t>point</a:t>
            </a:r>
            <a:r>
              <a:rPr lang="en-US" sz="3200" spc="-10" dirty="0">
                <a:solidFill>
                  <a:prstClr val="black"/>
                </a:solidFill>
                <a:latin typeface="Arial" panose="020B0604020202020204" pitchFamily="34" charset="0"/>
                <a:cs typeface="Arial" panose="020B0604020202020204" pitchFamily="34" charset="0"/>
              </a:rPr>
              <a:t> </a:t>
            </a:r>
            <a:r>
              <a:rPr sz="3200" spc="-10" dirty="0">
                <a:solidFill>
                  <a:prstClr val="black"/>
                </a:solidFill>
                <a:latin typeface="Arial" panose="020B0604020202020204" pitchFamily="34" charset="0"/>
                <a:cs typeface="Arial" panose="020B0604020202020204" pitchFamily="34" charset="0"/>
              </a:rPr>
              <a:t>operations </a:t>
            </a:r>
            <a:r>
              <a:rPr sz="3200" spc="-5" dirty="0">
                <a:solidFill>
                  <a:prstClr val="black"/>
                </a:solidFill>
                <a:latin typeface="Arial" panose="020B0604020202020204" pitchFamily="34" charset="0"/>
                <a:cs typeface="Arial" panose="020B0604020202020204" pitchFamily="34" charset="0"/>
              </a:rPr>
              <a:t>per </a:t>
            </a:r>
            <a:r>
              <a:rPr sz="3200" spc="-10" dirty="0">
                <a:solidFill>
                  <a:prstClr val="black"/>
                </a:solidFill>
                <a:latin typeface="Arial" panose="020B0604020202020204" pitchFamily="34" charset="0"/>
                <a:cs typeface="Arial" panose="020B0604020202020204" pitchFamily="34" charset="0"/>
              </a:rPr>
              <a:t>second, calculate </a:t>
            </a:r>
            <a:r>
              <a:rPr sz="3200" dirty="0">
                <a:solidFill>
                  <a:prstClr val="black"/>
                </a:solidFill>
                <a:latin typeface="Arial" panose="020B0604020202020204" pitchFamily="34" charset="0"/>
                <a:cs typeface="Arial" panose="020B0604020202020204" pitchFamily="34" charset="0"/>
              </a:rPr>
              <a:t>the  </a:t>
            </a:r>
            <a:r>
              <a:rPr sz="3200" spc="-5" dirty="0">
                <a:solidFill>
                  <a:prstClr val="black"/>
                </a:solidFill>
                <a:latin typeface="Arial" panose="020B0604020202020204" pitchFamily="34" charset="0"/>
                <a:cs typeface="Arial" panose="020B0604020202020204" pitchFamily="34" charset="0"/>
              </a:rPr>
              <a:t>theoretical </a:t>
            </a:r>
            <a:r>
              <a:rPr sz="3200" spc="-15" dirty="0">
                <a:solidFill>
                  <a:prstClr val="black"/>
                </a:solidFill>
                <a:latin typeface="Arial" panose="020B0604020202020204" pitchFamily="34" charset="0"/>
                <a:cs typeface="Arial" panose="020B0604020202020204" pitchFamily="34" charset="0"/>
              </a:rPr>
              <a:t>compute </a:t>
            </a:r>
            <a:r>
              <a:rPr sz="3200" spc="-10" dirty="0">
                <a:solidFill>
                  <a:prstClr val="black"/>
                </a:solidFill>
                <a:latin typeface="Arial" panose="020B0604020202020204" pitchFamily="34" charset="0"/>
                <a:cs typeface="Arial" panose="020B0604020202020204" pitchFamily="34" charset="0"/>
              </a:rPr>
              <a:t>power </a:t>
            </a:r>
            <a:r>
              <a:rPr sz="3200" dirty="0">
                <a:solidFill>
                  <a:prstClr val="black"/>
                </a:solidFill>
                <a:latin typeface="Arial" panose="020B0604020202020204" pitchFamily="34" charset="0"/>
                <a:cs typeface="Arial" panose="020B0604020202020204" pitchFamily="34" charset="0"/>
              </a:rPr>
              <a:t>of this</a:t>
            </a:r>
            <a:r>
              <a:rPr sz="3200" spc="20" dirty="0">
                <a:solidFill>
                  <a:prstClr val="black"/>
                </a:solidFill>
                <a:latin typeface="Arial" panose="020B0604020202020204" pitchFamily="34" charset="0"/>
                <a:cs typeface="Arial" panose="020B0604020202020204" pitchFamily="34" charset="0"/>
              </a:rPr>
              <a:t> </a:t>
            </a:r>
            <a:r>
              <a:rPr sz="3200" dirty="0">
                <a:solidFill>
                  <a:prstClr val="black"/>
                </a:solidFill>
                <a:latin typeface="Arial" panose="020B0604020202020204" pitchFamily="34" charset="0"/>
                <a:cs typeface="Arial" panose="020B0604020202020204" pitchFamily="34" charset="0"/>
              </a:rPr>
              <a:t>machine.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B2291C4-ACB0-494E-A804-47D53A4A45D4}"/>
                  </a:ext>
                </a:extLst>
              </p14:cNvPr>
              <p14:cNvContentPartPr/>
              <p14:nvPr/>
            </p14:nvContentPartPr>
            <p14:xfrm>
              <a:off x="1002120" y="2047680"/>
              <a:ext cx="5360400" cy="516960"/>
            </p14:xfrm>
          </p:contentPart>
        </mc:Choice>
        <mc:Fallback xmlns="">
          <p:pic>
            <p:nvPicPr>
              <p:cNvPr id="4" name="Ink 3">
                <a:extLst>
                  <a:ext uri="{FF2B5EF4-FFF2-40B4-BE49-F238E27FC236}">
                    <a16:creationId xmlns:a16="http://schemas.microsoft.com/office/drawing/2014/main" id="{6B2291C4-ACB0-494E-A804-47D53A4A45D4}"/>
                  </a:ext>
                </a:extLst>
              </p:cNvPr>
              <p:cNvPicPr/>
              <p:nvPr/>
            </p:nvPicPr>
            <p:blipFill>
              <a:blip r:embed="rId3"/>
              <a:stretch>
                <a:fillRect/>
              </a:stretch>
            </p:blipFill>
            <p:spPr>
              <a:xfrm>
                <a:off x="992760" y="2038320"/>
                <a:ext cx="5379120" cy="53568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98930" y="461903"/>
            <a:ext cx="1945005" cy="696595"/>
          </a:xfrm>
          <a:prstGeom prst="rect">
            <a:avLst/>
          </a:prstGeom>
        </p:spPr>
        <p:txBody>
          <a:bodyPr vert="horz" wrap="square" lIns="0" tIns="13335" rIns="0" bIns="0" rtlCol="0">
            <a:spAutoFit/>
          </a:bodyPr>
          <a:lstStyle/>
          <a:p>
            <a:pPr marL="12700">
              <a:spcBef>
                <a:spcPts val="105"/>
              </a:spcBef>
            </a:pPr>
            <a:r>
              <a:rPr spc="-5" dirty="0"/>
              <a:t>E</a:t>
            </a:r>
            <a:r>
              <a:rPr spc="-85" dirty="0"/>
              <a:t>x</a:t>
            </a:r>
            <a:r>
              <a:rPr dirty="0"/>
              <a:t>ample</a:t>
            </a:r>
          </a:p>
        </p:txBody>
      </p:sp>
      <p:sp>
        <p:nvSpPr>
          <p:cNvPr id="3" name="object 3"/>
          <p:cNvSpPr txBox="1"/>
          <p:nvPr/>
        </p:nvSpPr>
        <p:spPr>
          <a:xfrm>
            <a:off x="535940" y="1607265"/>
            <a:ext cx="8002270" cy="3665747"/>
          </a:xfrm>
          <a:prstGeom prst="rect">
            <a:avLst/>
          </a:prstGeom>
        </p:spPr>
        <p:txBody>
          <a:bodyPr vert="horz" wrap="square" lIns="0" tIns="13335" rIns="0" bIns="0" rtlCol="0">
            <a:spAutoFit/>
          </a:bodyPr>
          <a:lstStyle/>
          <a:p>
            <a:pPr marL="355600" indent="-342900" algn="just">
              <a:spcBef>
                <a:spcPts val="105"/>
              </a:spcBef>
              <a:buFont typeface="Arial"/>
              <a:buChar char="•"/>
              <a:tabLst>
                <a:tab pos="354965" algn="l"/>
                <a:tab pos="355600" algn="l"/>
              </a:tabLst>
            </a:pPr>
            <a:r>
              <a:rPr sz="2800" spc="-15" dirty="0">
                <a:solidFill>
                  <a:prstClr val="black"/>
                </a:solidFill>
                <a:latin typeface="Arial" panose="020B0604020202020204" pitchFamily="34" charset="0"/>
                <a:cs typeface="Arial" panose="020B0604020202020204" pitchFamily="34" charset="0"/>
              </a:rPr>
              <a:t>Intel </a:t>
            </a:r>
            <a:r>
              <a:rPr sz="2800" spc="-10" dirty="0">
                <a:solidFill>
                  <a:prstClr val="black"/>
                </a:solidFill>
                <a:latin typeface="Arial" panose="020B0604020202020204" pitchFamily="34" charset="0"/>
                <a:cs typeface="Arial" panose="020B0604020202020204" pitchFamily="34" charset="0"/>
              </a:rPr>
              <a:t>Core i7–970 </a:t>
            </a:r>
            <a:r>
              <a:rPr sz="2800" spc="-5" dirty="0">
                <a:solidFill>
                  <a:prstClr val="black"/>
                </a:solidFill>
                <a:latin typeface="Arial" panose="020B0604020202020204" pitchFamily="34" charset="0"/>
                <a:cs typeface="Arial" panose="020B0604020202020204" pitchFamily="34" charset="0"/>
              </a:rPr>
              <a:t>has </a:t>
            </a:r>
            <a:r>
              <a:rPr sz="2800" dirty="0">
                <a:solidFill>
                  <a:prstClr val="black"/>
                </a:solidFill>
                <a:latin typeface="Arial" panose="020B0604020202020204" pitchFamily="34" charset="0"/>
                <a:cs typeface="Arial" panose="020B0604020202020204" pitchFamily="34" charset="0"/>
              </a:rPr>
              <a:t>6 </a:t>
            </a:r>
            <a:r>
              <a:rPr sz="2800" spc="-10" dirty="0">
                <a:solidFill>
                  <a:prstClr val="black"/>
                </a:solidFill>
                <a:latin typeface="Arial" panose="020B0604020202020204" pitchFamily="34" charset="0"/>
                <a:cs typeface="Arial" panose="020B0604020202020204" pitchFamily="34" charset="0"/>
              </a:rPr>
              <a:t>cores. </a:t>
            </a:r>
            <a:r>
              <a:rPr sz="2800" dirty="0">
                <a:solidFill>
                  <a:prstClr val="black"/>
                </a:solidFill>
                <a:latin typeface="Arial" panose="020B0604020202020204" pitchFamily="34" charset="0"/>
                <a:cs typeface="Arial" panose="020B0604020202020204" pitchFamily="34" charset="0"/>
              </a:rPr>
              <a:t>If it is running</a:t>
            </a:r>
            <a:r>
              <a:rPr sz="2800" spc="35" dirty="0">
                <a:solidFill>
                  <a:prstClr val="black"/>
                </a:solidFill>
                <a:latin typeface="Arial" panose="020B0604020202020204" pitchFamily="34" charset="0"/>
                <a:cs typeface="Arial" panose="020B0604020202020204" pitchFamily="34" charset="0"/>
              </a:rPr>
              <a:t> </a:t>
            </a:r>
            <a:r>
              <a:rPr sz="2800" spc="-10" dirty="0">
                <a:solidFill>
                  <a:prstClr val="black"/>
                </a:solidFill>
                <a:latin typeface="Arial" panose="020B0604020202020204" pitchFamily="34" charset="0"/>
                <a:cs typeface="Arial" panose="020B0604020202020204" pitchFamily="34" charset="0"/>
              </a:rPr>
              <a:t>at</a:t>
            </a:r>
            <a:endParaRPr sz="2800" dirty="0">
              <a:solidFill>
                <a:prstClr val="black"/>
              </a:solidFill>
              <a:latin typeface="Arial" panose="020B0604020202020204" pitchFamily="34" charset="0"/>
              <a:cs typeface="Arial" panose="020B0604020202020204" pitchFamily="34" charset="0"/>
            </a:endParaRPr>
          </a:p>
          <a:p>
            <a:pPr marL="355600" algn="just">
              <a:spcBef>
                <a:spcPts val="5"/>
              </a:spcBef>
            </a:pPr>
            <a:r>
              <a:rPr sz="2800" dirty="0">
                <a:solidFill>
                  <a:prstClr val="black"/>
                </a:solidFill>
                <a:latin typeface="Arial" panose="020B0604020202020204" pitchFamily="34" charset="0"/>
                <a:cs typeface="Arial" panose="020B0604020202020204" pitchFamily="34" charset="0"/>
              </a:rPr>
              <a:t>3.46 GHz, the </a:t>
            </a:r>
            <a:r>
              <a:rPr sz="2800" spc="-15" dirty="0">
                <a:solidFill>
                  <a:prstClr val="black"/>
                </a:solidFill>
                <a:latin typeface="Arial" panose="020B0604020202020204" pitchFamily="34" charset="0"/>
                <a:cs typeface="Arial" panose="020B0604020202020204" pitchFamily="34" charset="0"/>
              </a:rPr>
              <a:t>formula </a:t>
            </a:r>
            <a:r>
              <a:rPr sz="2800" spc="-5" dirty="0">
                <a:solidFill>
                  <a:prstClr val="black"/>
                </a:solidFill>
                <a:latin typeface="Arial" panose="020B0604020202020204" pitchFamily="34" charset="0"/>
                <a:cs typeface="Arial" panose="020B0604020202020204" pitchFamily="34" charset="0"/>
              </a:rPr>
              <a:t>would</a:t>
            </a:r>
            <a:r>
              <a:rPr sz="2800" spc="60" dirty="0">
                <a:solidFill>
                  <a:prstClr val="black"/>
                </a:solidFill>
                <a:latin typeface="Arial" panose="020B0604020202020204" pitchFamily="34" charset="0"/>
                <a:cs typeface="Arial" panose="020B0604020202020204" pitchFamily="34" charset="0"/>
              </a:rPr>
              <a:t> </a:t>
            </a:r>
            <a:r>
              <a:rPr sz="2800" spc="-5" dirty="0">
                <a:solidFill>
                  <a:prstClr val="black"/>
                </a:solidFill>
                <a:latin typeface="Arial" panose="020B0604020202020204" pitchFamily="34" charset="0"/>
                <a:cs typeface="Arial" panose="020B0604020202020204" pitchFamily="34" charset="0"/>
              </a:rPr>
              <a:t>be:</a:t>
            </a:r>
            <a:endParaRPr sz="2800" dirty="0">
              <a:solidFill>
                <a:prstClr val="black"/>
              </a:solidFill>
              <a:latin typeface="Arial" panose="020B0604020202020204" pitchFamily="34" charset="0"/>
              <a:cs typeface="Arial" panose="020B0604020202020204" pitchFamily="34" charset="0"/>
            </a:endParaRPr>
          </a:p>
          <a:p>
            <a:pPr marL="355600" marR="260985" indent="-342900" algn="just">
              <a:spcBef>
                <a:spcPts val="765"/>
              </a:spcBef>
              <a:buFont typeface="Arial"/>
              <a:buChar char="•"/>
              <a:tabLst>
                <a:tab pos="354965" algn="l"/>
                <a:tab pos="355600" algn="l"/>
              </a:tabLst>
            </a:pPr>
            <a:r>
              <a:rPr sz="2800" dirty="0">
                <a:solidFill>
                  <a:prstClr val="black"/>
                </a:solidFill>
                <a:latin typeface="Arial" panose="020B0604020202020204" pitchFamily="34" charset="0"/>
                <a:cs typeface="Arial" panose="020B0604020202020204" pitchFamily="34" charset="0"/>
              </a:rPr>
              <a:t>1 </a:t>
            </a:r>
            <a:r>
              <a:rPr sz="2800" spc="-20" dirty="0">
                <a:solidFill>
                  <a:prstClr val="black"/>
                </a:solidFill>
                <a:latin typeface="Arial" panose="020B0604020202020204" pitchFamily="34" charset="0"/>
                <a:cs typeface="Arial" panose="020B0604020202020204" pitchFamily="34" charset="0"/>
              </a:rPr>
              <a:t>(socket) </a:t>
            </a:r>
            <a:r>
              <a:rPr sz="2800" dirty="0">
                <a:solidFill>
                  <a:prstClr val="black"/>
                </a:solidFill>
                <a:latin typeface="Arial" panose="020B0604020202020204" pitchFamily="34" charset="0"/>
                <a:cs typeface="Arial" panose="020B0604020202020204" pitchFamily="34" charset="0"/>
              </a:rPr>
              <a:t>* 6 </a:t>
            </a:r>
            <a:r>
              <a:rPr sz="2800" spc="-10" dirty="0">
                <a:solidFill>
                  <a:prstClr val="black"/>
                </a:solidFill>
                <a:latin typeface="Arial" panose="020B0604020202020204" pitchFamily="34" charset="0"/>
                <a:cs typeface="Arial" panose="020B0604020202020204" pitchFamily="34" charset="0"/>
              </a:rPr>
              <a:t>(cores) </a:t>
            </a:r>
            <a:r>
              <a:rPr sz="2800" dirty="0">
                <a:solidFill>
                  <a:prstClr val="black"/>
                </a:solidFill>
                <a:latin typeface="Arial" panose="020B0604020202020204" pitchFamily="34" charset="0"/>
                <a:cs typeface="Arial" panose="020B0604020202020204" pitchFamily="34" charset="0"/>
              </a:rPr>
              <a:t>* 3,460,000,000 </a:t>
            </a:r>
            <a:r>
              <a:rPr sz="2800" spc="-5" dirty="0">
                <a:solidFill>
                  <a:prstClr val="black"/>
                </a:solidFill>
                <a:latin typeface="Arial" panose="020B0604020202020204" pitchFamily="34" charset="0"/>
                <a:cs typeface="Arial" panose="020B0604020202020204" pitchFamily="34" charset="0"/>
              </a:rPr>
              <a:t>(cycles  per second) </a:t>
            </a:r>
            <a:r>
              <a:rPr sz="2800" dirty="0">
                <a:solidFill>
                  <a:prstClr val="black"/>
                </a:solidFill>
                <a:latin typeface="Arial" panose="020B0604020202020204" pitchFamily="34" charset="0"/>
                <a:cs typeface="Arial" panose="020B0604020202020204" pitchFamily="34" charset="0"/>
              </a:rPr>
              <a:t>* 8 </a:t>
            </a:r>
            <a:r>
              <a:rPr sz="2800" spc="-5" dirty="0">
                <a:solidFill>
                  <a:prstClr val="black"/>
                </a:solidFill>
                <a:latin typeface="Arial" panose="020B0604020202020204" pitchFamily="34" charset="0"/>
                <a:cs typeface="Arial" panose="020B0604020202020204" pitchFamily="34" charset="0"/>
              </a:rPr>
              <a:t>(single-precision </a:t>
            </a:r>
            <a:r>
              <a:rPr sz="2800" spc="-25" dirty="0">
                <a:solidFill>
                  <a:prstClr val="black"/>
                </a:solidFill>
                <a:latin typeface="Arial" panose="020B0604020202020204" pitchFamily="34" charset="0"/>
                <a:cs typeface="Arial" panose="020B0604020202020204" pitchFamily="34" charset="0"/>
              </a:rPr>
              <a:t>FLOPs </a:t>
            </a:r>
            <a:r>
              <a:rPr sz="2800" spc="-5" dirty="0">
                <a:solidFill>
                  <a:prstClr val="black"/>
                </a:solidFill>
                <a:latin typeface="Arial" panose="020B0604020202020204" pitchFamily="34" charset="0"/>
                <a:cs typeface="Arial" panose="020B0604020202020204" pitchFamily="34" charset="0"/>
              </a:rPr>
              <a:t>per  second) </a:t>
            </a:r>
            <a:r>
              <a:rPr sz="2800" dirty="0">
                <a:solidFill>
                  <a:prstClr val="black"/>
                </a:solidFill>
                <a:latin typeface="Arial" panose="020B0604020202020204" pitchFamily="34" charset="0"/>
                <a:cs typeface="Arial" panose="020B0604020202020204" pitchFamily="34" charset="0"/>
              </a:rPr>
              <a:t>= 166,080,000,000 </a:t>
            </a:r>
            <a:r>
              <a:rPr sz="2800" spc="-10" dirty="0">
                <a:solidFill>
                  <a:prstClr val="black"/>
                </a:solidFill>
                <a:latin typeface="Arial" panose="020B0604020202020204" pitchFamily="34" charset="0"/>
                <a:cs typeface="Arial" panose="020B0604020202020204" pitchFamily="34" charset="0"/>
              </a:rPr>
              <a:t>single-precision  </a:t>
            </a:r>
            <a:r>
              <a:rPr sz="2800" spc="-25" dirty="0">
                <a:solidFill>
                  <a:prstClr val="black"/>
                </a:solidFill>
                <a:latin typeface="Arial" panose="020B0604020202020204" pitchFamily="34" charset="0"/>
                <a:cs typeface="Arial" panose="020B0604020202020204" pitchFamily="34" charset="0"/>
              </a:rPr>
              <a:t>FLOPs </a:t>
            </a:r>
            <a:r>
              <a:rPr sz="2800" dirty="0">
                <a:solidFill>
                  <a:prstClr val="black"/>
                </a:solidFill>
                <a:latin typeface="Arial" panose="020B0604020202020204" pitchFamily="34" charset="0"/>
                <a:cs typeface="Arial" panose="020B0604020202020204" pitchFamily="34" charset="0"/>
              </a:rPr>
              <a:t>per </a:t>
            </a:r>
            <a:r>
              <a:rPr sz="2800" spc="-10" dirty="0">
                <a:solidFill>
                  <a:prstClr val="black"/>
                </a:solidFill>
                <a:latin typeface="Arial" panose="020B0604020202020204" pitchFamily="34" charset="0"/>
                <a:cs typeface="Arial" panose="020B0604020202020204" pitchFamily="34" charset="0"/>
              </a:rPr>
              <a:t>second </a:t>
            </a:r>
            <a:r>
              <a:rPr sz="2800" dirty="0">
                <a:solidFill>
                  <a:prstClr val="black"/>
                </a:solidFill>
                <a:latin typeface="Arial" panose="020B0604020202020204" pitchFamily="34" charset="0"/>
                <a:cs typeface="Arial" panose="020B0604020202020204" pitchFamily="34" charset="0"/>
              </a:rPr>
              <a:t>or 83,040,000,000 </a:t>
            </a:r>
            <a:r>
              <a:rPr sz="2800" spc="-15" dirty="0">
                <a:solidFill>
                  <a:prstClr val="black"/>
                </a:solidFill>
                <a:latin typeface="Arial" panose="020B0604020202020204" pitchFamily="34" charset="0"/>
                <a:cs typeface="Arial" panose="020B0604020202020204" pitchFamily="34" charset="0"/>
              </a:rPr>
              <a:t>double-  </a:t>
            </a:r>
            <a:r>
              <a:rPr sz="2800" spc="-5" dirty="0">
                <a:solidFill>
                  <a:prstClr val="black"/>
                </a:solidFill>
                <a:latin typeface="Arial" panose="020B0604020202020204" pitchFamily="34" charset="0"/>
                <a:cs typeface="Arial" panose="020B0604020202020204" pitchFamily="34" charset="0"/>
              </a:rPr>
              <a:t>precision </a:t>
            </a:r>
            <a:r>
              <a:rPr sz="2800" spc="-25" dirty="0">
                <a:solidFill>
                  <a:prstClr val="black"/>
                </a:solidFill>
                <a:latin typeface="Arial" panose="020B0604020202020204" pitchFamily="34" charset="0"/>
                <a:cs typeface="Arial" panose="020B0604020202020204" pitchFamily="34" charset="0"/>
              </a:rPr>
              <a:t>FLOPs </a:t>
            </a:r>
            <a:r>
              <a:rPr sz="2800" spc="-5" dirty="0">
                <a:solidFill>
                  <a:prstClr val="black"/>
                </a:solidFill>
                <a:latin typeface="Arial" panose="020B0604020202020204" pitchFamily="34" charset="0"/>
                <a:cs typeface="Arial" panose="020B0604020202020204" pitchFamily="34" charset="0"/>
              </a:rPr>
              <a:t>per</a:t>
            </a:r>
            <a:r>
              <a:rPr sz="2800" spc="20" dirty="0">
                <a:solidFill>
                  <a:prstClr val="black"/>
                </a:solidFill>
                <a:latin typeface="Arial" panose="020B0604020202020204" pitchFamily="34" charset="0"/>
                <a:cs typeface="Arial" panose="020B0604020202020204" pitchFamily="34" charset="0"/>
              </a:rPr>
              <a:t> </a:t>
            </a:r>
            <a:r>
              <a:rPr sz="2800" spc="-5" dirty="0">
                <a:solidFill>
                  <a:prstClr val="black"/>
                </a:solidFill>
                <a:latin typeface="Arial" panose="020B0604020202020204" pitchFamily="34" charset="0"/>
                <a:cs typeface="Arial" panose="020B0604020202020204" pitchFamily="34" charset="0"/>
              </a:rPr>
              <a:t>second.</a:t>
            </a:r>
            <a:endParaRPr sz="2800" dirty="0">
              <a:solidFill>
                <a:prstClr val="black"/>
              </a:solidFill>
              <a:latin typeface="Arial" panose="020B0604020202020204" pitchFamily="34" charset="0"/>
              <a:cs typeface="Arial" panose="020B0604020202020204" pitchFamily="34" charset="0"/>
            </a:endParaRPr>
          </a:p>
          <a:p>
            <a:pPr marL="355600" indent="-342900" algn="just">
              <a:spcBef>
                <a:spcPts val="775"/>
              </a:spcBef>
              <a:buFont typeface="Arial"/>
              <a:buChar char="•"/>
              <a:tabLst>
                <a:tab pos="354965" algn="l"/>
                <a:tab pos="355600" algn="l"/>
              </a:tabLst>
            </a:pPr>
            <a:r>
              <a:rPr sz="2800" dirty="0">
                <a:solidFill>
                  <a:prstClr val="black"/>
                </a:solidFill>
                <a:latin typeface="Arial" panose="020B0604020202020204" pitchFamily="34" charset="0"/>
                <a:cs typeface="Arial" panose="020B0604020202020204" pitchFamily="34" charset="0"/>
              </a:rPr>
              <a:t>109</a:t>
            </a:r>
            <a:r>
              <a:rPr sz="2800" spc="5" dirty="0">
                <a:solidFill>
                  <a:prstClr val="black"/>
                </a:solidFill>
                <a:latin typeface="Arial" panose="020B0604020202020204" pitchFamily="34" charset="0"/>
                <a:cs typeface="Arial" panose="020B0604020202020204" pitchFamily="34" charset="0"/>
              </a:rPr>
              <a:t> </a:t>
            </a:r>
            <a:r>
              <a:rPr sz="2800" spc="-10" dirty="0">
                <a:solidFill>
                  <a:prstClr val="black"/>
                </a:solidFill>
                <a:latin typeface="Arial" panose="020B0604020202020204" pitchFamily="34" charset="0"/>
                <a:cs typeface="Arial" panose="020B0604020202020204" pitchFamily="34" charset="0"/>
              </a:rPr>
              <a:t>GFLOPS.</a:t>
            </a:r>
            <a:endParaRPr sz="2800" dirty="0">
              <a:solidFill>
                <a:prstClr val="black"/>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64460" y="461903"/>
            <a:ext cx="4813300" cy="696595"/>
          </a:xfrm>
          <a:prstGeom prst="rect">
            <a:avLst/>
          </a:prstGeom>
        </p:spPr>
        <p:txBody>
          <a:bodyPr vert="horz" wrap="square" lIns="0" tIns="13335" rIns="0" bIns="0" rtlCol="0">
            <a:spAutoFit/>
          </a:bodyPr>
          <a:lstStyle/>
          <a:p>
            <a:pPr marL="12700">
              <a:spcBef>
                <a:spcPts val="105"/>
              </a:spcBef>
            </a:pPr>
            <a:r>
              <a:rPr dirty="0"/>
              <a:t>Speedup</a:t>
            </a:r>
            <a:r>
              <a:rPr spc="-45" dirty="0"/>
              <a:t> </a:t>
            </a:r>
            <a:r>
              <a:rPr spc="-10" dirty="0"/>
              <a:t>calculations</a:t>
            </a:r>
          </a:p>
        </p:txBody>
      </p:sp>
      <p:sp>
        <p:nvSpPr>
          <p:cNvPr id="3" name="object 3"/>
          <p:cNvSpPr txBox="1"/>
          <p:nvPr/>
        </p:nvSpPr>
        <p:spPr>
          <a:xfrm>
            <a:off x="535944" y="1509945"/>
            <a:ext cx="6441816" cy="2367915"/>
          </a:xfrm>
          <a:prstGeom prst="rect">
            <a:avLst/>
          </a:prstGeom>
        </p:spPr>
        <p:txBody>
          <a:bodyPr vert="horz" wrap="square" lIns="0" tIns="110489" rIns="0" bIns="0" rtlCol="0">
            <a:spAutoFit/>
          </a:bodyPr>
          <a:lstStyle/>
          <a:p>
            <a:pPr marL="355600" indent="-342900">
              <a:spcBef>
                <a:spcPts val="869"/>
              </a:spcBef>
              <a:buFont typeface="Arial"/>
              <a:buChar char="•"/>
              <a:tabLst>
                <a:tab pos="354965" algn="l"/>
                <a:tab pos="355600" algn="l"/>
              </a:tabLst>
            </a:pPr>
            <a:r>
              <a:rPr sz="3200" spc="-5" dirty="0">
                <a:solidFill>
                  <a:prstClr val="black"/>
                </a:solidFill>
                <a:latin typeface="Calibri"/>
                <a:cs typeface="Calibri"/>
              </a:rPr>
              <a:t>Ratio</a:t>
            </a:r>
            <a:endParaRPr sz="3200" dirty="0">
              <a:solidFill>
                <a:prstClr val="black"/>
              </a:solidFill>
              <a:latin typeface="Calibri"/>
              <a:cs typeface="Calibri"/>
            </a:endParaRPr>
          </a:p>
          <a:p>
            <a:pPr marL="355600" indent="-342900">
              <a:spcBef>
                <a:spcPts val="770"/>
              </a:spcBef>
              <a:buFont typeface="Arial"/>
              <a:buChar char="•"/>
              <a:tabLst>
                <a:tab pos="354965" algn="l"/>
                <a:tab pos="355600" algn="l"/>
              </a:tabLst>
            </a:pPr>
            <a:r>
              <a:rPr sz="3200" spc="-5" dirty="0">
                <a:solidFill>
                  <a:prstClr val="black"/>
                </a:solidFill>
                <a:latin typeface="Calibri"/>
                <a:cs typeface="Calibri"/>
              </a:rPr>
              <a:t>%age</a:t>
            </a:r>
            <a:endParaRPr sz="3200" dirty="0">
              <a:solidFill>
                <a:prstClr val="black"/>
              </a:solidFill>
              <a:latin typeface="Calibri"/>
              <a:cs typeface="Calibri"/>
            </a:endParaRPr>
          </a:p>
          <a:p>
            <a:pPr>
              <a:spcBef>
                <a:spcPts val="5"/>
              </a:spcBef>
              <a:buFont typeface="Arial"/>
              <a:buChar char="•"/>
            </a:pPr>
            <a:endParaRPr sz="4400" dirty="0">
              <a:solidFill>
                <a:prstClr val="black"/>
              </a:solidFill>
              <a:latin typeface="Calibri"/>
              <a:cs typeface="Calibri"/>
            </a:endParaRPr>
          </a:p>
          <a:p>
            <a:pPr marL="355600" indent="-342900">
              <a:buFont typeface="Arial"/>
              <a:buChar char="•"/>
              <a:tabLst>
                <a:tab pos="354965" algn="l"/>
                <a:tab pos="355600" algn="l"/>
              </a:tabLst>
            </a:pPr>
            <a:r>
              <a:rPr sz="3200" dirty="0">
                <a:solidFill>
                  <a:prstClr val="black"/>
                </a:solidFill>
                <a:latin typeface="Calibri"/>
                <a:cs typeface="Calibri"/>
              </a:rPr>
              <a:t>Upper </a:t>
            </a:r>
            <a:r>
              <a:rPr sz="3200" spc="-5" dirty="0">
                <a:solidFill>
                  <a:prstClr val="black"/>
                </a:solidFill>
                <a:latin typeface="Calibri"/>
                <a:cs typeface="Calibri"/>
              </a:rPr>
              <a:t>bounds </a:t>
            </a:r>
            <a:r>
              <a:rPr sz="3200" dirty="0">
                <a:solidFill>
                  <a:prstClr val="black"/>
                </a:solidFill>
                <a:latin typeface="Calibri"/>
                <a:cs typeface="Calibri"/>
              </a:rPr>
              <a:t>on</a:t>
            </a:r>
            <a:r>
              <a:rPr sz="3200" spc="-50" dirty="0">
                <a:solidFill>
                  <a:prstClr val="black"/>
                </a:solidFill>
                <a:latin typeface="Calibri"/>
                <a:cs typeface="Calibri"/>
              </a:rPr>
              <a:t> </a:t>
            </a:r>
            <a:r>
              <a:rPr sz="3200" spc="-5" dirty="0">
                <a:solidFill>
                  <a:prstClr val="black"/>
                </a:solidFill>
                <a:latin typeface="Calibri"/>
                <a:cs typeface="Calibri"/>
              </a:rPr>
              <a:t>speedup</a:t>
            </a:r>
            <a:endParaRPr sz="3200" dirty="0">
              <a:solidFill>
                <a:prstClr val="black"/>
              </a:solidFill>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5240">
              <a:spcBef>
                <a:spcPts val="105"/>
              </a:spcBef>
            </a:pPr>
            <a:r>
              <a:rPr spc="-35" dirty="0"/>
              <a:t>Amdahl’s</a:t>
            </a:r>
            <a:r>
              <a:rPr spc="-70" dirty="0"/>
              <a:t> </a:t>
            </a:r>
            <a:r>
              <a:rPr spc="-10" dirty="0"/>
              <a:t>Law</a:t>
            </a:r>
          </a:p>
        </p:txBody>
      </p:sp>
      <p:sp>
        <p:nvSpPr>
          <p:cNvPr id="3" name="object 3"/>
          <p:cNvSpPr txBox="1"/>
          <p:nvPr/>
        </p:nvSpPr>
        <p:spPr>
          <a:xfrm>
            <a:off x="848736" y="1421011"/>
            <a:ext cx="7838064" cy="2673168"/>
          </a:xfrm>
          <a:prstGeom prst="rect">
            <a:avLst/>
          </a:prstGeom>
        </p:spPr>
        <p:txBody>
          <a:bodyPr vert="horz" wrap="square" lIns="0" tIns="13335" rIns="0" bIns="0" rtlCol="0">
            <a:spAutoFit/>
          </a:bodyPr>
          <a:lstStyle/>
          <a:p>
            <a:pPr marL="355600" indent="-342900">
              <a:spcBef>
                <a:spcPts val="105"/>
              </a:spcBef>
              <a:buFont typeface="Arial"/>
              <a:buChar char="•"/>
              <a:tabLst>
                <a:tab pos="354965" algn="l"/>
                <a:tab pos="355600" algn="l"/>
              </a:tabLst>
            </a:pPr>
            <a:r>
              <a:rPr sz="3200" spc="-10" dirty="0">
                <a:solidFill>
                  <a:prstClr val="black"/>
                </a:solidFill>
                <a:latin typeface="Arial" panose="020B0604020202020204" pitchFamily="34" charset="0"/>
                <a:cs typeface="Arial" panose="020B0604020202020204" pitchFamily="34" charset="0"/>
              </a:rPr>
              <a:t>Theoretical </a:t>
            </a:r>
            <a:r>
              <a:rPr sz="3200" spc="-5" dirty="0">
                <a:solidFill>
                  <a:prstClr val="black"/>
                </a:solidFill>
                <a:latin typeface="Arial" panose="020B0604020202020204" pitchFamily="34" charset="0"/>
                <a:cs typeface="Arial" panose="020B0604020202020204" pitchFamily="34" charset="0"/>
              </a:rPr>
              <a:t>speedup</a:t>
            </a:r>
            <a:r>
              <a:rPr sz="3200" spc="20" dirty="0">
                <a:solidFill>
                  <a:prstClr val="black"/>
                </a:solidFill>
                <a:latin typeface="Arial" panose="020B0604020202020204" pitchFamily="34" charset="0"/>
                <a:cs typeface="Arial" panose="020B0604020202020204" pitchFamily="34" charset="0"/>
              </a:rPr>
              <a:t> </a:t>
            </a:r>
            <a:r>
              <a:rPr sz="3200" spc="-5" dirty="0">
                <a:solidFill>
                  <a:prstClr val="black"/>
                </a:solidFill>
                <a:latin typeface="Arial" panose="020B0604020202020204" pitchFamily="34" charset="0"/>
                <a:cs typeface="Arial" panose="020B0604020202020204" pitchFamily="34" charset="0"/>
              </a:rPr>
              <a:t>calculations</a:t>
            </a:r>
            <a:endParaRPr lang="en-US" sz="3200" spc="-5" dirty="0">
              <a:solidFill>
                <a:prstClr val="black"/>
              </a:solidFill>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where</a:t>
            </a:r>
          </a:p>
          <a:p>
            <a:r>
              <a:rPr lang="en-US" i="1" dirty="0" err="1">
                <a:latin typeface="Arial" panose="020B0604020202020204" pitchFamily="34" charset="0"/>
                <a:cs typeface="Arial" panose="020B0604020202020204" pitchFamily="34" charset="0"/>
              </a:rPr>
              <a:t>S</a:t>
            </a:r>
            <a:r>
              <a:rPr lang="en-US" baseline="-25000" dirty="0" err="1">
                <a:latin typeface="Arial" panose="020B0604020202020204" pitchFamily="34" charset="0"/>
                <a:cs typeface="Arial" panose="020B0604020202020204" pitchFamily="34" charset="0"/>
              </a:rPr>
              <a:t>latency</a:t>
            </a:r>
            <a:r>
              <a:rPr lang="en-US" dirty="0">
                <a:latin typeface="Arial" panose="020B0604020202020204" pitchFamily="34" charset="0"/>
                <a:cs typeface="Arial" panose="020B0604020202020204" pitchFamily="34" charset="0"/>
              </a:rPr>
              <a:t> is the theoretical speedup of the execution of the whole task;</a:t>
            </a:r>
          </a:p>
          <a:p>
            <a:r>
              <a:rPr lang="en-US" i="1"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is the speedup of the part of the task that benefits from improved system resources;</a:t>
            </a:r>
          </a:p>
          <a:p>
            <a:r>
              <a:rPr lang="en-US" i="1" dirty="0">
                <a:latin typeface="Arial" panose="020B0604020202020204" pitchFamily="34" charset="0"/>
                <a:cs typeface="Arial" panose="020B0604020202020204" pitchFamily="34" charset="0"/>
              </a:rPr>
              <a:t>p</a:t>
            </a:r>
            <a:r>
              <a:rPr lang="en-US" dirty="0">
                <a:latin typeface="Arial" panose="020B0604020202020204" pitchFamily="34" charset="0"/>
                <a:cs typeface="Arial" panose="020B0604020202020204" pitchFamily="34" charset="0"/>
              </a:rPr>
              <a:t> is the proportion of execution time that the part benefiting from improved resources originally occupied.</a:t>
            </a:r>
          </a:p>
          <a:p>
            <a:pPr marL="355600" indent="-342900">
              <a:spcBef>
                <a:spcPts val="105"/>
              </a:spcBef>
              <a:buFont typeface="Arial"/>
              <a:buChar char="•"/>
              <a:tabLst>
                <a:tab pos="354965" algn="l"/>
                <a:tab pos="355600" algn="l"/>
              </a:tabLst>
            </a:pPr>
            <a:endParaRPr sz="3200" dirty="0">
              <a:solidFill>
                <a:prstClr val="black"/>
              </a:solidFill>
              <a:latin typeface="Calibri"/>
              <a:cs typeface="Calibri"/>
            </a:endParaRPr>
          </a:p>
        </p:txBody>
      </p:sp>
      <p:pic>
        <p:nvPicPr>
          <p:cNvPr id="4" name="object 4"/>
          <p:cNvPicPr/>
          <p:nvPr/>
        </p:nvPicPr>
        <p:blipFill>
          <a:blip r:embed="rId2" cstate="print"/>
          <a:stretch>
            <a:fillRect/>
          </a:stretch>
        </p:blipFill>
        <p:spPr>
          <a:xfrm>
            <a:off x="1459398" y="3829715"/>
            <a:ext cx="1351947" cy="514644"/>
          </a:xfrm>
          <a:prstGeom prst="rect">
            <a:avLst/>
          </a:prstGeom>
        </p:spPr>
      </p:pic>
      <p:pic>
        <p:nvPicPr>
          <p:cNvPr id="5" name="object 5"/>
          <p:cNvPicPr/>
          <p:nvPr/>
        </p:nvPicPr>
        <p:blipFill>
          <a:blip r:embed="rId3" cstate="print"/>
          <a:stretch>
            <a:fillRect/>
          </a:stretch>
        </p:blipFill>
        <p:spPr>
          <a:xfrm>
            <a:off x="2875265" y="3813339"/>
            <a:ext cx="536920" cy="507872"/>
          </a:xfrm>
          <a:prstGeom prst="rect">
            <a:avLst/>
          </a:prstGeom>
        </p:spPr>
      </p:pic>
      <p:sp>
        <p:nvSpPr>
          <p:cNvPr id="6" name="object 6"/>
          <p:cNvSpPr/>
          <p:nvPr/>
        </p:nvSpPr>
        <p:spPr>
          <a:xfrm>
            <a:off x="3575939" y="3996092"/>
            <a:ext cx="363220" cy="144780"/>
          </a:xfrm>
          <a:custGeom>
            <a:avLst/>
            <a:gdLst/>
            <a:ahLst/>
            <a:cxnLst/>
            <a:rect l="l" t="t" r="r" b="b"/>
            <a:pathLst>
              <a:path w="363220" h="144779">
                <a:moveTo>
                  <a:pt x="361848" y="115595"/>
                </a:moveTo>
                <a:lnTo>
                  <a:pt x="356743" y="110502"/>
                </a:lnTo>
                <a:lnTo>
                  <a:pt x="352475" y="106248"/>
                </a:lnTo>
                <a:lnTo>
                  <a:pt x="337566" y="91376"/>
                </a:lnTo>
                <a:lnTo>
                  <a:pt x="23012" y="91376"/>
                </a:lnTo>
                <a:lnTo>
                  <a:pt x="88" y="114236"/>
                </a:lnTo>
                <a:lnTo>
                  <a:pt x="18300" y="144500"/>
                </a:lnTo>
                <a:lnTo>
                  <a:pt x="338670" y="144500"/>
                </a:lnTo>
                <a:lnTo>
                  <a:pt x="351193" y="128892"/>
                </a:lnTo>
                <a:lnTo>
                  <a:pt x="354012" y="125374"/>
                </a:lnTo>
                <a:lnTo>
                  <a:pt x="331724" y="125374"/>
                </a:lnTo>
                <a:lnTo>
                  <a:pt x="334746" y="123964"/>
                </a:lnTo>
                <a:lnTo>
                  <a:pt x="334860" y="123799"/>
                </a:lnTo>
                <a:lnTo>
                  <a:pt x="355282" y="123799"/>
                </a:lnTo>
                <a:lnTo>
                  <a:pt x="361848" y="115595"/>
                </a:lnTo>
                <a:close/>
              </a:path>
              <a:path w="363220" h="144779">
                <a:moveTo>
                  <a:pt x="363105" y="25501"/>
                </a:moveTo>
                <a:lnTo>
                  <a:pt x="354596" y="17005"/>
                </a:lnTo>
                <a:lnTo>
                  <a:pt x="351066" y="13487"/>
                </a:lnTo>
                <a:lnTo>
                  <a:pt x="337566" y="0"/>
                </a:lnTo>
                <a:lnTo>
                  <a:pt x="35204" y="0"/>
                </a:lnTo>
                <a:lnTo>
                  <a:pt x="35204" y="35699"/>
                </a:lnTo>
                <a:lnTo>
                  <a:pt x="35166" y="34404"/>
                </a:lnTo>
                <a:lnTo>
                  <a:pt x="35204" y="35699"/>
                </a:lnTo>
                <a:lnTo>
                  <a:pt x="35204" y="0"/>
                </a:lnTo>
                <a:lnTo>
                  <a:pt x="19431" y="0"/>
                </a:lnTo>
                <a:lnTo>
                  <a:pt x="0" y="25844"/>
                </a:lnTo>
                <a:lnTo>
                  <a:pt x="21907" y="53124"/>
                </a:lnTo>
                <a:lnTo>
                  <a:pt x="181470" y="53124"/>
                </a:lnTo>
                <a:lnTo>
                  <a:pt x="337654" y="50888"/>
                </a:lnTo>
                <a:lnTo>
                  <a:pt x="351053" y="37515"/>
                </a:lnTo>
                <a:lnTo>
                  <a:pt x="354584" y="33997"/>
                </a:lnTo>
                <a:lnTo>
                  <a:pt x="363105" y="25501"/>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7" name="object 7"/>
          <p:cNvSpPr/>
          <p:nvPr/>
        </p:nvSpPr>
        <p:spPr>
          <a:xfrm>
            <a:off x="4128897" y="4052733"/>
            <a:ext cx="2402205" cy="28575"/>
          </a:xfrm>
          <a:custGeom>
            <a:avLst/>
            <a:gdLst/>
            <a:ahLst/>
            <a:cxnLst/>
            <a:rect l="l" t="t" r="r" b="b"/>
            <a:pathLst>
              <a:path w="2402204" h="28575">
                <a:moveTo>
                  <a:pt x="2402192" y="0"/>
                </a:moveTo>
                <a:lnTo>
                  <a:pt x="0" y="0"/>
                </a:lnTo>
                <a:lnTo>
                  <a:pt x="0" y="28387"/>
                </a:lnTo>
                <a:lnTo>
                  <a:pt x="2402192" y="28387"/>
                </a:lnTo>
                <a:lnTo>
                  <a:pt x="2402192" y="0"/>
                </a:lnTo>
                <a:close/>
              </a:path>
            </a:pathLst>
          </a:custGeom>
          <a:solidFill>
            <a:srgbClr val="000000"/>
          </a:solidFill>
        </p:spPr>
        <p:txBody>
          <a:bodyPr wrap="square" lIns="0" tIns="0" rIns="0" bIns="0" rtlCol="0"/>
          <a:lstStyle/>
          <a:p>
            <a:endParaRPr>
              <a:solidFill>
                <a:prstClr val="black"/>
              </a:solidFill>
              <a:latin typeface="Calibri"/>
            </a:endParaRPr>
          </a:p>
        </p:txBody>
      </p:sp>
      <p:pic>
        <p:nvPicPr>
          <p:cNvPr id="8" name="object 8"/>
          <p:cNvPicPr/>
          <p:nvPr/>
        </p:nvPicPr>
        <p:blipFill>
          <a:blip r:embed="rId4" cstate="print"/>
          <a:stretch>
            <a:fillRect/>
          </a:stretch>
        </p:blipFill>
        <p:spPr>
          <a:xfrm>
            <a:off x="5233622" y="3534965"/>
            <a:ext cx="198281" cy="348498"/>
          </a:xfrm>
          <a:prstGeom prst="rect">
            <a:avLst/>
          </a:prstGeom>
        </p:spPr>
      </p:pic>
      <p:pic>
        <p:nvPicPr>
          <p:cNvPr id="9" name="object 9"/>
          <p:cNvPicPr/>
          <p:nvPr/>
        </p:nvPicPr>
        <p:blipFill>
          <a:blip r:embed="rId5" cstate="print"/>
          <a:stretch>
            <a:fillRect/>
          </a:stretch>
        </p:blipFill>
        <p:spPr>
          <a:xfrm>
            <a:off x="4185548" y="4246837"/>
            <a:ext cx="377097" cy="507866"/>
          </a:xfrm>
          <a:prstGeom prst="rect">
            <a:avLst/>
          </a:prstGeom>
        </p:spPr>
      </p:pic>
      <p:sp>
        <p:nvSpPr>
          <p:cNvPr id="10" name="object 10"/>
          <p:cNvSpPr/>
          <p:nvPr/>
        </p:nvSpPr>
        <p:spPr>
          <a:xfrm>
            <a:off x="4709507" y="4450845"/>
            <a:ext cx="325755" cy="76835"/>
          </a:xfrm>
          <a:custGeom>
            <a:avLst/>
            <a:gdLst/>
            <a:ahLst/>
            <a:cxnLst/>
            <a:rect l="l" t="t" r="r" b="b"/>
            <a:pathLst>
              <a:path w="325754" h="76835">
                <a:moveTo>
                  <a:pt x="325259" y="52044"/>
                </a:moveTo>
                <a:lnTo>
                  <a:pt x="319493" y="42506"/>
                </a:lnTo>
                <a:lnTo>
                  <a:pt x="318465" y="40805"/>
                </a:lnTo>
                <a:lnTo>
                  <a:pt x="307936" y="23380"/>
                </a:lnTo>
                <a:lnTo>
                  <a:pt x="17640" y="23380"/>
                </a:lnTo>
                <a:lnTo>
                  <a:pt x="0" y="0"/>
                </a:lnTo>
                <a:lnTo>
                  <a:pt x="0" y="46291"/>
                </a:lnTo>
                <a:lnTo>
                  <a:pt x="0" y="57378"/>
                </a:lnTo>
                <a:lnTo>
                  <a:pt x="14897" y="57378"/>
                </a:lnTo>
                <a:lnTo>
                  <a:pt x="3403" y="61201"/>
                </a:lnTo>
                <a:lnTo>
                  <a:pt x="15049" y="76504"/>
                </a:lnTo>
                <a:lnTo>
                  <a:pt x="306793" y="76504"/>
                </a:lnTo>
                <a:lnTo>
                  <a:pt x="319455" y="59728"/>
                </a:lnTo>
                <a:lnTo>
                  <a:pt x="321233" y="57378"/>
                </a:lnTo>
                <a:lnTo>
                  <a:pt x="325259" y="52044"/>
                </a:lnTo>
                <a:close/>
              </a:path>
            </a:pathLst>
          </a:custGeom>
          <a:solidFill>
            <a:srgbClr val="000000"/>
          </a:solidFill>
        </p:spPr>
        <p:txBody>
          <a:bodyPr wrap="square" lIns="0" tIns="0" rIns="0" bIns="0" rtlCol="0"/>
          <a:lstStyle/>
          <a:p>
            <a:endParaRPr>
              <a:solidFill>
                <a:prstClr val="black"/>
              </a:solidFill>
              <a:latin typeface="Calibri"/>
            </a:endParaRPr>
          </a:p>
        </p:txBody>
      </p:sp>
      <p:pic>
        <p:nvPicPr>
          <p:cNvPr id="11" name="object 11"/>
          <p:cNvPicPr/>
          <p:nvPr/>
        </p:nvPicPr>
        <p:blipFill>
          <a:blip r:embed="rId6" cstate="print"/>
          <a:stretch>
            <a:fillRect/>
          </a:stretch>
        </p:blipFill>
        <p:spPr>
          <a:xfrm>
            <a:off x="5124001" y="4246837"/>
            <a:ext cx="431400" cy="507866"/>
          </a:xfrm>
          <a:prstGeom prst="rect">
            <a:avLst/>
          </a:prstGeom>
        </p:spPr>
      </p:pic>
      <p:sp>
        <p:nvSpPr>
          <p:cNvPr id="12" name="object 12"/>
          <p:cNvSpPr/>
          <p:nvPr/>
        </p:nvSpPr>
        <p:spPr>
          <a:xfrm>
            <a:off x="5698075" y="4325242"/>
            <a:ext cx="357505" cy="351155"/>
          </a:xfrm>
          <a:custGeom>
            <a:avLst/>
            <a:gdLst/>
            <a:ahLst/>
            <a:cxnLst/>
            <a:rect l="l" t="t" r="r" b="b"/>
            <a:pathLst>
              <a:path w="357504" h="351154">
                <a:moveTo>
                  <a:pt x="357365" y="177850"/>
                </a:moveTo>
                <a:lnTo>
                  <a:pt x="349592" y="168109"/>
                </a:lnTo>
                <a:lnTo>
                  <a:pt x="346786" y="164592"/>
                </a:lnTo>
                <a:lnTo>
                  <a:pt x="334352" y="148983"/>
                </a:lnTo>
                <a:lnTo>
                  <a:pt x="202539" y="148983"/>
                </a:lnTo>
                <a:lnTo>
                  <a:pt x="202539" y="23609"/>
                </a:lnTo>
                <a:lnTo>
                  <a:pt x="202539" y="17233"/>
                </a:lnTo>
                <a:lnTo>
                  <a:pt x="179527" y="0"/>
                </a:lnTo>
                <a:lnTo>
                  <a:pt x="149136" y="12103"/>
                </a:lnTo>
                <a:lnTo>
                  <a:pt x="149136" y="148983"/>
                </a:lnTo>
                <a:lnTo>
                  <a:pt x="17614" y="148983"/>
                </a:lnTo>
                <a:lnTo>
                  <a:pt x="15773" y="151231"/>
                </a:lnTo>
                <a:lnTo>
                  <a:pt x="0" y="135547"/>
                </a:lnTo>
                <a:lnTo>
                  <a:pt x="0" y="170624"/>
                </a:lnTo>
                <a:lnTo>
                  <a:pt x="0" y="182981"/>
                </a:lnTo>
                <a:lnTo>
                  <a:pt x="18707" y="182981"/>
                </a:lnTo>
                <a:lnTo>
                  <a:pt x="5105" y="188620"/>
                </a:lnTo>
                <a:lnTo>
                  <a:pt x="18745" y="202107"/>
                </a:lnTo>
                <a:lnTo>
                  <a:pt x="149136" y="202107"/>
                </a:lnTo>
                <a:lnTo>
                  <a:pt x="149136" y="335978"/>
                </a:lnTo>
                <a:lnTo>
                  <a:pt x="169024" y="350850"/>
                </a:lnTo>
                <a:lnTo>
                  <a:pt x="182651" y="350850"/>
                </a:lnTo>
                <a:lnTo>
                  <a:pt x="202539" y="335978"/>
                </a:lnTo>
                <a:lnTo>
                  <a:pt x="202539" y="327469"/>
                </a:lnTo>
                <a:lnTo>
                  <a:pt x="202539" y="320243"/>
                </a:lnTo>
                <a:lnTo>
                  <a:pt x="202539" y="202107"/>
                </a:lnTo>
                <a:lnTo>
                  <a:pt x="333209" y="202107"/>
                </a:lnTo>
                <a:lnTo>
                  <a:pt x="348018" y="187223"/>
                </a:lnTo>
                <a:lnTo>
                  <a:pt x="352259" y="182981"/>
                </a:lnTo>
                <a:lnTo>
                  <a:pt x="357365" y="177850"/>
                </a:lnTo>
                <a:close/>
              </a:path>
            </a:pathLst>
          </a:custGeom>
          <a:solidFill>
            <a:srgbClr val="000000"/>
          </a:solidFill>
        </p:spPr>
        <p:txBody>
          <a:bodyPr wrap="square" lIns="0" tIns="0" rIns="0" bIns="0" rtlCol="0"/>
          <a:lstStyle/>
          <a:p>
            <a:endParaRPr>
              <a:solidFill>
                <a:prstClr val="black"/>
              </a:solidFill>
              <a:latin typeface="Calibri"/>
            </a:endParaRPr>
          </a:p>
        </p:txBody>
      </p:sp>
      <p:pic>
        <p:nvPicPr>
          <p:cNvPr id="13" name="object 13"/>
          <p:cNvPicPr/>
          <p:nvPr/>
        </p:nvPicPr>
        <p:blipFill>
          <a:blip r:embed="rId7" cstate="print"/>
          <a:stretch>
            <a:fillRect/>
          </a:stretch>
        </p:blipFill>
        <p:spPr>
          <a:xfrm>
            <a:off x="6214232" y="4176943"/>
            <a:ext cx="231478" cy="337561"/>
          </a:xfrm>
          <a:prstGeom prst="rect">
            <a:avLst/>
          </a:prstGeom>
        </p:spPr>
      </p:pic>
      <p:pic>
        <p:nvPicPr>
          <p:cNvPr id="14" name="object 14"/>
          <p:cNvPicPr/>
          <p:nvPr/>
        </p:nvPicPr>
        <p:blipFill>
          <a:blip r:embed="rId8" cstate="print"/>
          <a:stretch>
            <a:fillRect/>
          </a:stretch>
        </p:blipFill>
        <p:spPr>
          <a:xfrm>
            <a:off x="6255143" y="4618113"/>
            <a:ext cx="157659" cy="1859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a:lstStyle/>
          <a:p>
            <a:r>
              <a:rPr lang="en-US" dirty="0"/>
              <a:t>Example 1</a:t>
            </a:r>
          </a:p>
        </p:txBody>
      </p:sp>
      <p:sp>
        <p:nvSpPr>
          <p:cNvPr id="3" name="object 3"/>
          <p:cNvSpPr txBox="1"/>
          <p:nvPr/>
        </p:nvSpPr>
        <p:spPr>
          <a:xfrm>
            <a:off x="535940" y="1607265"/>
            <a:ext cx="8056880" cy="3891450"/>
          </a:xfrm>
          <a:prstGeom prst="rect">
            <a:avLst/>
          </a:prstGeom>
        </p:spPr>
        <p:txBody>
          <a:bodyPr vert="horz" wrap="square" lIns="0" tIns="13335" rIns="0" bIns="0" rtlCol="0">
            <a:spAutoFit/>
          </a:bodyPr>
          <a:lstStyle/>
          <a:p>
            <a:pPr marL="355600" marR="5080" indent="-342900" algn="just">
              <a:spcBef>
                <a:spcPts val="105"/>
              </a:spcBef>
              <a:buFont typeface="Arial"/>
              <a:buChar char="•"/>
              <a:tabLst>
                <a:tab pos="354965" algn="l"/>
                <a:tab pos="355600" algn="l"/>
              </a:tabLst>
            </a:pPr>
            <a:r>
              <a:rPr sz="3600" dirty="0">
                <a:solidFill>
                  <a:prstClr val="black"/>
                </a:solidFill>
                <a:latin typeface="Arial" panose="020B0604020202020204" pitchFamily="34" charset="0"/>
                <a:cs typeface="Arial" panose="020B0604020202020204" pitchFamily="34" charset="0"/>
              </a:rPr>
              <a:t>If 30% of the </a:t>
            </a:r>
            <a:r>
              <a:rPr sz="3600" spc="-15" dirty="0">
                <a:solidFill>
                  <a:prstClr val="black"/>
                </a:solidFill>
                <a:latin typeface="Arial" panose="020B0604020202020204" pitchFamily="34" charset="0"/>
                <a:cs typeface="Arial" panose="020B0604020202020204" pitchFamily="34" charset="0"/>
              </a:rPr>
              <a:t>execution </a:t>
            </a:r>
            <a:r>
              <a:rPr sz="3600" spc="-5" dirty="0">
                <a:solidFill>
                  <a:prstClr val="black"/>
                </a:solidFill>
                <a:latin typeface="Arial" panose="020B0604020202020204" pitchFamily="34" charset="0"/>
                <a:cs typeface="Arial" panose="020B0604020202020204" pitchFamily="34" charset="0"/>
              </a:rPr>
              <a:t>time </a:t>
            </a:r>
            <a:r>
              <a:rPr sz="3600" spc="-20" dirty="0">
                <a:solidFill>
                  <a:prstClr val="black"/>
                </a:solidFill>
                <a:latin typeface="Arial" panose="020B0604020202020204" pitchFamily="34" charset="0"/>
                <a:cs typeface="Arial" panose="020B0604020202020204" pitchFamily="34" charset="0"/>
              </a:rPr>
              <a:t>may </a:t>
            </a:r>
            <a:r>
              <a:rPr sz="3600" dirty="0">
                <a:solidFill>
                  <a:prstClr val="black"/>
                </a:solidFill>
                <a:latin typeface="Arial" panose="020B0604020202020204" pitchFamily="34" charset="0"/>
                <a:cs typeface="Arial" panose="020B0604020202020204" pitchFamily="34" charset="0"/>
              </a:rPr>
              <a:t>be the  </a:t>
            </a:r>
            <a:r>
              <a:rPr sz="3600" spc="-5" dirty="0">
                <a:solidFill>
                  <a:prstClr val="black"/>
                </a:solidFill>
                <a:latin typeface="Arial" panose="020B0604020202020204" pitchFamily="34" charset="0"/>
                <a:cs typeface="Arial" panose="020B0604020202020204" pitchFamily="34" charset="0"/>
              </a:rPr>
              <a:t>subject of </a:t>
            </a:r>
            <a:r>
              <a:rPr sz="3600" dirty="0">
                <a:solidFill>
                  <a:prstClr val="black"/>
                </a:solidFill>
                <a:latin typeface="Arial" panose="020B0604020202020204" pitchFamily="34" charset="0"/>
                <a:cs typeface="Arial" panose="020B0604020202020204" pitchFamily="34" charset="0"/>
              </a:rPr>
              <a:t>a </a:t>
            </a:r>
            <a:r>
              <a:rPr sz="3600" spc="-5" dirty="0">
                <a:solidFill>
                  <a:prstClr val="black"/>
                </a:solidFill>
                <a:latin typeface="Arial" panose="020B0604020202020204" pitchFamily="34" charset="0"/>
                <a:cs typeface="Arial" panose="020B0604020202020204" pitchFamily="34" charset="0"/>
              </a:rPr>
              <a:t>speedup, </a:t>
            </a:r>
            <a:r>
              <a:rPr sz="3600" i="1" dirty="0">
                <a:solidFill>
                  <a:prstClr val="black"/>
                </a:solidFill>
                <a:latin typeface="Arial" panose="020B0604020202020204" pitchFamily="34" charset="0"/>
                <a:cs typeface="Arial" panose="020B0604020202020204" pitchFamily="34" charset="0"/>
              </a:rPr>
              <a:t>p </a:t>
            </a:r>
            <a:r>
              <a:rPr sz="3600" dirty="0">
                <a:solidFill>
                  <a:prstClr val="black"/>
                </a:solidFill>
                <a:latin typeface="Arial" panose="020B0604020202020204" pitchFamily="34" charset="0"/>
                <a:cs typeface="Arial" panose="020B0604020202020204" pitchFamily="34" charset="0"/>
              </a:rPr>
              <a:t>will </a:t>
            </a:r>
            <a:r>
              <a:rPr sz="3600" spc="-5" dirty="0">
                <a:solidFill>
                  <a:prstClr val="black"/>
                </a:solidFill>
                <a:latin typeface="Arial" panose="020B0604020202020204" pitchFamily="34" charset="0"/>
                <a:cs typeface="Arial" panose="020B0604020202020204" pitchFamily="34" charset="0"/>
              </a:rPr>
              <a:t>be 0.3; </a:t>
            </a:r>
            <a:r>
              <a:rPr sz="3600" dirty="0">
                <a:solidFill>
                  <a:prstClr val="black"/>
                </a:solidFill>
                <a:latin typeface="Arial" panose="020B0604020202020204" pitchFamily="34" charset="0"/>
                <a:cs typeface="Arial" panose="020B0604020202020204" pitchFamily="34" charset="0"/>
              </a:rPr>
              <a:t>if the  </a:t>
            </a:r>
            <a:r>
              <a:rPr sz="3600" spc="-10" dirty="0">
                <a:solidFill>
                  <a:prstClr val="black"/>
                </a:solidFill>
                <a:latin typeface="Arial" panose="020B0604020202020204" pitchFamily="34" charset="0"/>
                <a:cs typeface="Arial" panose="020B0604020202020204" pitchFamily="34" charset="0"/>
              </a:rPr>
              <a:t>improvement </a:t>
            </a:r>
            <a:r>
              <a:rPr sz="3600" spc="-20" dirty="0">
                <a:solidFill>
                  <a:prstClr val="black"/>
                </a:solidFill>
                <a:latin typeface="Arial" panose="020B0604020202020204" pitchFamily="34" charset="0"/>
                <a:cs typeface="Arial" panose="020B0604020202020204" pitchFamily="34" charset="0"/>
              </a:rPr>
              <a:t>makes </a:t>
            </a:r>
            <a:r>
              <a:rPr sz="3600" dirty="0">
                <a:solidFill>
                  <a:prstClr val="black"/>
                </a:solidFill>
                <a:latin typeface="Arial" panose="020B0604020202020204" pitchFamily="34" charset="0"/>
                <a:cs typeface="Arial" panose="020B0604020202020204" pitchFamily="34" charset="0"/>
              </a:rPr>
              <a:t>the </a:t>
            </a:r>
            <a:r>
              <a:rPr sz="3600" spc="-25" dirty="0">
                <a:solidFill>
                  <a:prstClr val="black"/>
                </a:solidFill>
                <a:latin typeface="Arial" panose="020B0604020202020204" pitchFamily="34" charset="0"/>
                <a:cs typeface="Arial" panose="020B0604020202020204" pitchFamily="34" charset="0"/>
              </a:rPr>
              <a:t>affected </a:t>
            </a:r>
            <a:r>
              <a:rPr sz="3600" spc="-5" dirty="0">
                <a:solidFill>
                  <a:prstClr val="black"/>
                </a:solidFill>
                <a:latin typeface="Arial" panose="020B0604020202020204" pitchFamily="34" charset="0"/>
                <a:cs typeface="Arial" panose="020B0604020202020204" pitchFamily="34" charset="0"/>
              </a:rPr>
              <a:t>part </a:t>
            </a:r>
            <a:r>
              <a:rPr sz="3600" dirty="0">
                <a:solidFill>
                  <a:prstClr val="black"/>
                </a:solidFill>
                <a:latin typeface="Arial" panose="020B0604020202020204" pitchFamily="34" charset="0"/>
                <a:cs typeface="Arial" panose="020B0604020202020204" pitchFamily="34" charset="0"/>
              </a:rPr>
              <a:t>twice as  </a:t>
            </a:r>
            <a:r>
              <a:rPr sz="3600" spc="-20" dirty="0">
                <a:solidFill>
                  <a:prstClr val="black"/>
                </a:solidFill>
                <a:latin typeface="Arial" panose="020B0604020202020204" pitchFamily="34" charset="0"/>
                <a:cs typeface="Arial" panose="020B0604020202020204" pitchFamily="34" charset="0"/>
              </a:rPr>
              <a:t>fast, </a:t>
            </a:r>
            <a:r>
              <a:rPr sz="3600" i="1" dirty="0">
                <a:solidFill>
                  <a:prstClr val="black"/>
                </a:solidFill>
                <a:latin typeface="Arial" panose="020B0604020202020204" pitchFamily="34" charset="0"/>
                <a:cs typeface="Arial" panose="020B0604020202020204" pitchFamily="34" charset="0"/>
              </a:rPr>
              <a:t>s </a:t>
            </a:r>
            <a:r>
              <a:rPr sz="3600" spc="-5" dirty="0">
                <a:solidFill>
                  <a:prstClr val="black"/>
                </a:solidFill>
                <a:latin typeface="Arial" panose="020B0604020202020204" pitchFamily="34" charset="0"/>
                <a:cs typeface="Arial" panose="020B0604020202020204" pitchFamily="34" charset="0"/>
              </a:rPr>
              <a:t>will </a:t>
            </a:r>
            <a:r>
              <a:rPr sz="3600" dirty="0">
                <a:solidFill>
                  <a:prstClr val="black"/>
                </a:solidFill>
                <a:latin typeface="Arial" panose="020B0604020202020204" pitchFamily="34" charset="0"/>
                <a:cs typeface="Arial" panose="020B0604020202020204" pitchFamily="34" charset="0"/>
              </a:rPr>
              <a:t>be 2. </a:t>
            </a:r>
            <a:r>
              <a:rPr sz="3600" spc="-5" dirty="0">
                <a:solidFill>
                  <a:prstClr val="black"/>
                </a:solidFill>
                <a:latin typeface="Arial" panose="020B0604020202020204" pitchFamily="34" charset="0"/>
                <a:cs typeface="Arial" panose="020B0604020202020204" pitchFamily="34" charset="0"/>
              </a:rPr>
              <a:t>Amdahl's </a:t>
            </a:r>
            <a:r>
              <a:rPr sz="3600" spc="-10" dirty="0">
                <a:solidFill>
                  <a:prstClr val="black"/>
                </a:solidFill>
                <a:latin typeface="Arial" panose="020B0604020202020204" pitchFamily="34" charset="0"/>
                <a:cs typeface="Arial" panose="020B0604020202020204" pitchFamily="34" charset="0"/>
              </a:rPr>
              <a:t>law </a:t>
            </a:r>
            <a:r>
              <a:rPr sz="3600" spc="-25" dirty="0">
                <a:solidFill>
                  <a:prstClr val="black"/>
                </a:solidFill>
                <a:latin typeface="Arial" panose="020B0604020202020204" pitchFamily="34" charset="0"/>
                <a:cs typeface="Arial" panose="020B0604020202020204" pitchFamily="34" charset="0"/>
              </a:rPr>
              <a:t>states </a:t>
            </a:r>
            <a:r>
              <a:rPr sz="3600" spc="-10" dirty="0">
                <a:solidFill>
                  <a:prstClr val="black"/>
                </a:solidFill>
                <a:latin typeface="Arial" panose="020B0604020202020204" pitchFamily="34" charset="0"/>
                <a:cs typeface="Arial" panose="020B0604020202020204" pitchFamily="34" charset="0"/>
              </a:rPr>
              <a:t>that </a:t>
            </a:r>
            <a:r>
              <a:rPr sz="3600" dirty="0">
                <a:solidFill>
                  <a:prstClr val="black"/>
                </a:solidFill>
                <a:latin typeface="Arial" panose="020B0604020202020204" pitchFamily="34" charset="0"/>
                <a:cs typeface="Arial" panose="020B0604020202020204" pitchFamily="34" charset="0"/>
              </a:rPr>
              <a:t>the  </a:t>
            </a:r>
            <a:r>
              <a:rPr sz="3600" spc="-15" dirty="0">
                <a:solidFill>
                  <a:prstClr val="black"/>
                </a:solidFill>
                <a:latin typeface="Arial" panose="020B0604020202020204" pitchFamily="34" charset="0"/>
                <a:cs typeface="Arial" panose="020B0604020202020204" pitchFamily="34" charset="0"/>
              </a:rPr>
              <a:t>overall </a:t>
            </a:r>
            <a:r>
              <a:rPr sz="3600" spc="-5" dirty="0">
                <a:solidFill>
                  <a:prstClr val="black"/>
                </a:solidFill>
                <a:latin typeface="Arial" panose="020B0604020202020204" pitchFamily="34" charset="0"/>
                <a:cs typeface="Arial" panose="020B0604020202020204" pitchFamily="34" charset="0"/>
              </a:rPr>
              <a:t>speedup of </a:t>
            </a:r>
            <a:r>
              <a:rPr sz="3600" dirty="0">
                <a:solidFill>
                  <a:prstClr val="black"/>
                </a:solidFill>
                <a:latin typeface="Arial" panose="020B0604020202020204" pitchFamily="34" charset="0"/>
                <a:cs typeface="Arial" panose="020B0604020202020204" pitchFamily="34" charset="0"/>
              </a:rPr>
              <a:t>applying the </a:t>
            </a:r>
            <a:r>
              <a:rPr sz="3600" spc="-10" dirty="0">
                <a:solidFill>
                  <a:prstClr val="black"/>
                </a:solidFill>
                <a:latin typeface="Arial" panose="020B0604020202020204" pitchFamily="34" charset="0"/>
                <a:cs typeface="Arial" panose="020B0604020202020204" pitchFamily="34" charset="0"/>
              </a:rPr>
              <a:t>improvement  </a:t>
            </a:r>
            <a:r>
              <a:rPr sz="3600" dirty="0">
                <a:solidFill>
                  <a:prstClr val="black"/>
                </a:solidFill>
                <a:latin typeface="Arial" panose="020B0604020202020204" pitchFamily="34" charset="0"/>
                <a:cs typeface="Arial" panose="020B0604020202020204" pitchFamily="34" charset="0"/>
              </a:rPr>
              <a:t>will</a:t>
            </a:r>
            <a:r>
              <a:rPr sz="3600" spc="-5" dirty="0">
                <a:solidFill>
                  <a:prstClr val="black"/>
                </a:solidFill>
                <a:latin typeface="Arial" panose="020B0604020202020204" pitchFamily="34" charset="0"/>
                <a:cs typeface="Arial" panose="020B0604020202020204" pitchFamily="34" charset="0"/>
              </a:rPr>
              <a:t> be?</a:t>
            </a:r>
            <a:endParaRPr sz="3600" dirty="0">
              <a:solidFill>
                <a:prstClr val="black"/>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0563" y="910665"/>
            <a:ext cx="7886700" cy="622863"/>
          </a:xfrm>
          <a:prstGeom prst="rect">
            <a:avLst/>
          </a:prstGeom>
        </p:spPr>
        <p:txBody>
          <a:bodyPr vert="horz" wrap="square" lIns="0" tIns="13335" rIns="0" bIns="0" numCol="1" rtlCol="0" anchor="b" anchorCtr="0" compatLnSpc="1">
            <a:prstTxWarp prst="textNoShape">
              <a:avLst/>
            </a:prstTxWarp>
            <a:spAutoFit/>
          </a:bodyPr>
          <a:lstStyle/>
          <a:p>
            <a:pPr marL="12700">
              <a:spcBef>
                <a:spcPts val="105"/>
              </a:spcBef>
            </a:pPr>
            <a:r>
              <a:rPr spc="-15" dirty="0"/>
              <a:t>Example</a:t>
            </a:r>
            <a:r>
              <a:rPr spc="-65" dirty="0"/>
              <a:t> </a:t>
            </a:r>
            <a:r>
              <a:rPr dirty="0"/>
              <a:t>2</a:t>
            </a:r>
          </a:p>
        </p:txBody>
      </p:sp>
      <p:sp>
        <p:nvSpPr>
          <p:cNvPr id="3" name="object 3"/>
          <p:cNvSpPr txBox="1">
            <a:spLocks noGrp="1"/>
          </p:cNvSpPr>
          <p:nvPr>
            <p:ph idx="1"/>
          </p:nvPr>
        </p:nvSpPr>
        <p:spPr>
          <a:xfrm>
            <a:off x="519113" y="1882775"/>
            <a:ext cx="8058150" cy="3940822"/>
          </a:xfrm>
          <a:prstGeom prst="rect">
            <a:avLst/>
          </a:prstGeom>
        </p:spPr>
        <p:txBody>
          <a:bodyPr vert="horz" wrap="square" lIns="0" tIns="62230" rIns="0" bIns="0" numCol="1" rtlCol="0" anchor="t" anchorCtr="0" compatLnSpc="1">
            <a:prstTxWarp prst="textNoShape">
              <a:avLst/>
            </a:prstTxWarp>
            <a:spAutoFit/>
          </a:bodyPr>
          <a:lstStyle/>
          <a:p>
            <a:pPr marL="355600" marR="5080" algn="just">
              <a:spcBef>
                <a:spcPts val="490"/>
              </a:spcBef>
              <a:buFont typeface="Arial"/>
              <a:buChar char="•"/>
              <a:tabLst>
                <a:tab pos="354965" algn="l"/>
                <a:tab pos="355600" algn="l"/>
              </a:tabLst>
            </a:pPr>
            <a:r>
              <a:rPr spc="-5" dirty="0">
                <a:latin typeface="Arial" panose="020B0604020202020204" pitchFamily="34" charset="0"/>
                <a:cs typeface="Arial" panose="020B0604020202020204" pitchFamily="34" charset="0"/>
              </a:rPr>
              <a:t>Assume that </a:t>
            </a:r>
            <a:r>
              <a:rPr spc="-10" dirty="0">
                <a:latin typeface="Arial" panose="020B0604020202020204" pitchFamily="34" charset="0"/>
                <a:cs typeface="Arial" panose="020B0604020202020204" pitchFamily="34" charset="0"/>
              </a:rPr>
              <a:t>we </a:t>
            </a:r>
            <a:r>
              <a:rPr spc="-15" dirty="0">
                <a:latin typeface="Arial" panose="020B0604020202020204" pitchFamily="34" charset="0"/>
                <a:cs typeface="Arial" panose="020B0604020202020204" pitchFamily="34" charset="0"/>
              </a:rPr>
              <a:t>are </a:t>
            </a:r>
            <a:r>
              <a:rPr spc="-5" dirty="0">
                <a:latin typeface="Arial" panose="020B0604020202020204" pitchFamily="34" charset="0"/>
                <a:cs typeface="Arial" panose="020B0604020202020204" pitchFamily="34" charset="0"/>
              </a:rPr>
              <a:t>given </a:t>
            </a:r>
            <a:r>
              <a:rPr dirty="0">
                <a:latin typeface="Arial" panose="020B0604020202020204" pitchFamily="34" charset="0"/>
                <a:cs typeface="Arial" panose="020B0604020202020204" pitchFamily="34" charset="0"/>
              </a:rPr>
              <a:t>a </a:t>
            </a:r>
            <a:r>
              <a:rPr spc="-5" dirty="0">
                <a:latin typeface="Arial" panose="020B0604020202020204" pitchFamily="34" charset="0"/>
                <a:cs typeface="Arial" panose="020B0604020202020204" pitchFamily="34" charset="0"/>
              </a:rPr>
              <a:t>serial </a:t>
            </a:r>
            <a:r>
              <a:rPr spc="-10" dirty="0">
                <a:latin typeface="Arial" panose="020B0604020202020204" pitchFamily="34" charset="0"/>
                <a:cs typeface="Arial" panose="020B0604020202020204" pitchFamily="34" charset="0"/>
              </a:rPr>
              <a:t>task </a:t>
            </a:r>
            <a:r>
              <a:rPr dirty="0">
                <a:latin typeface="Arial" panose="020B0604020202020204" pitchFamily="34" charset="0"/>
                <a:cs typeface="Arial" panose="020B0604020202020204" pitchFamily="34" charset="0"/>
              </a:rPr>
              <a:t>which is  </a:t>
            </a:r>
            <a:r>
              <a:rPr spc="-5" dirty="0">
                <a:latin typeface="Arial" panose="020B0604020202020204" pitchFamily="34" charset="0"/>
                <a:cs typeface="Arial" panose="020B0604020202020204" pitchFamily="34" charset="0"/>
              </a:rPr>
              <a:t>split </a:t>
            </a:r>
            <a:r>
              <a:rPr spc="-15" dirty="0">
                <a:latin typeface="Arial" panose="020B0604020202020204" pitchFamily="34" charset="0"/>
                <a:cs typeface="Arial" panose="020B0604020202020204" pitchFamily="34" charset="0"/>
              </a:rPr>
              <a:t>into </a:t>
            </a:r>
            <a:r>
              <a:rPr spc="-20" dirty="0">
                <a:latin typeface="Arial" panose="020B0604020202020204" pitchFamily="34" charset="0"/>
                <a:cs typeface="Arial" panose="020B0604020202020204" pitchFamily="34" charset="0"/>
              </a:rPr>
              <a:t>four </a:t>
            </a:r>
            <a:r>
              <a:rPr spc="-10" dirty="0">
                <a:latin typeface="Arial" panose="020B0604020202020204" pitchFamily="34" charset="0"/>
                <a:cs typeface="Arial" panose="020B0604020202020204" pitchFamily="34" charset="0"/>
              </a:rPr>
              <a:t>consecutive </a:t>
            </a:r>
            <a:r>
              <a:rPr spc="-5" dirty="0">
                <a:latin typeface="Arial" panose="020B0604020202020204" pitchFamily="34" charset="0"/>
                <a:cs typeface="Arial" panose="020B0604020202020204" pitchFamily="34" charset="0"/>
              </a:rPr>
              <a:t>parts, </a:t>
            </a:r>
            <a:r>
              <a:rPr dirty="0">
                <a:latin typeface="Arial" panose="020B0604020202020204" pitchFamily="34" charset="0"/>
                <a:cs typeface="Arial" panose="020B0604020202020204" pitchFamily="34" charset="0"/>
              </a:rPr>
              <a:t>whose  </a:t>
            </a:r>
            <a:r>
              <a:rPr spc="-15" dirty="0">
                <a:latin typeface="Arial" panose="020B0604020202020204" pitchFamily="34" charset="0"/>
                <a:cs typeface="Arial" panose="020B0604020202020204" pitchFamily="34" charset="0"/>
              </a:rPr>
              <a:t>percentages </a:t>
            </a:r>
            <a:r>
              <a:rPr spc="-5" dirty="0">
                <a:latin typeface="Arial" panose="020B0604020202020204" pitchFamily="34" charset="0"/>
                <a:cs typeface="Arial" panose="020B0604020202020204" pitchFamily="34" charset="0"/>
              </a:rPr>
              <a:t>of </a:t>
            </a:r>
            <a:r>
              <a:rPr spc="-15" dirty="0">
                <a:latin typeface="Arial" panose="020B0604020202020204" pitchFamily="34" charset="0"/>
                <a:cs typeface="Arial" panose="020B0604020202020204" pitchFamily="34" charset="0"/>
              </a:rPr>
              <a:t>execution </a:t>
            </a:r>
            <a:r>
              <a:rPr dirty="0">
                <a:latin typeface="Arial" panose="020B0604020202020204" pitchFamily="34" charset="0"/>
                <a:cs typeface="Arial" panose="020B0604020202020204" pitchFamily="34" charset="0"/>
              </a:rPr>
              <a:t>time </a:t>
            </a:r>
            <a:r>
              <a:rPr spc="-10" dirty="0">
                <a:latin typeface="Arial" panose="020B0604020202020204" pitchFamily="34" charset="0"/>
                <a:cs typeface="Arial" panose="020B0604020202020204" pitchFamily="34" charset="0"/>
              </a:rPr>
              <a:t>are </a:t>
            </a:r>
            <a:r>
              <a:rPr i="1" spc="-5" dirty="0">
                <a:latin typeface="Arial" panose="020B0604020202020204" pitchFamily="34" charset="0"/>
                <a:cs typeface="Arial" panose="020B0604020202020204" pitchFamily="34" charset="0"/>
              </a:rPr>
              <a:t>p</a:t>
            </a:r>
            <a:r>
              <a:rPr spc="-5" dirty="0">
                <a:latin typeface="Arial" panose="020B0604020202020204" pitchFamily="34" charset="0"/>
                <a:cs typeface="Arial" panose="020B0604020202020204" pitchFamily="34" charset="0"/>
              </a:rPr>
              <a:t>1 </a:t>
            </a:r>
            <a:r>
              <a:rPr dirty="0">
                <a:latin typeface="Arial" panose="020B0604020202020204" pitchFamily="34" charset="0"/>
                <a:cs typeface="Arial" panose="020B0604020202020204" pitchFamily="34" charset="0"/>
              </a:rPr>
              <a:t>= 0.11,  </a:t>
            </a:r>
            <a:r>
              <a:rPr i="1" spc="-5" dirty="0">
                <a:latin typeface="Arial" panose="020B0604020202020204" pitchFamily="34" charset="0"/>
                <a:cs typeface="Arial" panose="020B0604020202020204" pitchFamily="34" charset="0"/>
              </a:rPr>
              <a:t>p</a:t>
            </a:r>
            <a:r>
              <a:rPr spc="-5" dirty="0">
                <a:latin typeface="Arial" panose="020B0604020202020204" pitchFamily="34" charset="0"/>
                <a:cs typeface="Arial" panose="020B0604020202020204" pitchFamily="34" charset="0"/>
              </a:rPr>
              <a:t>2 </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0.18, </a:t>
            </a:r>
            <a:r>
              <a:rPr i="1" spc="-5" dirty="0">
                <a:latin typeface="Arial" panose="020B0604020202020204" pitchFamily="34" charset="0"/>
                <a:cs typeface="Arial" panose="020B0604020202020204" pitchFamily="34" charset="0"/>
              </a:rPr>
              <a:t>p</a:t>
            </a:r>
            <a:r>
              <a:rPr spc="-5" dirty="0">
                <a:latin typeface="Arial" panose="020B0604020202020204" pitchFamily="34" charset="0"/>
                <a:cs typeface="Arial" panose="020B0604020202020204" pitchFamily="34" charset="0"/>
              </a:rPr>
              <a:t>3 </a:t>
            </a:r>
            <a:r>
              <a:rPr dirty="0">
                <a:latin typeface="Arial" panose="020B0604020202020204" pitchFamily="34" charset="0"/>
                <a:cs typeface="Arial" panose="020B0604020202020204" pitchFamily="34" charset="0"/>
              </a:rPr>
              <a:t>= 0.23, and </a:t>
            </a:r>
            <a:r>
              <a:rPr i="1" spc="-5" dirty="0">
                <a:latin typeface="Arial" panose="020B0604020202020204" pitchFamily="34" charset="0"/>
                <a:cs typeface="Arial" panose="020B0604020202020204" pitchFamily="34" charset="0"/>
              </a:rPr>
              <a:t>p</a:t>
            </a:r>
            <a:r>
              <a:rPr spc="-5" dirty="0">
                <a:latin typeface="Arial" panose="020B0604020202020204" pitchFamily="34" charset="0"/>
                <a:cs typeface="Arial" panose="020B0604020202020204" pitchFamily="34" charset="0"/>
              </a:rPr>
              <a:t>4 </a:t>
            </a:r>
            <a:r>
              <a:rPr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0.48  </a:t>
            </a:r>
            <a:r>
              <a:rPr spc="-20" dirty="0">
                <a:latin typeface="Arial" panose="020B0604020202020204" pitchFamily="34" charset="0"/>
                <a:cs typeface="Arial" panose="020B0604020202020204" pitchFamily="34" charset="0"/>
              </a:rPr>
              <a:t>respectively. </a:t>
            </a:r>
            <a:r>
              <a:rPr spc="-5" dirty="0">
                <a:latin typeface="Arial" panose="020B0604020202020204" pitchFamily="34" charset="0"/>
                <a:cs typeface="Arial" panose="020B0604020202020204" pitchFamily="34" charset="0"/>
              </a:rPr>
              <a:t>Then </a:t>
            </a:r>
            <a:r>
              <a:rPr spc="-10" dirty="0">
                <a:latin typeface="Arial" panose="020B0604020202020204" pitchFamily="34" charset="0"/>
                <a:cs typeface="Arial" panose="020B0604020202020204" pitchFamily="34" charset="0"/>
              </a:rPr>
              <a:t>we </a:t>
            </a:r>
            <a:r>
              <a:rPr spc="-15" dirty="0">
                <a:latin typeface="Arial" panose="020B0604020202020204" pitchFamily="34" charset="0"/>
                <a:cs typeface="Arial" panose="020B0604020202020204" pitchFamily="34" charset="0"/>
              </a:rPr>
              <a:t>are </a:t>
            </a:r>
            <a:r>
              <a:rPr spc="-10" dirty="0">
                <a:latin typeface="Arial" panose="020B0604020202020204" pitchFamily="34" charset="0"/>
                <a:cs typeface="Arial" panose="020B0604020202020204" pitchFamily="34" charset="0"/>
              </a:rPr>
              <a:t>told </a:t>
            </a:r>
            <a:r>
              <a:rPr spc="-5" dirty="0">
                <a:latin typeface="Arial" panose="020B0604020202020204" pitchFamily="34" charset="0"/>
                <a:cs typeface="Arial" panose="020B0604020202020204" pitchFamily="34" charset="0"/>
              </a:rPr>
              <a:t>that </a:t>
            </a:r>
            <a:r>
              <a:rPr dirty="0">
                <a:latin typeface="Arial" panose="020B0604020202020204" pitchFamily="34" charset="0"/>
                <a:cs typeface="Arial" panose="020B0604020202020204" pitchFamily="34" charset="0"/>
              </a:rPr>
              <a:t>the </a:t>
            </a:r>
            <a:r>
              <a:rPr spc="-10" dirty="0">
                <a:latin typeface="Arial" panose="020B0604020202020204" pitchFamily="34" charset="0"/>
                <a:cs typeface="Arial" panose="020B0604020202020204" pitchFamily="34" charset="0"/>
              </a:rPr>
              <a:t>1st  </a:t>
            </a:r>
            <a:r>
              <a:rPr spc="-5" dirty="0">
                <a:latin typeface="Arial" panose="020B0604020202020204" pitchFamily="34" charset="0"/>
                <a:cs typeface="Arial" panose="020B0604020202020204" pitchFamily="34" charset="0"/>
              </a:rPr>
              <a:t>part </a:t>
            </a:r>
            <a:r>
              <a:rPr dirty="0">
                <a:latin typeface="Arial" panose="020B0604020202020204" pitchFamily="34" charset="0"/>
                <a:cs typeface="Arial" panose="020B0604020202020204" pitchFamily="34" charset="0"/>
              </a:rPr>
              <a:t>is not </a:t>
            </a:r>
            <a:r>
              <a:rPr spc="-5" dirty="0">
                <a:latin typeface="Arial" panose="020B0604020202020204" pitchFamily="34" charset="0"/>
                <a:cs typeface="Arial" panose="020B0604020202020204" pitchFamily="34" charset="0"/>
              </a:rPr>
              <a:t>sped up, so </a:t>
            </a:r>
            <a:r>
              <a:rPr i="1" dirty="0">
                <a:latin typeface="Arial" panose="020B0604020202020204" pitchFamily="34" charset="0"/>
                <a:cs typeface="Arial" panose="020B0604020202020204" pitchFamily="34" charset="0"/>
              </a:rPr>
              <a:t>s</a:t>
            </a:r>
            <a:r>
              <a:rPr dirty="0">
                <a:latin typeface="Arial" panose="020B0604020202020204" pitchFamily="34" charset="0"/>
                <a:cs typeface="Arial" panose="020B0604020202020204" pitchFamily="34" charset="0"/>
              </a:rPr>
              <a:t>1 = 1, while the </a:t>
            </a:r>
            <a:r>
              <a:rPr spc="-10" dirty="0">
                <a:latin typeface="Arial" panose="020B0604020202020204" pitchFamily="34" charset="0"/>
                <a:cs typeface="Arial" panose="020B0604020202020204" pitchFamily="34" charset="0"/>
              </a:rPr>
              <a:t>2nd  </a:t>
            </a:r>
            <a:r>
              <a:rPr spc="-5" dirty="0">
                <a:latin typeface="Arial" panose="020B0604020202020204" pitchFamily="34" charset="0"/>
                <a:cs typeface="Arial" panose="020B0604020202020204" pitchFamily="34" charset="0"/>
              </a:rPr>
              <a:t>part </a:t>
            </a:r>
            <a:r>
              <a:rPr dirty="0">
                <a:latin typeface="Arial" panose="020B0604020202020204" pitchFamily="34" charset="0"/>
                <a:cs typeface="Arial" panose="020B0604020202020204" pitchFamily="34" charset="0"/>
              </a:rPr>
              <a:t>is </a:t>
            </a:r>
            <a:r>
              <a:rPr spc="-5" dirty="0">
                <a:latin typeface="Arial" panose="020B0604020202020204" pitchFamily="34" charset="0"/>
                <a:cs typeface="Arial" panose="020B0604020202020204" pitchFamily="34" charset="0"/>
              </a:rPr>
              <a:t>sped up </a:t>
            </a:r>
            <a:r>
              <a:rPr dirty="0">
                <a:latin typeface="Arial" panose="020B0604020202020204" pitchFamily="34" charset="0"/>
                <a:cs typeface="Arial" panose="020B0604020202020204" pitchFamily="34" charset="0"/>
              </a:rPr>
              <a:t>5 times, </a:t>
            </a:r>
            <a:r>
              <a:rPr spc="-5" dirty="0">
                <a:latin typeface="Arial" panose="020B0604020202020204" pitchFamily="34" charset="0"/>
                <a:cs typeface="Arial" panose="020B0604020202020204" pitchFamily="34" charset="0"/>
              </a:rPr>
              <a:t>so </a:t>
            </a:r>
            <a:r>
              <a:rPr i="1" dirty="0">
                <a:latin typeface="Arial" panose="020B0604020202020204" pitchFamily="34" charset="0"/>
                <a:cs typeface="Arial" panose="020B0604020202020204" pitchFamily="34" charset="0"/>
              </a:rPr>
              <a:t>s</a:t>
            </a:r>
            <a:r>
              <a:rPr dirty="0">
                <a:latin typeface="Arial" panose="020B0604020202020204" pitchFamily="34" charset="0"/>
                <a:cs typeface="Arial" panose="020B0604020202020204" pitchFamily="34" charset="0"/>
              </a:rPr>
              <a:t>2 = 5, the </a:t>
            </a:r>
            <a:r>
              <a:rPr spc="-15" dirty="0">
                <a:latin typeface="Arial" panose="020B0604020202020204" pitchFamily="34" charset="0"/>
                <a:cs typeface="Arial" panose="020B0604020202020204" pitchFamily="34" charset="0"/>
              </a:rPr>
              <a:t>3rd </a:t>
            </a:r>
            <a:r>
              <a:rPr spc="-5" dirty="0">
                <a:latin typeface="Arial" panose="020B0604020202020204" pitchFamily="34" charset="0"/>
                <a:cs typeface="Arial" panose="020B0604020202020204" pitchFamily="34" charset="0"/>
              </a:rPr>
              <a:t>part  </a:t>
            </a:r>
            <a:r>
              <a:rPr dirty="0">
                <a:latin typeface="Arial" panose="020B0604020202020204" pitchFamily="34" charset="0"/>
                <a:cs typeface="Arial" panose="020B0604020202020204" pitchFamily="34" charset="0"/>
              </a:rPr>
              <a:t>is </a:t>
            </a:r>
            <a:r>
              <a:rPr spc="-5" dirty="0">
                <a:latin typeface="Arial" panose="020B0604020202020204" pitchFamily="34" charset="0"/>
                <a:cs typeface="Arial" panose="020B0604020202020204" pitchFamily="34" charset="0"/>
              </a:rPr>
              <a:t>sped </a:t>
            </a:r>
            <a:r>
              <a:rPr dirty="0">
                <a:latin typeface="Arial" panose="020B0604020202020204" pitchFamily="34" charset="0"/>
                <a:cs typeface="Arial" panose="020B0604020202020204" pitchFamily="34" charset="0"/>
              </a:rPr>
              <a:t>up 20 times, so </a:t>
            </a:r>
            <a:r>
              <a:rPr i="1" dirty="0">
                <a:latin typeface="Arial" panose="020B0604020202020204" pitchFamily="34" charset="0"/>
                <a:cs typeface="Arial" panose="020B0604020202020204" pitchFamily="34" charset="0"/>
              </a:rPr>
              <a:t>s</a:t>
            </a:r>
            <a:r>
              <a:rPr dirty="0">
                <a:latin typeface="Arial" panose="020B0604020202020204" pitchFamily="34" charset="0"/>
                <a:cs typeface="Arial" panose="020B0604020202020204" pitchFamily="34" charset="0"/>
              </a:rPr>
              <a:t>3 = 20, and the 4th  </a:t>
            </a:r>
            <a:r>
              <a:rPr spc="-5" dirty="0">
                <a:latin typeface="Arial" panose="020B0604020202020204" pitchFamily="34" charset="0"/>
                <a:cs typeface="Arial" panose="020B0604020202020204" pitchFamily="34" charset="0"/>
              </a:rPr>
              <a:t>part </a:t>
            </a:r>
            <a:r>
              <a:rPr dirty="0">
                <a:latin typeface="Arial" panose="020B0604020202020204" pitchFamily="34" charset="0"/>
                <a:cs typeface="Arial" panose="020B0604020202020204" pitchFamily="34" charset="0"/>
              </a:rPr>
              <a:t>is </a:t>
            </a:r>
            <a:r>
              <a:rPr spc="-5" dirty="0">
                <a:latin typeface="Arial" panose="020B0604020202020204" pitchFamily="34" charset="0"/>
                <a:cs typeface="Arial" panose="020B0604020202020204" pitchFamily="34" charset="0"/>
              </a:rPr>
              <a:t>sped up </a:t>
            </a:r>
            <a:r>
              <a:rPr dirty="0">
                <a:latin typeface="Arial" panose="020B0604020202020204" pitchFamily="34" charset="0"/>
                <a:cs typeface="Arial" panose="020B0604020202020204" pitchFamily="34" charset="0"/>
              </a:rPr>
              <a:t>1.6 times, </a:t>
            </a:r>
            <a:r>
              <a:rPr spc="-5" dirty="0">
                <a:latin typeface="Arial" panose="020B0604020202020204" pitchFamily="34" charset="0"/>
                <a:cs typeface="Arial" panose="020B0604020202020204" pitchFamily="34" charset="0"/>
              </a:rPr>
              <a:t>so </a:t>
            </a:r>
            <a:r>
              <a:rPr i="1" dirty="0">
                <a:latin typeface="Arial" panose="020B0604020202020204" pitchFamily="34" charset="0"/>
                <a:cs typeface="Arial" panose="020B0604020202020204" pitchFamily="34" charset="0"/>
              </a:rPr>
              <a:t>s</a:t>
            </a:r>
            <a:r>
              <a:rPr dirty="0">
                <a:latin typeface="Arial" panose="020B0604020202020204" pitchFamily="34" charset="0"/>
                <a:cs typeface="Arial" panose="020B0604020202020204" pitchFamily="34" charset="0"/>
              </a:rPr>
              <a:t>4 = </a:t>
            </a:r>
            <a:r>
              <a:rPr spc="-5" dirty="0">
                <a:latin typeface="Arial" panose="020B0604020202020204" pitchFamily="34" charset="0"/>
                <a:cs typeface="Arial" panose="020B0604020202020204" pitchFamily="34" charset="0"/>
              </a:rPr>
              <a:t>1.6. </a:t>
            </a:r>
            <a:r>
              <a:rPr spc="-20" dirty="0">
                <a:latin typeface="Arial" panose="020B0604020202020204" pitchFamily="34" charset="0"/>
                <a:cs typeface="Arial" panose="020B0604020202020204" pitchFamily="34" charset="0"/>
              </a:rPr>
              <a:t>By </a:t>
            </a:r>
            <a:r>
              <a:rPr spc="-5" dirty="0">
                <a:latin typeface="Arial" panose="020B0604020202020204" pitchFamily="34" charset="0"/>
                <a:cs typeface="Arial" panose="020B0604020202020204" pitchFamily="34" charset="0"/>
              </a:rPr>
              <a:t>using  </a:t>
            </a:r>
            <a:r>
              <a:rPr dirty="0">
                <a:latin typeface="Arial" panose="020B0604020202020204" pitchFamily="34" charset="0"/>
                <a:cs typeface="Arial" panose="020B0604020202020204" pitchFamily="34" charset="0"/>
              </a:rPr>
              <a:t>Amdahl's </a:t>
            </a:r>
            <a:r>
              <a:rPr spc="-75" dirty="0">
                <a:latin typeface="Arial" panose="020B0604020202020204" pitchFamily="34" charset="0"/>
                <a:cs typeface="Arial" panose="020B0604020202020204" pitchFamily="34" charset="0"/>
              </a:rPr>
              <a:t>law, </a:t>
            </a:r>
            <a:r>
              <a:rPr dirty="0">
                <a:latin typeface="Arial" panose="020B0604020202020204" pitchFamily="34" charset="0"/>
                <a:cs typeface="Arial" panose="020B0604020202020204" pitchFamily="34" charset="0"/>
              </a:rPr>
              <a:t>the </a:t>
            </a:r>
            <a:r>
              <a:rPr spc="-15" dirty="0">
                <a:latin typeface="Arial" panose="020B0604020202020204" pitchFamily="34" charset="0"/>
                <a:cs typeface="Arial" panose="020B0604020202020204" pitchFamily="34" charset="0"/>
              </a:rPr>
              <a:t>overall </a:t>
            </a:r>
            <a:r>
              <a:rPr spc="-5" dirty="0">
                <a:latin typeface="Arial" panose="020B0604020202020204" pitchFamily="34" charset="0"/>
                <a:cs typeface="Arial" panose="020B0604020202020204" pitchFamily="34" charset="0"/>
              </a:rPr>
              <a:t>speedup</a:t>
            </a:r>
            <a:r>
              <a:rPr spc="13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5240">
              <a:spcBef>
                <a:spcPts val="105"/>
              </a:spcBef>
            </a:pPr>
            <a:r>
              <a:rPr spc="-35" dirty="0"/>
              <a:t>Amdahl’s</a:t>
            </a:r>
            <a:r>
              <a:rPr spc="-70" dirty="0"/>
              <a:t> </a:t>
            </a:r>
            <a:r>
              <a:rPr spc="-10" dirty="0"/>
              <a:t>Law</a:t>
            </a:r>
          </a:p>
        </p:txBody>
      </p:sp>
      <p:pic>
        <p:nvPicPr>
          <p:cNvPr id="3" name="object 3"/>
          <p:cNvPicPr/>
          <p:nvPr/>
        </p:nvPicPr>
        <p:blipFill>
          <a:blip r:embed="rId2" cstate="print"/>
          <a:stretch>
            <a:fillRect/>
          </a:stretch>
        </p:blipFill>
        <p:spPr>
          <a:xfrm>
            <a:off x="1304925" y="2482214"/>
            <a:ext cx="6858000" cy="2609850"/>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00A0B14-01CD-4B9A-9421-B005703028AB}"/>
                  </a:ext>
                </a:extLst>
              </p14:cNvPr>
              <p14:cNvContentPartPr/>
              <p14:nvPr/>
            </p14:nvContentPartPr>
            <p14:xfrm>
              <a:off x="5492160" y="2566440"/>
              <a:ext cx="3138840" cy="756000"/>
            </p14:xfrm>
          </p:contentPart>
        </mc:Choice>
        <mc:Fallback>
          <p:pic>
            <p:nvPicPr>
              <p:cNvPr id="4" name="Ink 3">
                <a:extLst>
                  <a:ext uri="{FF2B5EF4-FFF2-40B4-BE49-F238E27FC236}">
                    <a16:creationId xmlns:a16="http://schemas.microsoft.com/office/drawing/2014/main" id="{E00A0B14-01CD-4B9A-9421-B005703028AB}"/>
                  </a:ext>
                </a:extLst>
              </p:cNvPr>
              <p:cNvPicPr/>
              <p:nvPr/>
            </p:nvPicPr>
            <p:blipFill>
              <a:blip r:embed="rId4"/>
              <a:stretch>
                <a:fillRect/>
              </a:stretch>
            </p:blipFill>
            <p:spPr>
              <a:xfrm>
                <a:off x="5482800" y="2557080"/>
                <a:ext cx="3157560" cy="77472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87BD44-CCBA-932D-4D6F-A38538C172EA}"/>
              </a:ext>
            </a:extLst>
          </p:cNvPr>
          <p:cNvPicPr>
            <a:picLocks noChangeAspect="1"/>
          </p:cNvPicPr>
          <p:nvPr/>
        </p:nvPicPr>
        <p:blipFill>
          <a:blip r:embed="rId2"/>
          <a:stretch>
            <a:fillRect/>
          </a:stretch>
        </p:blipFill>
        <p:spPr>
          <a:xfrm>
            <a:off x="442915" y="361950"/>
            <a:ext cx="8258175" cy="6134100"/>
          </a:xfrm>
          <a:prstGeom prst="rect">
            <a:avLst/>
          </a:prstGeom>
        </p:spPr>
      </p:pic>
    </p:spTree>
    <p:extLst>
      <p:ext uri="{BB962C8B-B14F-4D97-AF65-F5344CB8AC3E}">
        <p14:creationId xmlns:p14="http://schemas.microsoft.com/office/powerpoint/2010/main" val="397926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2975" y="633591"/>
            <a:ext cx="6781800" cy="5571768"/>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F26EB1F-786A-4403-81D7-B3B5DC8F4DB5}"/>
                  </a:ext>
                </a:extLst>
              </p14:cNvPr>
              <p14:cNvContentPartPr/>
              <p14:nvPr/>
            </p14:nvContentPartPr>
            <p14:xfrm>
              <a:off x="2056920" y="1571760"/>
              <a:ext cx="3000600" cy="3563280"/>
            </p14:xfrm>
          </p:contentPart>
        </mc:Choice>
        <mc:Fallback xmlns="">
          <p:pic>
            <p:nvPicPr>
              <p:cNvPr id="3" name="Ink 2">
                <a:extLst>
                  <a:ext uri="{FF2B5EF4-FFF2-40B4-BE49-F238E27FC236}">
                    <a16:creationId xmlns:a16="http://schemas.microsoft.com/office/drawing/2014/main" id="{3F26EB1F-786A-4403-81D7-B3B5DC8F4DB5}"/>
                  </a:ext>
                </a:extLst>
              </p:cNvPr>
              <p:cNvPicPr/>
              <p:nvPr/>
            </p:nvPicPr>
            <p:blipFill>
              <a:blip r:embed="rId4"/>
              <a:stretch>
                <a:fillRect/>
              </a:stretch>
            </p:blipFill>
            <p:spPr>
              <a:xfrm>
                <a:off x="2047560" y="1562400"/>
                <a:ext cx="3019320" cy="3582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EE902678-6DD9-4ACA-9490-EFA4D7189AF7}"/>
                  </a:ext>
                </a:extLst>
              </p14:cNvPr>
              <p14:cNvContentPartPr/>
              <p14:nvPr/>
            </p14:nvContentPartPr>
            <p14:xfrm>
              <a:off x="3052800" y="2010240"/>
              <a:ext cx="3609720" cy="4177800"/>
            </p14:xfrm>
          </p:contentPart>
        </mc:Choice>
        <mc:Fallback>
          <p:pic>
            <p:nvPicPr>
              <p:cNvPr id="4" name="Ink 3">
                <a:extLst>
                  <a:ext uri="{FF2B5EF4-FFF2-40B4-BE49-F238E27FC236}">
                    <a16:creationId xmlns:a16="http://schemas.microsoft.com/office/drawing/2014/main" id="{EE902678-6DD9-4ACA-9490-EFA4D7189AF7}"/>
                  </a:ext>
                </a:extLst>
              </p:cNvPr>
              <p:cNvPicPr/>
              <p:nvPr/>
            </p:nvPicPr>
            <p:blipFill>
              <a:blip r:embed="rId6"/>
              <a:stretch>
                <a:fillRect/>
              </a:stretch>
            </p:blipFill>
            <p:spPr>
              <a:xfrm>
                <a:off x="3043440" y="2000880"/>
                <a:ext cx="3628440" cy="419652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E8CB3-0C31-BB78-24BE-9325FCCD77B8}"/>
              </a:ext>
            </a:extLst>
          </p:cNvPr>
          <p:cNvSpPr>
            <a:spLocks noGrp="1"/>
          </p:cNvSpPr>
          <p:nvPr>
            <p:ph type="title"/>
          </p:nvPr>
        </p:nvSpPr>
        <p:spPr/>
        <p:txBody>
          <a:bodyPr/>
          <a:lstStyle/>
          <a:p>
            <a:r>
              <a:rPr lang="en-US" dirty="0"/>
              <a:t>How does parallel computing works?</a:t>
            </a:r>
            <a:endParaRPr lang="LID4096" dirty="0"/>
          </a:p>
        </p:txBody>
      </p:sp>
      <p:sp>
        <p:nvSpPr>
          <p:cNvPr id="3" name="Content Placeholder 2">
            <a:extLst>
              <a:ext uri="{FF2B5EF4-FFF2-40B4-BE49-F238E27FC236}">
                <a16:creationId xmlns:a16="http://schemas.microsoft.com/office/drawing/2014/main" id="{24D6E677-3580-6C71-05D3-DC58FAB808F2}"/>
              </a:ext>
            </a:extLst>
          </p:cNvPr>
          <p:cNvSpPr>
            <a:spLocks noGrp="1"/>
          </p:cNvSpPr>
          <p:nvPr>
            <p:ph idx="1"/>
          </p:nvPr>
        </p:nvSpPr>
        <p:spPr>
          <a:xfrm>
            <a:off x="885824" y="1825625"/>
            <a:ext cx="4686301" cy="4518025"/>
          </a:xfrm>
        </p:spPr>
        <p:txBody>
          <a:bodyPr>
            <a:noAutofit/>
          </a:bodyPr>
          <a:lstStyle/>
          <a:p>
            <a:pPr algn="just"/>
            <a:r>
              <a:rPr lang="en-US" sz="2000" dirty="0">
                <a:latin typeface="Arial" panose="020B0604020202020204" pitchFamily="34" charset="0"/>
                <a:cs typeface="Arial" panose="020B0604020202020204" pitchFamily="34" charset="0"/>
              </a:rPr>
              <a:t>As a developer, you are responsible for the application software layer, which includes your source code. </a:t>
            </a:r>
          </a:p>
          <a:p>
            <a:pPr algn="just"/>
            <a:r>
              <a:rPr lang="en-US" sz="2000" dirty="0">
                <a:latin typeface="Arial" panose="020B0604020202020204" pitchFamily="34" charset="0"/>
                <a:cs typeface="Arial" panose="020B0604020202020204" pitchFamily="34" charset="0"/>
              </a:rPr>
              <a:t>In the source code, you make choices about the programming language and parallel software interfaces you use to leverage the underlying hardware. </a:t>
            </a:r>
          </a:p>
          <a:p>
            <a:pPr algn="just"/>
            <a:r>
              <a:rPr lang="en-US" sz="2000" dirty="0">
                <a:latin typeface="Arial" panose="020B0604020202020204" pitchFamily="34" charset="0"/>
                <a:cs typeface="Arial" panose="020B0604020202020204" pitchFamily="34" charset="0"/>
              </a:rPr>
              <a:t>Additionally, you decide how to break up your work into parallel units. </a:t>
            </a:r>
          </a:p>
          <a:p>
            <a:pPr algn="just"/>
            <a:r>
              <a:rPr lang="en-US" sz="2000" dirty="0">
                <a:latin typeface="Arial" panose="020B0604020202020204" pitchFamily="34" charset="0"/>
                <a:cs typeface="Arial" panose="020B0604020202020204" pitchFamily="34" charset="0"/>
              </a:rPr>
              <a:t>Approaches a developer can take into</a:t>
            </a:r>
          </a:p>
          <a:p>
            <a:pPr lvl="1" algn="just"/>
            <a:r>
              <a:rPr lang="en-US" sz="2000" dirty="0">
                <a:latin typeface="Arial" panose="020B0604020202020204" pitchFamily="34" charset="0"/>
                <a:cs typeface="Arial" panose="020B0604020202020204" pitchFamily="34" charset="0"/>
              </a:rPr>
              <a:t>Process-based parallelization</a:t>
            </a:r>
          </a:p>
          <a:p>
            <a:pPr lvl="1" algn="just"/>
            <a:r>
              <a:rPr lang="en-US" sz="2000" dirty="0">
                <a:latin typeface="Arial" panose="020B0604020202020204" pitchFamily="34" charset="0"/>
                <a:cs typeface="Arial" panose="020B0604020202020204" pitchFamily="34" charset="0"/>
              </a:rPr>
              <a:t>Thread-based parallelization</a:t>
            </a:r>
          </a:p>
          <a:p>
            <a:pPr lvl="1" algn="just"/>
            <a:r>
              <a:rPr lang="en-US" sz="2000" dirty="0">
                <a:latin typeface="Arial" panose="020B0604020202020204" pitchFamily="34" charset="0"/>
                <a:cs typeface="Arial" panose="020B0604020202020204" pitchFamily="34" charset="0"/>
              </a:rPr>
              <a:t>Vectorization</a:t>
            </a:r>
          </a:p>
          <a:p>
            <a:pPr lvl="1" algn="just"/>
            <a:r>
              <a:rPr lang="en-US" sz="2000" dirty="0">
                <a:latin typeface="Arial" panose="020B0604020202020204" pitchFamily="34" charset="0"/>
                <a:cs typeface="Arial" panose="020B0604020202020204" pitchFamily="34" charset="0"/>
              </a:rPr>
              <a:t>Stream (GPU) processing</a:t>
            </a:r>
            <a:endParaRPr lang="LID4096"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14BEDA4-2865-0322-3420-C7C2B21D3279}"/>
              </a:ext>
            </a:extLst>
          </p:cNvPr>
          <p:cNvPicPr>
            <a:picLocks noChangeAspect="1"/>
          </p:cNvPicPr>
          <p:nvPr/>
        </p:nvPicPr>
        <p:blipFill>
          <a:blip r:embed="rId3"/>
          <a:stretch>
            <a:fillRect/>
          </a:stretch>
        </p:blipFill>
        <p:spPr>
          <a:xfrm>
            <a:off x="5572125" y="1947864"/>
            <a:ext cx="2805113" cy="3400425"/>
          </a:xfrm>
          <a:prstGeom prst="rect">
            <a:avLst/>
          </a:prstGeom>
        </p:spPr>
      </p:pic>
    </p:spTree>
    <p:extLst>
      <p:ext uri="{BB962C8B-B14F-4D97-AF65-F5344CB8AC3E}">
        <p14:creationId xmlns:p14="http://schemas.microsoft.com/office/powerpoint/2010/main" val="3958897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1C426-B848-9A9A-9072-5FD4A4A73919}"/>
              </a:ext>
            </a:extLst>
          </p:cNvPr>
          <p:cNvSpPr>
            <a:spLocks noGrp="1"/>
          </p:cNvSpPr>
          <p:nvPr>
            <p:ph type="title"/>
          </p:nvPr>
        </p:nvSpPr>
        <p:spPr/>
        <p:txBody>
          <a:bodyPr/>
          <a:lstStyle/>
          <a:p>
            <a:r>
              <a:rPr lang="en-US" dirty="0"/>
              <a:t>Example for Sample Application</a:t>
            </a:r>
            <a:endParaRPr lang="LID4096" dirty="0"/>
          </a:p>
        </p:txBody>
      </p:sp>
      <p:sp>
        <p:nvSpPr>
          <p:cNvPr id="3" name="Content Placeholder 2">
            <a:extLst>
              <a:ext uri="{FF2B5EF4-FFF2-40B4-BE49-F238E27FC236}">
                <a16:creationId xmlns:a16="http://schemas.microsoft.com/office/drawing/2014/main" id="{65D376F5-2D00-1957-2B3D-44DD901546C2}"/>
              </a:ext>
            </a:extLst>
          </p:cNvPr>
          <p:cNvSpPr>
            <a:spLocks noGrp="1"/>
          </p:cNvSpPr>
          <p:nvPr>
            <p:ph idx="1"/>
          </p:nvPr>
        </p:nvSpPr>
        <p:spPr>
          <a:xfrm>
            <a:off x="628650" y="1690689"/>
            <a:ext cx="7715250" cy="4828094"/>
          </a:xfrm>
        </p:spPr>
        <p:txBody>
          <a:bodyPr>
            <a:normAutofit fontScale="85000" lnSpcReduction="20000"/>
          </a:bodyPr>
          <a:lstStyle/>
          <a:p>
            <a:pPr algn="just"/>
            <a:r>
              <a:rPr lang="en-US" sz="3200" dirty="0">
                <a:latin typeface="Arial" panose="020B0604020202020204" pitchFamily="34" charset="0"/>
                <a:cs typeface="Arial" panose="020B0604020202020204" pitchFamily="34" charset="0"/>
              </a:rPr>
              <a:t>Perform the computation on a regular two-dimensional (2D) grid of rectangular elements or cells. </a:t>
            </a:r>
          </a:p>
          <a:p>
            <a:pPr algn="just"/>
            <a:r>
              <a:rPr lang="en-US" sz="3200" dirty="0">
                <a:latin typeface="Arial" panose="020B0604020202020204" pitchFamily="34" charset="0"/>
                <a:cs typeface="Arial" panose="020B0604020202020204" pitchFamily="34" charset="0"/>
              </a:rPr>
              <a:t>The steps prepare for the calculation are</a:t>
            </a:r>
          </a:p>
          <a:p>
            <a:pPr lvl="1" algn="just"/>
            <a:r>
              <a:rPr lang="en-US" sz="2800" dirty="0">
                <a:latin typeface="Arial" panose="020B0604020202020204" pitchFamily="34" charset="0"/>
                <a:cs typeface="Arial" panose="020B0604020202020204" pitchFamily="34" charset="0"/>
              </a:rPr>
              <a:t>Discretize (break up) the problem into smaller cells or elements</a:t>
            </a:r>
          </a:p>
          <a:p>
            <a:pPr lvl="1" algn="just"/>
            <a:r>
              <a:rPr lang="en-US" sz="2800" dirty="0">
                <a:latin typeface="Arial" panose="020B0604020202020204" pitchFamily="34" charset="0"/>
                <a:cs typeface="Arial" panose="020B0604020202020204" pitchFamily="34" charset="0"/>
              </a:rPr>
              <a:t>Define a computational kernel (operation) to conduct on each element</a:t>
            </a:r>
          </a:p>
          <a:p>
            <a:pPr lvl="1" algn="just"/>
            <a:r>
              <a:rPr lang="en-US" sz="2800" dirty="0">
                <a:latin typeface="Arial" panose="020B0604020202020204" pitchFamily="34" charset="0"/>
                <a:cs typeface="Arial" panose="020B0604020202020204" pitchFamily="34" charset="0"/>
              </a:rPr>
              <a:t>Add the following layers of parallelization on CPUs and GPUs to perform the</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calculation:</a:t>
            </a:r>
          </a:p>
          <a:p>
            <a:pPr lvl="2" algn="just"/>
            <a:r>
              <a:rPr lang="en-US" sz="2400" dirty="0">
                <a:latin typeface="Arial" panose="020B0604020202020204" pitchFamily="34" charset="0"/>
                <a:cs typeface="Arial" panose="020B0604020202020204" pitchFamily="34" charset="0"/>
              </a:rPr>
              <a:t>Vectorization</a:t>
            </a:r>
          </a:p>
          <a:p>
            <a:pPr lvl="2" algn="just"/>
            <a:r>
              <a:rPr lang="en-US" sz="2400" dirty="0">
                <a:latin typeface="Arial" panose="020B0604020202020204" pitchFamily="34" charset="0"/>
                <a:cs typeface="Arial" panose="020B0604020202020204" pitchFamily="34" charset="0"/>
              </a:rPr>
              <a:t>Threads </a:t>
            </a:r>
          </a:p>
          <a:p>
            <a:pPr lvl="2" algn="just"/>
            <a:r>
              <a:rPr lang="en-US" sz="2400" dirty="0">
                <a:latin typeface="Arial" panose="020B0604020202020204" pitchFamily="34" charset="0"/>
                <a:cs typeface="Arial" panose="020B0604020202020204" pitchFamily="34" charset="0"/>
              </a:rPr>
              <a:t>Processes </a:t>
            </a:r>
          </a:p>
          <a:p>
            <a:pPr lvl="2" algn="just"/>
            <a:r>
              <a:rPr lang="en-US" sz="2400" dirty="0">
                <a:latin typeface="Arial" panose="020B0604020202020204" pitchFamily="34" charset="0"/>
                <a:cs typeface="Arial" panose="020B0604020202020204" pitchFamily="34" charset="0"/>
              </a:rPr>
              <a:t>Off-loading the calculation to GPUs</a:t>
            </a:r>
            <a:endParaRPr lang="LID4096"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0148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a:t>Complexity</a:t>
            </a:r>
            <a:endParaRPr lang="en-US" dirty="0"/>
          </a:p>
        </p:txBody>
      </p:sp>
      <p:sp>
        <p:nvSpPr>
          <p:cNvPr id="8" name="Content Placeholder 7"/>
          <p:cNvSpPr>
            <a:spLocks noGrp="1"/>
          </p:cNvSpPr>
          <p:nvPr>
            <p:ph idx="1"/>
          </p:nvPr>
        </p:nvSpPr>
        <p:spPr>
          <a:xfrm>
            <a:off x="628650" y="1825624"/>
            <a:ext cx="7886700" cy="4646613"/>
          </a:xfrm>
        </p:spPr>
        <p:txBody>
          <a:bodyPr>
            <a:noAutofit/>
          </a:bodyPr>
          <a:lstStyle/>
          <a:p>
            <a:pPr algn="just"/>
            <a:r>
              <a:rPr lang="en-US" sz="2000" dirty="0">
                <a:latin typeface="Arial" panose="020B0604020202020204" pitchFamily="34" charset="0"/>
                <a:cs typeface="Arial" panose="020B0604020202020204" pitchFamily="34" charset="0"/>
              </a:rPr>
              <a:t>In general, parallel applications are much more complex than corresponding serial applications. </a:t>
            </a:r>
          </a:p>
          <a:p>
            <a:pPr algn="just"/>
            <a:r>
              <a:rPr lang="en-US" sz="2000" dirty="0">
                <a:latin typeface="Arial" panose="020B0604020202020204" pitchFamily="34" charset="0"/>
                <a:cs typeface="Arial" panose="020B0604020202020204" pitchFamily="34" charset="0"/>
              </a:rPr>
              <a:t>Not only do you have multiple instruction streams executing at the same time, but you also have data flowing between them. </a:t>
            </a:r>
          </a:p>
          <a:p>
            <a:pPr algn="just"/>
            <a:r>
              <a:rPr lang="en-US" sz="2000" dirty="0">
                <a:latin typeface="Arial" panose="020B0604020202020204" pitchFamily="34" charset="0"/>
                <a:cs typeface="Arial" panose="020B0604020202020204" pitchFamily="34" charset="0"/>
              </a:rPr>
              <a:t>The costs of complexity are measured in programmer time in virtually every aspect of the software development cycle:</a:t>
            </a:r>
          </a:p>
          <a:p>
            <a:pPr lvl="1" algn="just"/>
            <a:r>
              <a:rPr lang="en-US" sz="2000" dirty="0">
                <a:latin typeface="Arial" panose="020B0604020202020204" pitchFamily="34" charset="0"/>
                <a:cs typeface="Arial" panose="020B0604020202020204" pitchFamily="34" charset="0"/>
              </a:rPr>
              <a:t>Design</a:t>
            </a:r>
          </a:p>
          <a:p>
            <a:pPr lvl="1" algn="just"/>
            <a:r>
              <a:rPr lang="en-US" sz="2000" dirty="0">
                <a:latin typeface="Arial" panose="020B0604020202020204" pitchFamily="34" charset="0"/>
                <a:cs typeface="Arial" panose="020B0604020202020204" pitchFamily="34" charset="0"/>
              </a:rPr>
              <a:t>Coding</a:t>
            </a:r>
          </a:p>
          <a:p>
            <a:pPr lvl="1" algn="just"/>
            <a:r>
              <a:rPr lang="en-US" sz="2000" dirty="0">
                <a:latin typeface="Arial" panose="020B0604020202020204" pitchFamily="34" charset="0"/>
                <a:cs typeface="Arial" panose="020B0604020202020204" pitchFamily="34" charset="0"/>
              </a:rPr>
              <a:t>Debugging</a:t>
            </a:r>
          </a:p>
          <a:p>
            <a:pPr lvl="1" algn="just"/>
            <a:r>
              <a:rPr lang="en-US" sz="2000" dirty="0">
                <a:latin typeface="Arial" panose="020B0604020202020204" pitchFamily="34" charset="0"/>
                <a:cs typeface="Arial" panose="020B0604020202020204" pitchFamily="34" charset="0"/>
              </a:rPr>
              <a:t>Tuning</a:t>
            </a:r>
          </a:p>
          <a:p>
            <a:pPr lvl="1" algn="just"/>
            <a:r>
              <a:rPr lang="en-US" sz="2000" dirty="0">
                <a:latin typeface="Arial" panose="020B0604020202020204" pitchFamily="34" charset="0"/>
                <a:cs typeface="Arial" panose="020B0604020202020204" pitchFamily="34" charset="0"/>
              </a:rPr>
              <a:t>Maintenance</a:t>
            </a:r>
          </a:p>
          <a:p>
            <a:pPr algn="just"/>
            <a:r>
              <a:rPr lang="en-US" sz="2000" dirty="0">
                <a:latin typeface="Arial" panose="020B0604020202020204" pitchFamily="34" charset="0"/>
                <a:cs typeface="Arial" panose="020B0604020202020204" pitchFamily="34" charset="0"/>
              </a:rPr>
              <a:t>Adhering to "good" software development practices is essential when working with parallel applications - especially if somebody besides you will have to work with the software.</a:t>
            </a:r>
          </a:p>
        </p:txBody>
      </p:sp>
      <p:sp>
        <p:nvSpPr>
          <p:cNvPr id="2" name="Slide Number Placeholder 1"/>
          <p:cNvSpPr>
            <a:spLocks noGrp="1"/>
          </p:cNvSpPr>
          <p:nvPr>
            <p:ph type="sldNum" sz="quarter" idx="12"/>
          </p:nvPr>
        </p:nvSpPr>
        <p:spPr>
          <a:prstGeom prst="rect">
            <a:avLst/>
          </a:prstGeom>
        </p:spPr>
        <p:txBody>
          <a:bodyPr vert="horz" wrap="square" lIns="91440" tIns="45720" rIns="91440" bIns="45720" numCol="1" rtlCol="0" anchor="ctr" anchorCtr="1" compatLnSpc="1">
            <a:prstTxWarp prst="textNoShape">
              <a:avLst/>
            </a:prstTxWarp>
          </a:bodyPr>
          <a:lstStyle>
            <a:defPPr>
              <a:defRPr lang="de-DE"/>
            </a:defPPr>
            <a:lvl1pPr marL="0" algn="r" defTabSz="914400" rtl="0" eaLnBrk="1" latinLnBrk="0" hangingPunct="1">
              <a:defRPr sz="1200" kern="1200">
                <a:solidFill>
                  <a:schemeClr val="tx1">
                    <a:tint val="75000"/>
                  </a:schemeClr>
                </a:solidFill>
                <a:latin typeface="Univers Com 55"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6AE60A-B69C-4790-82F7-3882EDF23186}" type="slidenum">
              <a:rPr lang="de-DE" smtClean="0"/>
              <a:pPr/>
              <a:t>15</a:t>
            </a:fld>
            <a:endParaRPr lang="de-DE"/>
          </a:p>
        </p:txBody>
      </p:sp>
    </p:spTree>
    <p:extLst>
      <p:ext uri="{BB962C8B-B14F-4D97-AF65-F5344CB8AC3E}">
        <p14:creationId xmlns:p14="http://schemas.microsoft.com/office/powerpoint/2010/main" val="487996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Portability</a:t>
            </a:r>
          </a:p>
        </p:txBody>
      </p:sp>
      <p:sp>
        <p:nvSpPr>
          <p:cNvPr id="3" name="Content Placeholder 2"/>
          <p:cNvSpPr>
            <a:spLocks noGrp="1"/>
          </p:cNvSpPr>
          <p:nvPr>
            <p:ph idx="1"/>
          </p:nvPr>
        </p:nvSpPr>
        <p:spPr/>
        <p:txBody>
          <a:bodyPr>
            <a:normAutofit fontScale="77500" lnSpcReduction="20000"/>
          </a:bodyPr>
          <a:lstStyle/>
          <a:p>
            <a:pPr algn="just"/>
            <a:r>
              <a:rPr lang="en-US" dirty="0">
                <a:latin typeface="Arial" panose="020B0604020202020204" pitchFamily="34" charset="0"/>
                <a:cs typeface="Arial" panose="020B0604020202020204" pitchFamily="34" charset="0"/>
              </a:rPr>
              <a:t>Thanks to standardization in several APIs, such as MPI, POSIX threads, and OpenMP, portability issues with parallel programs are not as serious as in years past. </a:t>
            </a:r>
          </a:p>
          <a:p>
            <a:pPr algn="just"/>
            <a:r>
              <a:rPr lang="en-US" dirty="0">
                <a:latin typeface="Arial" panose="020B0604020202020204" pitchFamily="34" charset="0"/>
                <a:cs typeface="Arial" panose="020B0604020202020204" pitchFamily="34" charset="0"/>
              </a:rPr>
              <a:t>All of the usual portability issues associated with serial programs apply to parallel programs. For example, if you use vendor "enhancements" to Fortran, C or C++, portability will be a problem. </a:t>
            </a:r>
          </a:p>
          <a:p>
            <a:pPr algn="just"/>
            <a:r>
              <a:rPr lang="en-US" dirty="0">
                <a:latin typeface="Arial" panose="020B0604020202020204" pitchFamily="34" charset="0"/>
                <a:cs typeface="Arial" panose="020B0604020202020204" pitchFamily="34" charset="0"/>
              </a:rPr>
              <a:t>Even though standards exist for several APIs, implementations will differ in a number of details, sometimes to the point of requiring code modifications in order to effect portability. </a:t>
            </a:r>
          </a:p>
          <a:p>
            <a:pPr algn="just"/>
            <a:r>
              <a:rPr lang="en-US" dirty="0">
                <a:latin typeface="Arial" panose="020B0604020202020204" pitchFamily="34" charset="0"/>
                <a:cs typeface="Arial" panose="020B0604020202020204" pitchFamily="34" charset="0"/>
              </a:rPr>
              <a:t>Operating systems can play a key role in code portability issues. </a:t>
            </a:r>
          </a:p>
          <a:p>
            <a:pPr algn="just"/>
            <a:r>
              <a:rPr lang="en-US" dirty="0">
                <a:latin typeface="Arial" panose="020B0604020202020204" pitchFamily="34" charset="0"/>
                <a:cs typeface="Arial" panose="020B0604020202020204" pitchFamily="34" charset="0"/>
              </a:rPr>
              <a:t>Hardware architectures are characteristically highly variable and can affect portability.</a:t>
            </a:r>
          </a:p>
        </p:txBody>
      </p:sp>
      <p:sp>
        <p:nvSpPr>
          <p:cNvPr id="4" name="Slide Number Placeholder 3"/>
          <p:cNvSpPr>
            <a:spLocks noGrp="1"/>
          </p:cNvSpPr>
          <p:nvPr>
            <p:ph type="sldNum" sz="quarter" idx="12"/>
          </p:nvPr>
        </p:nvSpPr>
        <p:spPr>
          <a:prstGeom prst="rect">
            <a:avLst/>
          </a:prstGeom>
        </p:spPr>
        <p:txBody>
          <a:bodyPr vert="horz" wrap="square" lIns="91440" tIns="45720" rIns="91440" bIns="45720" numCol="1" rtlCol="0" anchor="ctr" anchorCtr="1" compatLnSpc="1">
            <a:prstTxWarp prst="textNoShape">
              <a:avLst/>
            </a:prstTxWarp>
          </a:bodyPr>
          <a:lstStyle>
            <a:defPPr>
              <a:defRPr lang="de-DE"/>
            </a:defPPr>
            <a:lvl1pPr marL="0" algn="r" defTabSz="914400" rtl="0" eaLnBrk="1" latinLnBrk="0" hangingPunct="1">
              <a:defRPr sz="1200" kern="1200">
                <a:solidFill>
                  <a:schemeClr val="tx1">
                    <a:tint val="75000"/>
                  </a:schemeClr>
                </a:solidFill>
                <a:latin typeface="Univers Com 55"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6AE60A-B69C-4790-82F7-3882EDF23186}" type="slidenum">
              <a:rPr lang="de-DE" smtClean="0"/>
              <a:pPr/>
              <a:t>16</a:t>
            </a:fld>
            <a:endParaRPr lang="de-DE"/>
          </a:p>
        </p:txBody>
      </p:sp>
    </p:spTree>
    <p:extLst>
      <p:ext uri="{BB962C8B-B14F-4D97-AF65-F5344CB8AC3E}">
        <p14:creationId xmlns:p14="http://schemas.microsoft.com/office/powerpoint/2010/main" val="657486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Resource Requirements</a:t>
            </a:r>
          </a:p>
        </p:txBody>
      </p:sp>
      <p:sp>
        <p:nvSpPr>
          <p:cNvPr id="3" name="Content Placeholder 2"/>
          <p:cNvSpPr>
            <a:spLocks noGrp="1"/>
          </p:cNvSpPr>
          <p:nvPr>
            <p:ph idx="1"/>
          </p:nvPr>
        </p:nvSpPr>
        <p:spPr/>
        <p:txBody>
          <a:bodyPr>
            <a:noAutofit/>
          </a:bodyPr>
          <a:lstStyle/>
          <a:p>
            <a:pPr algn="just"/>
            <a:r>
              <a:rPr lang="en-US" sz="2000" dirty="0">
                <a:latin typeface="Arial" panose="020B0604020202020204" pitchFamily="34" charset="0"/>
                <a:cs typeface="Arial" panose="020B0604020202020204" pitchFamily="34" charset="0"/>
              </a:rPr>
              <a:t>The primary intent of parallel programming is to decrease execution wall clock time, however in order to accomplish this, more CPU time is required. For example, a parallel code that runs in 1 hour on 8 processors actually uses 8 hours of CPU time. </a:t>
            </a:r>
          </a:p>
          <a:p>
            <a:pPr algn="just"/>
            <a:r>
              <a:rPr lang="en-US" sz="2000" dirty="0">
                <a:latin typeface="Arial" panose="020B0604020202020204" pitchFamily="34" charset="0"/>
                <a:cs typeface="Arial" panose="020B0604020202020204" pitchFamily="34" charset="0"/>
              </a:rPr>
              <a:t>The amount of memory required can be greater for parallel codes than serial codes, due to the need to replicate data and for overheads associated with parallel support libraries and subsystems. </a:t>
            </a:r>
          </a:p>
          <a:p>
            <a:pPr algn="just"/>
            <a:r>
              <a:rPr lang="en-US" sz="2000" dirty="0">
                <a:latin typeface="Arial" panose="020B0604020202020204" pitchFamily="34" charset="0"/>
                <a:cs typeface="Arial" panose="020B0604020202020204" pitchFamily="34" charset="0"/>
              </a:rPr>
              <a:t>For short running parallel programs, there can actually be a decrease in performance compared to a similar serial implementation. The overhead costs associated with setting up the parallel environment, task creation, communications and task termination can comprise a significant portion of the total execution time for short runs.</a:t>
            </a:r>
          </a:p>
        </p:txBody>
      </p:sp>
      <p:sp>
        <p:nvSpPr>
          <p:cNvPr id="4" name="Slide Number Placeholder 3"/>
          <p:cNvSpPr>
            <a:spLocks noGrp="1"/>
          </p:cNvSpPr>
          <p:nvPr>
            <p:ph type="sldNum" sz="quarter" idx="12"/>
          </p:nvPr>
        </p:nvSpPr>
        <p:spPr>
          <a:prstGeom prst="rect">
            <a:avLst/>
          </a:prstGeom>
        </p:spPr>
        <p:txBody>
          <a:bodyPr vert="horz" wrap="square" lIns="91440" tIns="45720" rIns="91440" bIns="45720" numCol="1" rtlCol="0" anchor="ctr" anchorCtr="1" compatLnSpc="1">
            <a:prstTxWarp prst="textNoShape">
              <a:avLst/>
            </a:prstTxWarp>
          </a:bodyPr>
          <a:lstStyle>
            <a:defPPr>
              <a:defRPr lang="de-DE"/>
            </a:defPPr>
            <a:lvl1pPr marL="0" algn="r" defTabSz="914400" rtl="0" eaLnBrk="1" latinLnBrk="0" hangingPunct="1">
              <a:defRPr sz="1200" kern="1200">
                <a:solidFill>
                  <a:schemeClr val="tx1">
                    <a:tint val="75000"/>
                  </a:schemeClr>
                </a:solidFill>
                <a:latin typeface="Univers Com 55"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6AE60A-B69C-4790-82F7-3882EDF23186}" type="slidenum">
              <a:rPr lang="de-DE" smtClean="0"/>
              <a:pPr/>
              <a:t>17</a:t>
            </a:fld>
            <a:endParaRPr lang="de-DE"/>
          </a:p>
        </p:txBody>
      </p:sp>
    </p:spTree>
    <p:extLst>
      <p:ext uri="{BB962C8B-B14F-4D97-AF65-F5344CB8AC3E}">
        <p14:creationId xmlns:p14="http://schemas.microsoft.com/office/powerpoint/2010/main" val="1218421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Scalability</a:t>
            </a:r>
          </a:p>
        </p:txBody>
      </p:sp>
      <p:sp>
        <p:nvSpPr>
          <p:cNvPr id="3" name="Content Placeholder 2"/>
          <p:cNvSpPr>
            <a:spLocks noGrp="1"/>
          </p:cNvSpPr>
          <p:nvPr>
            <p:ph idx="1"/>
          </p:nvPr>
        </p:nvSpPr>
        <p:spPr>
          <a:xfrm>
            <a:off x="471487" y="1584324"/>
            <a:ext cx="5829300" cy="4530726"/>
          </a:xfrm>
        </p:spPr>
        <p:txBody>
          <a:bodyPr>
            <a:noAutofit/>
          </a:bodyPr>
          <a:lstStyle/>
          <a:p>
            <a:pPr algn="just"/>
            <a:r>
              <a:rPr lang="en-US" sz="1800" dirty="0">
                <a:latin typeface="Arial" panose="020B0604020202020204" pitchFamily="34" charset="0"/>
                <a:cs typeface="Arial" panose="020B0604020202020204" pitchFamily="34" charset="0"/>
              </a:rPr>
              <a:t>Two types of scaling based on time to solution: strong scaling and weak scaling.</a:t>
            </a:r>
          </a:p>
          <a:p>
            <a:pPr algn="just"/>
            <a:r>
              <a:rPr lang="en-US" sz="1800" dirty="0">
                <a:latin typeface="Arial" panose="020B0604020202020204" pitchFamily="34" charset="0"/>
                <a:cs typeface="Arial" panose="020B0604020202020204" pitchFamily="34" charset="0"/>
              </a:rPr>
              <a:t>Strong scaling:</a:t>
            </a:r>
          </a:p>
          <a:p>
            <a:pPr lvl="1" algn="just"/>
            <a:r>
              <a:rPr lang="en-US" sz="1800" dirty="0">
                <a:latin typeface="Arial" panose="020B0604020202020204" pitchFamily="34" charset="0"/>
                <a:cs typeface="Arial" panose="020B0604020202020204" pitchFamily="34" charset="0"/>
              </a:rPr>
              <a:t>The total problem size stays fixed as more processors are added.</a:t>
            </a:r>
          </a:p>
          <a:p>
            <a:pPr lvl="1" algn="just"/>
            <a:r>
              <a:rPr lang="en-US" sz="1800" dirty="0">
                <a:latin typeface="Arial" panose="020B0604020202020204" pitchFamily="34" charset="0"/>
                <a:cs typeface="Arial" panose="020B0604020202020204" pitchFamily="34" charset="0"/>
              </a:rPr>
              <a:t>Goal is to run the same problem size faster</a:t>
            </a:r>
          </a:p>
          <a:p>
            <a:pPr lvl="1" algn="just"/>
            <a:r>
              <a:rPr lang="en-US" sz="1800" dirty="0">
                <a:latin typeface="Arial" panose="020B0604020202020204" pitchFamily="34" charset="0"/>
                <a:cs typeface="Arial" panose="020B0604020202020204" pitchFamily="34" charset="0"/>
              </a:rPr>
              <a:t>Perfect scaling means problem is solved in 1/P time (compared to serial)</a:t>
            </a:r>
          </a:p>
          <a:p>
            <a:pPr algn="just"/>
            <a:r>
              <a:rPr lang="en-US" sz="1800" dirty="0">
                <a:latin typeface="Arial" panose="020B0604020202020204" pitchFamily="34" charset="0"/>
                <a:cs typeface="Arial" panose="020B0604020202020204" pitchFamily="34" charset="0"/>
              </a:rPr>
              <a:t>Weak scaling:</a:t>
            </a:r>
          </a:p>
          <a:p>
            <a:pPr lvl="1" algn="just"/>
            <a:r>
              <a:rPr lang="en-US" sz="1800" dirty="0">
                <a:latin typeface="Arial" panose="020B0604020202020204" pitchFamily="34" charset="0"/>
                <a:cs typeface="Arial" panose="020B0604020202020204" pitchFamily="34" charset="0"/>
              </a:rPr>
              <a:t>The problem size per processor stays fixed as more processors are added. The total problem size is proportional to the number of processors used.</a:t>
            </a:r>
          </a:p>
          <a:p>
            <a:pPr lvl="1" algn="just"/>
            <a:r>
              <a:rPr lang="en-US" sz="1800" dirty="0">
                <a:latin typeface="Arial" panose="020B0604020202020204" pitchFamily="34" charset="0"/>
                <a:cs typeface="Arial" panose="020B0604020202020204" pitchFamily="34" charset="0"/>
              </a:rPr>
              <a:t>Goal is to run larger problem in same amount of time</a:t>
            </a:r>
          </a:p>
          <a:p>
            <a:pPr lvl="1" algn="just"/>
            <a:r>
              <a:rPr lang="en-US" sz="1800" dirty="0">
                <a:latin typeface="Arial" panose="020B0604020202020204" pitchFamily="34" charset="0"/>
                <a:cs typeface="Arial" panose="020B0604020202020204" pitchFamily="34" charset="0"/>
              </a:rPr>
              <a:t>Perfect scaling means problem </a:t>
            </a:r>
            <a:r>
              <a:rPr lang="en-US" sz="1800" dirty="0" err="1">
                <a:latin typeface="Arial" panose="020B0604020202020204" pitchFamily="34" charset="0"/>
                <a:cs typeface="Arial" panose="020B0604020202020204" pitchFamily="34" charset="0"/>
              </a:rPr>
              <a:t>Px</a:t>
            </a:r>
            <a:r>
              <a:rPr lang="en-US" sz="1800" dirty="0">
                <a:latin typeface="Arial" panose="020B0604020202020204" pitchFamily="34" charset="0"/>
                <a:cs typeface="Arial" panose="020B0604020202020204" pitchFamily="34" charset="0"/>
              </a:rPr>
              <a:t> runs in same time as single processor run</a:t>
            </a:r>
          </a:p>
        </p:txBody>
      </p:sp>
      <p:sp>
        <p:nvSpPr>
          <p:cNvPr id="4" name="Slide Number Placeholder 3"/>
          <p:cNvSpPr>
            <a:spLocks noGrp="1"/>
          </p:cNvSpPr>
          <p:nvPr>
            <p:ph type="sldNum" sz="quarter" idx="12"/>
          </p:nvPr>
        </p:nvSpPr>
        <p:spPr/>
        <p:txBody>
          <a:bodyPr/>
          <a:lstStyle/>
          <a:p>
            <a:fld id="{6C6AE60A-B69C-4790-82F7-3882EDF23186}" type="slidenum">
              <a:rPr lang="de-DE" smtClean="0"/>
              <a:pPr/>
              <a:t>18</a:t>
            </a:fld>
            <a:endParaRPr lang="de-DE"/>
          </a:p>
        </p:txBody>
      </p:sp>
      <p:pic>
        <p:nvPicPr>
          <p:cNvPr id="5" name="Content Placeholder 4"/>
          <p:cNvPicPr>
            <a:picLocks noGrp="1" noChangeAspect="1"/>
          </p:cNvPicPr>
          <p:nvPr>
            <p:ph sz="half" idx="4294967295"/>
          </p:nvPr>
        </p:nvPicPr>
        <p:blipFill>
          <a:blip r:embed="rId2"/>
          <a:stretch>
            <a:fillRect/>
          </a:stretch>
        </p:blipFill>
        <p:spPr>
          <a:xfrm>
            <a:off x="6457950" y="1825625"/>
            <a:ext cx="2443162" cy="4306888"/>
          </a:xfrm>
        </p:spPr>
      </p:pic>
    </p:spTree>
    <p:extLst>
      <p:ext uri="{BB962C8B-B14F-4D97-AF65-F5344CB8AC3E}">
        <p14:creationId xmlns:p14="http://schemas.microsoft.com/office/powerpoint/2010/main" val="2140372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5B9A-D615-4D78-9D1C-511193340F0E}"/>
              </a:ext>
            </a:extLst>
          </p:cNvPr>
          <p:cNvSpPr>
            <a:spLocks noGrp="1"/>
          </p:cNvSpPr>
          <p:nvPr>
            <p:ph type="title"/>
          </p:nvPr>
        </p:nvSpPr>
        <p:spPr>
          <a:xfrm>
            <a:off x="-559191" y="2306470"/>
            <a:ext cx="10515600" cy="1325563"/>
          </a:xfrm>
        </p:spPr>
        <p:txBody>
          <a:bodyPr/>
          <a:lstStyle/>
          <a:p>
            <a:pPr algn="ctr"/>
            <a:r>
              <a:rPr lang="en-US" b="1" i="1" dirty="0"/>
              <a:t>That’s all for today!! </a:t>
            </a:r>
          </a:p>
        </p:txBody>
      </p:sp>
    </p:spTree>
    <p:extLst>
      <p:ext uri="{BB962C8B-B14F-4D97-AF65-F5344CB8AC3E}">
        <p14:creationId xmlns:p14="http://schemas.microsoft.com/office/powerpoint/2010/main" val="199080996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eme1">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85C8782E-8FD1-4DD5-B1D4-2219BDDE01B3}" vid="{796131F4-60EA-4B71-AF3A-7C794936D88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714</TotalTime>
  <Words>1114</Words>
  <Application>Microsoft Office PowerPoint</Application>
  <PresentationFormat>On-screen Show (4:3)</PresentationFormat>
  <Paragraphs>95</Paragraphs>
  <Slides>19</Slides>
  <Notes>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19</vt:i4>
      </vt:variant>
    </vt:vector>
  </HeadingPairs>
  <TitlesOfParts>
    <vt:vector size="29" baseType="lpstr">
      <vt:lpstr>Arial</vt:lpstr>
      <vt:lpstr>Calibri</vt:lpstr>
      <vt:lpstr>Calibri Light</vt:lpstr>
      <vt:lpstr>NewBaskerville-Roman</vt:lpstr>
      <vt:lpstr>Times New Roman</vt:lpstr>
      <vt:lpstr>Univers Com 55</vt:lpstr>
      <vt:lpstr>Wingdings</vt:lpstr>
      <vt:lpstr>1_Office Theme</vt:lpstr>
      <vt:lpstr>Office Theme</vt:lpstr>
      <vt:lpstr>Theme1</vt:lpstr>
      <vt:lpstr>Parallel &amp; Distributed Computing Lecture Week 3: Amdahl’s Law and Profiling</vt:lpstr>
      <vt:lpstr>FLOPS</vt:lpstr>
      <vt:lpstr>FLOPS</vt:lpstr>
      <vt:lpstr>Test</vt:lpstr>
      <vt:lpstr>Example</vt:lpstr>
      <vt:lpstr>Speedup calculations</vt:lpstr>
      <vt:lpstr>Amdahl’s Law</vt:lpstr>
      <vt:lpstr>Example 1</vt:lpstr>
      <vt:lpstr>Example 2</vt:lpstr>
      <vt:lpstr>Amdahl’s Law</vt:lpstr>
      <vt:lpstr>PowerPoint Presentation</vt:lpstr>
      <vt:lpstr>PowerPoint Presentation</vt:lpstr>
      <vt:lpstr>How does parallel computing works?</vt:lpstr>
      <vt:lpstr>Example for Sample Application</vt:lpstr>
      <vt:lpstr>Complexity</vt:lpstr>
      <vt:lpstr>Portability</vt:lpstr>
      <vt:lpstr>Resource Requirements</vt:lpstr>
      <vt:lpstr>Scalability</vt:lpstr>
      <vt:lpstr>That’s all for today!!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Mateen Yaqoob</dc:creator>
  <cp:lastModifiedBy>Farhad Muhammad Riaz</cp:lastModifiedBy>
  <cp:revision>74</cp:revision>
  <dcterms:created xsi:type="dcterms:W3CDTF">2020-09-03T08:42:31Z</dcterms:created>
  <dcterms:modified xsi:type="dcterms:W3CDTF">2024-02-27T12:56:14Z</dcterms:modified>
</cp:coreProperties>
</file>