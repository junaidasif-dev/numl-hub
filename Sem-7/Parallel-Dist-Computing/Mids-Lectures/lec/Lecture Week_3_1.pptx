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333" r:id="rId2"/>
    <p:sldId id="308" r:id="rId3"/>
    <p:sldId id="323" r:id="rId4"/>
    <p:sldId id="309" r:id="rId5"/>
    <p:sldId id="324" r:id="rId6"/>
    <p:sldId id="325" r:id="rId7"/>
    <p:sldId id="326" r:id="rId8"/>
    <p:sldId id="327" r:id="rId9"/>
    <p:sldId id="330" r:id="rId10"/>
    <p:sldId id="331" r:id="rId11"/>
    <p:sldId id="332" r:id="rId12"/>
    <p:sldId id="257" r:id="rId13"/>
    <p:sldId id="258" r:id="rId14"/>
    <p:sldId id="259" r:id="rId15"/>
    <p:sldId id="260" r:id="rId16"/>
    <p:sldId id="262" r:id="rId17"/>
    <p:sldId id="263" r:id="rId18"/>
    <p:sldId id="264" r:id="rId19"/>
    <p:sldId id="265" r:id="rId20"/>
    <p:sldId id="335" r:id="rId21"/>
    <p:sldId id="266" r:id="rId22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69.47675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0-09-17T09:06:46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19782 12473 0,'0'0'0,"-40"0"47,161 0 94,39 0-126,1 40-15,-41-40 16,0 40 0,-39-40-1,-1 40 1,0-40-1,0 0 1,-40 0 0,1 0-16,-1 40 15,0-40 1,0 0 15,0 0 0,40 0-15,-40 0-16,1 0 16,39 0-1,0 0 1,-40 0 0,0 0-16,41 0 31,-41 0-16,0 0-15,-40-40 32,0 0-1,0-40 0,40 40-15,-40-1-1,0 1 1,40 0 0,-40 0-1,40 0-15,-40 0 32,0-40-17,0-1 16,0-39-31,0 0 16,0 0 0,0 79-1,40-39 1,-40 0 0,0 40-1,0 0 1,0-40-1,40-1 17,-40 41-17,0 0 1,0 0-16,0-40 16,0-40 15,0 39-31,0 1 15,0 40 1,0-40 0,0 40-1,0 0 1,0-41 15,0 41-15,0 0 15,0-40-15,0 0 15,0 40-31,0 0 31,0-1-15,-40 41 15,0 0 0,0 0 16,0 0-31,-40 0 15,40 0-15,-1 0-16,1 0 15,0 0 1,0 0 0,0 0-1,0 41 1,-40-41-1,-41 40 1,1 0 0,40 0-1,-1-40-15,1 0 16,40 0 0,-40 0-1,-1 40 1,1-40-16,-40 40 15,-1-40 1,1 40 0,80-40-16,-40 0 15,40 0 1,-1 0 0,-39 0-1,80 40 1,-40-40-16,-40 0 15,40 40 1,0-40 0,-1 0-1,1 0 79,40 40-94,0 1 63,0 39-48,0 40-15,0 0 16,0 81-1,0-41-15,0-79 16,0-1 0,0-40-1,0 0 1,0 0-16,0 40 16,0-40-1,0 1-15,0 79 16,0-40-1,40 40 1,-40-39 0,0-1-1,41-40 1,-41 40 0,40-40-1,-40 0 1,0 0-1,0 1-15,40-1 16,-40 0 15,0 0-31,40 0 16,-40 40 0,0 0-16,0 1 15,0-41 1,0 0-1,0 0 17,0 0-1</inkml:trace>
  <inkml:trace contextRef="#ctx0" brushRef="#br0" timeOffset="17630.5">16331 7339 0,'81'0'203,"39"0"-188,0 0-15,-39 0 16,-1 0 0,-40 40-1,40 0 1,-40-40 0,1 0-1,39 0-15,-40 40 16,0-40-1,40 0 1,1 0 0,-41 41-16,0-41 15,0 0 1,0 0 0,0 0-16,0 0 31,41 0-16,-41 0 1,0 0 0,40 0-1,-40 0 1,0 0 0,0 0-1,1 0 1,-1 40-16,0-40 15,0 0 32,0 0-31,-40 40-16,40-40 31,0 0-15,1 0 15,-1 40 0,0-40-31,0 0 32,0 40-17,0 0 1,0 80-1,41-39 1,-41-1-16,40 0 31,-80 0-15,0 41 0,40-81-16,-40 40 15,40 40 1,-40 1-1,0 39 1,0 0-16,0-79 16,0 39-1,0-40-15,0-40 16,0 0 0,0 41-1,0-1 1,0-40-1,0 40 1,0 0-16,0 0 16,0 1-1,0 39 1,0-40-16,0-40 16,0 41-1,0-41 1,-40 80-1,40-80-15,0 80 16,-40 1 0,0 39-1,40-40 1,-40 1-16,40-41 16,-40 40-1,-1-40 1,41 41-16,-40 79 15,40 41 1,-40-81 0,40-39-1,-40-41 1,40 0 0,-40 0-1,40 1 1,0-41-1,-40-40 1,40 40 343,0 0-312,-40-40-31,0 0 46,40 40-46,-41-40-16,1 40 31,0-40-31,0 0 16,0 40 0,-40 0-1,-41-40 1,41 40-1,0-40-15,-1 0 16,41 0 0,-40 0-16,40 0 15,-40 0 1,40 0 0,-1 0-1,1 0-15,0 0 16,-80 0-1,40 0 1,39 0 0,1-40-16,-40 40 15,40 0 17,0-40-32,40 0 15,-40 0 1,0 0 15,-1 0-15,1-40-16,0 39 15,0 1 1,-40-80-16,40 80 16,0-40-1,-41-41 1,41 41-1,-40-40-15,40-41 16,0 41 0,40-80-16,0 79 15,0 1 1,0 40 0,0-81-1,0 1 1,0-41-1,0-79 1,0 119 0,0-79-1,40 79-15,0 41 16,0 80-16,0 40 47,-40-40 187,0 0-218,0-1-16,0-39 15,0 0 1,0-40-16,0-41 16,40 1-1,-40 40 1,0-1 0,0 41-16,0 0 15,0 40 16,0-41-15,0 1-16,0 0 16,0 0-1,0 0 1,0-1 0,0-39-16,0 40 15,40 0 1,-40-41-16,41 81 15,-1-40 1,-40 40 0,0-40-1,40 40 17,-40 0-17,0-1 1,0 1-1,40 0 17,-40 0-17,40 40-15,-40-40 16,0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0-03T12:48:28.35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13711 8594 0,'0'-39'78,"40"-1"62,-1 40-124,1 0-16,-1 0 16,80-40-1,-79 1 1,0 39 0,39-40-16,-40 40 156,-39-39-141,40 39 1,0 0 0,-40 39 140,0 1-140,0-1-16,39 41 15,1-41 1,-40 1-1,0 39 1,40-79 0,-40 40-1,0-1 17,39-39-17,-39 40 16,0-1-31,40-39 16</inkml:trace>
  <inkml:trace contextRef="#ctx0" brushRef="#br0" timeOffset="1470.37">14900 8159 0,'0'39'109,"0"1"-93,0-1 0,0 1-1,0 0 1,0 39 15,0-40 16,0 1-16,39-40 47,1 0-62,0 0 0,-1 0-1,40 0 1,-39 0 0,0 0-16,-1 0 15,-39-40 141,0-39-140,-39 40 0,-41-41-16,80 41 15,-39 39 1,39-40 0,-40 40 15,1 0-16,-1-39 17</inkml:trace>
  <inkml:trace contextRef="#ctx0" brushRef="#br1" timeOffset="13847.86">20328 8198 0,'0'-39'110,"0"-1"-95,80 40-15,-41-40 16,40 1-1,1 39 1,-1-40 0,-39 40-16,39-40 15,-40 40 17,-39 40 77,0 0-93,0-1-16,-79 41 15,40-1 1,-41 0-1,41-79-15,-1 40 16,40-1 0,-40-39-1,80 0 95,0 0-110,-1 0 15,41 0 1,-1 0 0,-40 0-16,41-39 15,-1 39 1,-39-40-1,-1 40 1,1 0 0,-1 0 15,-39 40 47,0-1-47,0 1 1,0-1-17,0 1-15,0 0 16,0 39 15,0-40-15,0 1-1,-39 0 1,-1-1 0,40 1-1,-39-40 16,-41 0 63,41 0-78,-1 0-1,0 0 1</inkml:trace>
  <inkml:trace contextRef="#ctx0" brushRef="#br1" timeOffset="15606.53">21596 8040 0,'-39'-40'31,"-1"40"0,40 40 94,0-1-109,0 41 0,0-41-1,0 1-15,0-1 16,0 1 0,0 0-1,0-1 48,0 1-48,40-40 17,-1 0 77,1 0-78,0 0-15,-1 0-1,1 0 1,0 0 109,-1-40-78,1 1-31,-40-41-1,0 41-15,0-1 16,39 40-1,-39-39 1,0-1 47,-39 0-32,39 1-16,-40 39 1,1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0-03T12:55:45.38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20447 7327 0,'0'39'62,"-39"-39"-15,-1 40-31,0 0-16,-39-1 15,39-39 16,40 40-31,-79-1 79,0 1-64,0 39 1,39-79-16,0 0 31,40 40-15,-79-40 62,-119 158-63,-40-39 1,80-40 0,79-79-16,-40 119 15,-79 0 1,118-79 0,41 39-1,-1-79-15,0 0 16,-39 39-1,-40 1 1,40-40 0,-40 79-1,-39-39 1,78 39-16,1-39 16,0-40-1,0 39 1,-1 1-1,1-1 1,79 1 0,-79-40-16,0 40 15,39-1 1,-39-39-16,0 79 16,-1-39-1,1-40 1,39 79-1,-78-39-15,38 39 16,41-79 0,-41 79-1,41 0 1,-40-79 0,39 80-1,-39-41 1,79 1-16,-80-40 15,80 39 1,-39-39 0,39 40-16,-40 0 15,1-1 17,-1-39-17,0 40 1,40 0-1,-39-40 1,-41 39 15,1 40 1,40-79-32,39 40 15,-80-40 1,41 79-1,-41-39 1,41-1 0,-1-39 15</inkml:trace>
  <inkml:trace contextRef="#ctx0" brushRef="#br0" timeOffset="15325.94">6024 16436 0,'39'0'140,"1"0"-124,79-40-16,-40 40 16,-39 0-1,39-39 1,40 39-16,-40-40 15,0 40 1,0-39 0,1 39-1,-1 0-15,0-40 16,-39 40 0,39-40-1,0 1 1,1 39-16,-1 0 15,-40-40 1,41 40 0,-1-39-16,0 39 15,0-40 1,40 0 0,-39 1-1,38 39-15,-38 0 16,-41 0-1,41 0 1,-1-40-16,-40 40 16,41 0-1,-41 0 1,41-40 0,38 40-16,-38 0 15,-41 0 1,1 0-1,39 0-15,-39 0 16,-1 0 0,41 0-1,-1-39-15,-39 39 16,39 0 0,-40-40-1,80 40 1,-39 0-16,-41-39 15,40 39 1,-39 0 0,39 0-16,-39 0 15,0 0 1,78 0 0,-78 0-1,39 0-15,-39 0 16,39-40-1,40 40 1,-40 0-16,-39-40 16,0 40 296,-1 0-312,40 0 16,-39 0-1,79-39 1,0-1 0,0 1-16,79 39 15,-40 0 1,1-40 0,-40 0-16,-40 40 15,40-39 1,-40 39-1,0 0 1,1-40-16,-1 1 16,-40 39-1,1-40 1,0 40-16,-1 0 16,1 0-1,0 0 1,39-40-1,0 1-15,-39 39 16,79-40 0,-40 40-1,40-39 1,-80 39-16,41 0 16,-1 0-1,-39 0 1,39 0-1,-40 0 1,41 0 0,-41 0-1,1 0 1,0 0 0,39-40-1,79 40-15,-118 0 250,0 0-234,78 0-16,41 0 15,-40 0 1,39-40 0,1 40-1,79-39-15,-40 39 16,39 0 0,-38-40-1,38 40-15,-78-39 16,-1 39-1,-39 0 1,40 0 0,-80 0-16,40 0 15,-40 0 1,0 0 0,1 0-1,-1 0-15,-40 0 16,41 0-1,-1 0 1,-39 0-16,-1 0 16,1 0-1,39 0 1,0 0 0,-39 0-16,39 0 15,0 0 1,1 0-1,-1 0-15,0 0 16,-39 0 0,39 0-1,40 0 1,-40 0-16,0 0 16,1 39-1,39-39 1,-1 0-16,1 0 15,-39 0 1,38 0 0,-38 0-1,-1 0-15,0 0 16,-39 0 0,-1 0-1,1 0 1,39-39 31</inkml:trace>
  <inkml:trace contextRef="#ctx0" brushRef="#br0" timeOffset="19006.29">6578 16753 0,'40'0'62,"39"0"-46,40-40 0,-40 40-1,1 0-15,38 0 16,1-39 0,0 39-16,0 0 15,-40 0 1,1 0-1,-1 0-15,0 0 16,40 0 0,-40 0-1,-39 0 1,39 0-16,-39 0 16,39 0-1,-39 0 1,-1 0 281,80 0-282,0 0 1,39 0-16,80 0 16,-40 0-1,40-40 1,0 40-1,0 0-15,-40 0 16,-40 0 0,80 0-1,-40 0-15,-39 0 16,78 0 0,41 0-1,-80 0-15,-40 0 16,1 0-1,-1 0 1,-39 0 0,0 0-16,40 0 15,-41 0 1,41-40 0,-40 1-16,0 39 15,0-40 1,0 40-1,-80 0 1,40 0-16,-39 0 16,39 0-1,1 0 1,-1 0-16,79 0 16,-39 0-1,0 0 1,0 0-1,0 0-15,0 0 16,0 0 0,-40 0-1,0 0 1,-39 0 0,-1 0-16,-39-39 46,0-1-30</inkml:trace>
  <inkml:trace contextRef="#ctx0" brushRef="#br0" timeOffset="21908.18">6182 17307 0,'40'-39'16,"-1"-41"-16,80 41 16,-40-1-1,1-39 1,39 79-16,-1-40 16,-38 40-1,39-39 1,-40 39-1,40 0-15,0 0 16,-1 0 0,1 0-1,-39 0-15,38 39 32,1 1-17,0 0 1,-40-1-16,40-39 15,0 0 1,0 40 0,40-1-1,-80-39-15,0 0 16,40 0 0,-79 0-1,39 0-15,-79-39 16,39 39 187,41 0-187,78-40-1,159 1 1,40 39-1,118 0-15,1 0 16,-40 0 0,0 0-1,-40 0-15,79 0 16,-39 39 0,79-39-1,-39 119 1,118-79-16,-118-1 15,-120 1 1,41-40 0,-199 0-16,-79 0 15,39 0 1,-79 0 218,40-40-234,0 40 16,119-39 0,0-41-1,-40 41 1,79-1-16,1 1 15,39 39 1,-80-40 0,41 40-16,-120-40 15,40 40 1,-39 0 0,-40 0-1,0 0-15,-1 0 16,-38 0-1,-1 0 1,40 0-16,0 0 16,0 0-1,39 0 1,-39 0 0,-40 0-16,40 0 15,0-39 1,-40 39-1,0 0-15,40 0 16,-39 0 0,38-40-1,1 40 1,0 0-16,-39 0 16,38 0-1,-38-39 1,39-1-16,-1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21T12:22:31.7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9947 14263 0</inkml:trace>
  <inkml:trace contextRef="#ctx0" brushRef="#br0" timeOffset="9697.01">13047 13965 0</inkml:trace>
  <inkml:trace contextRef="#ctx0" brushRef="#br0" timeOffset="61396.15">12030 13295 0</inkml:trace>
  <inkml:trace contextRef="#ctx0" brushRef="#br0" timeOffset="90078.15">18281 9004 0</inkml:trace>
  <inkml:trace contextRef="#ctx0" brushRef="#br0" timeOffset="117367.33">15081 5730 0</inkml:trace>
  <inkml:trace contextRef="#ctx0" brushRef="#br0" timeOffset="181922.24">16222 4390 0</inkml:trace>
  <inkml:trace contextRef="#ctx0" brushRef="#br0" timeOffset="189218.16">16197 4366 0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3-10-03T12:56:50.70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8678 14971 0,'-39'0'313,"39"-40"593,-40 40-359,1 0-516,78 0 141,-78 0 15,39 40-155,-40-40-1,40-40 47,40 40 94,-1 0-141,-39 40 0,0-1 1,0 1-17,-39-40 1,39-40 46,0 1-46,0-1 0,0 0-1,39 40 157,-39 40-141,0 0 1,0-1-32,0 1 31,0-1-16,-39-39 17,39-39-17,-40-1 1,0-39-16,40 0 16,0-40-1,0 79 1,40 40 156,0 80-141,-40-41 0,0 40-15,0 40-16,-119 0 15,39-40 1,41 0 0,-1-79-16,1 0 31,39-79 0,0-40-31,0 80 16,0-40-1,0 39 1,39 40 93,40 0-93,-39 0-16,39 0 16,-39 0-1,39 0 1,-79 40 78,0-1-79,-39-39 17,39-39 14,0-1-30,0 0 15,0 1-31,39 39 63,1 0 15,-40 39-62,0 1-1,0 0 16,-40-40 63,40-40-78,0 0 15,40 40 78,-1 40-62,-39 39-31,0-39 0,0 39 15,-39-79 16,-1 0-32,1-79 1,-1 0 0,40-40-1,0 79-15,0 1 47,40 39 16,-1 0-63,1 0 15,-1 0 1,1 0-1,0 39 1,-40 1 0,0-1-1,0 1 1,0 79-16,-80-40 16,-38 0-1,-1-39 1,0-1-1,40-39-15,39 0 16,0 0 0,40-118-16,0-1 15,0 40 1,0-1-16,0 41 16,40-1-1,0 1 16,39 39-15,40 0 0,-40 0-1,40 0 1,-80 39 0,-39 1-1,0-1 1,0 41-16,0-41 31,-39 1-15,-1-1-16,1-39 62,39-39-62,0-1 31,0 1-15,0 78 125,0 1-126,0-80 63,0 1-46</inkml:trace>
  <inkml:trace contextRef="#ctx0" brushRef="#br0" timeOffset="30307.53">17317 9980 0,'39'0'47,"41"0"-47,-41-39 15,1 39 1,0 0-1,39 0 1,0 0-16,-39 0 16,-1 0-1,1 0 1,39 0-16,-39 0 16,-1 0-1,41 0 1,-41 0-1,1 0-15,39 0 16,0 0 0,-39 0-1,0 0-15,79 39 16,-80-39 15,1 0-15,-1 0-16,1 40 15,-40 0 17,0-1 15,0 1-32,40-1 1,-40 1-1,0 39 1,39-79-16,-39 40 16,0-1-1,0 1 1,0 39-16,0-39 16,0 39 15,-39-79-31,39 40 15,-80-40 1,41 79 0,-1-40-1,1-39-15,-1 40 16,0-40 0,-39 0-1,0 40 1,39-1-16,-39-39 15,39 0 1,-39 40 0,0-40-16,0 0 15,-1 39 1,1 1 0,39-40-1,-39 0-15,-40 0 16,40 0-1,0 40 1,-40-40-16,40 39 16,-40-39-1,40 0 1,-1 0 0,-39 0-16,1 0 15,38 0 1,1 0-1,0 0-15,39 0 16,-39 0 0,-40 0-1,0 0 1,40 0-16,39-39 16,1 39-1,-41 0-15,41-40 16,-1 40-1,1-40 1,-1-39 0,0 79-1,40-39 1,-39-1 0,-1 40-16,40-40 15,0 1 1,0-1-1,0-39 17,0 39-17,0-39 1,0 40-16,0-41 16,0 1-1,0 40 1,79-1-1,-39-79-15,0 80 16,39-41 0,-40 1-1,41 40-15,-41-1 16,41 0 0,-1 1-1,-40-1 1,1 40-16,39 0 15,-39 0 1,39 0 0,-39 0-16,39 0 15,-39 0 1,-1 0 0,41 0-1,-41 0-15,1 0 16,39 0-1,0 0 1,-39 40-16,39-40 16,0 39-1,1 1 1,-41-40 0,41 79-16,-41-39 31,1-40-16,-1 0-15,1 39 16,0-39 31,-1 0 0,-39 40-32</inkml:trace>
  <inkml:trace contextRef="#ctx0" brushRef="#br0" timeOffset="38401.99">14702 7168 0,'0'40'172,"0"0"-156,0-1 0,39-39-1,-39 40 1,40-40 15,-40 39-15,0 1-1,0 0 1,39-40 0,-39 39-1,0 1 16,40-1-15,-40 1 0,0 0 15</inkml:trace>
  <inkml:trace contextRef="#ctx0" brushRef="#br0" timeOffset="42514.82">12562 15881 0,'0'-39'94,"39"39"-31,41 0-48,-41 0 1,41-40-16,-41 40 16,1 0-1,-1-39 1,1 39-1,0 0-15,-1 0 16,1 0 0,39 0-1,-39 0 17,-40 39-17,39 1 1,-39-1 15,40 1-15,0 0-1,-40-1-15,0 1 16,0 0 0,39-1-1,-39 1 1,0-1-1,0 1 1,0 39 0,0-39-16,0-1 15,0 41 1,0-41 0,0 1-1,0-1-15,0 1 63,0 0-48,-79 39 1,0 0 0,0 0-16,39-39 15,-39-40 1,79 39-1,-40-39 32,0 0-15,-78 40-17,78-40 1,-79 79-16,79-79 15,1 40 1,-41-40 0,41 0-1,-1 0 1,1 0 0,-41 0-1,41-79-15,-41-40 16,41 79-1,-1-39 1,1-40-16,-1 40 16,0 0-1,1-119-15,-1 39 16,40-39 0,0 119-1,40 39-15</inkml:trace>
  <inkml:trace contextRef="#ctx0" brushRef="#br0" timeOffset="44235.03">12522 7842 0,'40'0'125,"-1"0"-110,1 0 1,0 0 15,-40 39 0,0 1 1</inkml:trace>
  <inkml:trace contextRef="#ctx0" brushRef="#br0" timeOffset="46292.51">16524 16000 0,'80'-39'110,"-1"-1"-95,0 40-15,-39-40 16,39 1 0,-39-1-1,-1 40-15,40 0 16,1 0 15,-41 0-15,1 0-16,0 0 15,-1 0 1,1 40 0,-40-1-16,39 1 15,1 39 1,0 1 0,-1-41-1,-39 40-15,0 40 16,0 0-1,40 0 1,-40 0-16,0-1 16,0 1-1,0-40 1,0 1 0,0-1-16,-40 40 15,-39-40 1,39 0-1,1 0-15,-40-39 16,39 39 0,0-79-1,1 40 1,-1-40-16,0 0 94,1 0-63,-40 0-15,-1 0-1,1 0-15,0 0 16,39 0-1,1 0 1,-41 0 0,41 0-16,-1 0 15,-39-40 1,79 0 0,-79 1-16,79-40 15,-40-1 1,0-38-1,1 78 1,39-79-16,0 40 16,0 0-1,0-40 1,0 0 0,0 40-16,0 0 15,0 39 1</inkml:trace>
  <inkml:trace contextRef="#ctx0" brushRef="#br0" timeOffset="49654.1">16762 7248 0,'40'0'156,"-1"39"-124,-39 1-17,0-1 17,0 1-32,0 0 31,0 39-31,0-40 15,-39-39 64,-1-39-64,0-40 1,1-1-16,-1 41 15,1-80 1,39 79 0,0 1-1,0-1 1,39 40 93,1 0-77,39 0-32,0 0 15,-39 0 1,0 79-1,-1-79 1,-39 40-16,40 39 16,-40 0-1,0 1 1,-40-1-16,40 40 16,-79-119-1,39 39 1,1-39-1,-41 0-15,1 0 16,40-79 0,-1 0-1,0 39-15,40-79 16,0 80 15,0-1-15,40 40 31,0 0-47,39 0 15,-40 0 1,1 0 0,0 0-1,-40 40 1,0 39 15,0-39-15,-80-40 15,1 0-15,40 0-16,-1 0 15,40-40 32,0 0-31,40 80 46,39 0-31,-79 39-31,39-40 16,1 41 0,-40-1-1,0-40 1,0 1 15,-40-40 0,1-40-15,-1-39 0,1 0-1,39-40-15,0 0 16,0 1 0,0 78-1,0 0-15,39 40 47,1 0-31,39 0-16,-39 0 15,39 80 1,-39-80 0,-40 79-16,39-79 15,-39 79 1,0-39-1,0-1-15,0 1 16,-119 39 0,0 0-1,40-79 1,-40 0-16,80-39 16,-1-80-1,0-40 1,40 41-1,0-1-15,0 40 16,0 39 0,0 0-1,40 40-15,39 0 16,1 40 0,-41 0-1,80 78 1,-119-78-16,40 0 15,-1-1 1,-39 1 0,0-1-16,0 1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F9EE5-29F7-4936-BB9E-C496A010A518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D85E8A-A197-49EA-96E2-2AD1E68BD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5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figure shows the </a:t>
            </a: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single thread performance, CPU clock frequency (MHz), CPU power consumption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(watts), and the number of CPU cores from 1970 to 2018. The parallel computing era begins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about 2005, when the core count in CPU chips begins to rise, while the clock frequency and</a:t>
            </a:r>
            <a:b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</a:br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power consumption plateaus, yet performance steadily increases.</a:t>
            </a:r>
          </a:p>
          <a:p>
            <a:endParaRPr lang="en-US" sz="1800" b="0" i="0" dirty="0">
              <a:solidFill>
                <a:srgbClr val="656565"/>
              </a:solidFill>
              <a:effectLst/>
              <a:latin typeface="FranklinGothic-Demi"/>
            </a:endParaRPr>
          </a:p>
          <a:p>
            <a:r>
              <a:rPr lang="en-US" sz="1800" b="0" i="0" dirty="0">
                <a:solidFill>
                  <a:srgbClr val="656565"/>
                </a:solidFill>
                <a:effectLst/>
                <a:latin typeface="FranklinGothic-Demi"/>
              </a:rPr>
              <a:t>Hyperthreading: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Having two instruction queues interleaving work to the hardware logic units allows a single physical core to appear as two cores to the operating system (OS).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6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efficient: 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With the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emergence of parallel resources in handheld devices, parallelism can speed up applications. This allows the device to return to sleep mode sooner and permits the use of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slower, but more parallel processors that consume less power. Thus, moving heavyweight multimedia applications to run on GPUs can have a more dramatic effect on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energy efficiency while also resulting in vastly improved performance. The net result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 employing parallelism reduces power consumption and extends battery life, which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is a strong competitive advantage in this market niche.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Another area where energy efficiency is important is with remote sensors, network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devices, and operational field-deployed devices, such as remote weather stations.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Often, without large power supplies, these devices must be able to function in small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packages with few resources. Parallelism expands what can be done on these devices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and offloads the work from the central computing system in a growing trend that is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called </a:t>
            </a:r>
            <a:r>
              <a:rPr lang="en-US" sz="1800" b="0" i="1" dirty="0">
                <a:solidFill>
                  <a:srgbClr val="262626"/>
                </a:solidFill>
                <a:effectLst/>
                <a:latin typeface="NewBaskerville-Italic"/>
              </a:rPr>
              <a:t>edge compute</a:t>
            </a: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. Moving the computation to the very edge of the network enables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processing at the source of the data, condensing it into a smaller result set that can be</a:t>
            </a:r>
            <a:b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</a:br>
            <a:r>
              <a:rPr lang="en-US" sz="1800" b="0" i="0" dirty="0">
                <a:solidFill>
                  <a:srgbClr val="262626"/>
                </a:solidFill>
                <a:effectLst/>
                <a:latin typeface="NewBaskerville-Roman"/>
              </a:rPr>
              <a:t>more easily sent over the network.</a:t>
            </a:r>
            <a:r>
              <a:rPr lang="en-US" dirty="0"/>
              <a:t> </a:t>
            </a:r>
            <a:br>
              <a:rPr lang="en-US" dirty="0"/>
            </a:b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D85E8A-A197-49EA-96E2-2AD1E68BD2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697DB89-CDD6-472D-8A6C-DAA95BB1FA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D1A2CC5-F66F-4FF1-9C12-E4C07F54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94194141-4B13-4C0B-9E9E-4B6DF58F22B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kumimoji="1" lang="en-PK" altLang="en-PK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4CCC10C4-1070-49FF-9EC0-FC19F4D37B5A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95304FCF-25DE-4BD8-A83B-51D9A6ECE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16389DA0-8CD8-4422-9A8F-A93463A81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PK" altLang="en-PK" sz="1800"/>
            </a:p>
          </p:txBody>
        </p:sp>
      </p:grp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1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2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144541-1081-4B27-9E4B-DD51FC1DCE6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0B4F17-C843-4DBB-B859-C77EA1F01CA2}" type="datetime1">
              <a:rPr lang="en-US" smtClean="0"/>
              <a:t>10/3/2023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755DD8-7CD3-439F-A290-5D547A54A7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37CD04-9D5B-417F-A66B-C38A4D2D5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2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4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D41561C-CEBF-48F4-9E28-C4482E17CA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D6111C-B94E-42B8-B445-5EB7C98BDEFA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E5660E3-240B-41E3-888C-1B88C6F55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180715-2C5B-4D99-B35D-5CB9C8F56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AE7B7F9-9B63-4C99-B240-FC12E76B5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B5BEB-004C-45AF-9D38-AF2A5B6958D8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DBDB97-8B17-4504-8ADA-64F907DF67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31478AB-4749-4D3C-8589-3B6D14C30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2362204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4" y="2362204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8D3B876-73DB-429F-B4A5-ACDB21507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F3847-5007-47F7-9DE7-1A8B40CDBD7A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30567E-7D9B-4A0A-8C19-E932DA0EC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332F7B6-D444-4E55-96A6-522A403CF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3D9AB9F-2A0C-4FBB-B382-9C21E1687A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8C468-910D-4313-A10C-FCB0AD170BFD}" type="datetime1">
              <a:rPr lang="en-US" smtClean="0"/>
              <a:t>10/3/2023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A914F3E-D7BB-499F-8AAC-D29CA4F04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07F3BCB4-F714-4117-802E-711CF7676F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582D231-FDF6-426E-A616-698440509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82A-79BD-433F-9B5F-8BCD4EAA65BE}" type="datetime1">
              <a:rPr lang="en-US" smtClean="0"/>
              <a:t>10/3/2023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EDCA115-9E3C-40D4-8912-F4E20DB6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499D514-9105-4111-8B91-F8810A02C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8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939D947-A124-40F1-A1CD-BD82F65EC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1E931-F403-4304-9F63-1E06B9CECA24}" type="datetime1">
              <a:rPr lang="en-US" smtClean="0"/>
              <a:t>10/3/2023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EDE26CF-7FFF-494A-9127-8D239D271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08D1E9E-3392-4D0F-B80B-A17511304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3958604-85A8-4A4E-97A7-ABA204D8D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999AFF-1278-442B-856D-5DA176929955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4B8F9BB-0FC1-41C7-ADBB-7B2886ABC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CABE9D4-E092-4117-9D3B-3D8D4681F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9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5601F-C8A4-4A90-80B4-5F520901F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96CE0-495C-4667-B550-99C326EA790F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2DF7F1E-3D7B-4FB8-A9F7-B9D427D05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AFB0A65-4C06-4F69-91E5-B374EC5B4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3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64D6AB3-0BE0-4AE2-A565-F6DB7E10D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B1E5B-267A-4BE7-9081-5F0AACC5A54F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4E88F6-7B9B-48EF-88D1-8B8546270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FD07A6-C54B-4303-8783-79A5AA51D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8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4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4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454C69-05BB-4376-BF5B-F23F07E40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BFDB41-B124-4EA0-B637-71E64E804772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BE95B74-3904-4687-A858-1857057DF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1F3940-CBCF-4E25-ACC0-395A595B0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3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2" y="2362204"/>
            <a:ext cx="7693025" cy="3724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F77D68F-D4CE-414A-BDA9-E33AB488C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712A5-15C0-46B1-B4C5-317166927FB6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1A1324-E8FC-418E-94C0-85F2BD7D6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9B9D749-3CF9-4C82-90AE-BA2A543AF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99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B2A3329E-0904-47A4-ACB5-5B91293A5A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0FF77DB7-AD29-49C8-93AA-EA0184FC3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D438BB5E-926C-4E0C-9E77-FE8E0784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95302D45-DF44-4885-8F20-439784359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PK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165704AF-ADD4-4E42-9951-9885E2AF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AD015C4F-F9D0-48B2-8315-4799ABF1D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7C227202-0AB4-426A-A6CB-F2C45BDC7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PK" altLang="en-PK" sz="1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A90FCFEC-9F9D-4254-8D92-7B25B6EE3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398F237-95A9-4BFF-B4A1-C78F7FF6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2" y="2362204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D379FF3-7792-4E0A-B32B-CDBBF4ABCF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2" y="6248404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3C9712A5-15C0-46B1-B4C5-317166927FB6}" type="datetime1">
              <a:rPr lang="en-US" smtClean="0"/>
              <a:t>10/3/2023</a:t>
            </a:fld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5F8406A0-86DE-4CF8-BE66-1FC1EC81C1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4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08A31F9-D76D-43DC-8BDE-F2140B37C3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40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8012D027-24A8-4AF6-867F-FA52C9C9E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6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Farhad.Muhammad@numl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5.xml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8AC916-7461-472A-83D2-C4792120EBB9}"/>
              </a:ext>
            </a:extLst>
          </p:cNvPr>
          <p:cNvSpPr txBox="1"/>
          <p:nvPr/>
        </p:nvSpPr>
        <p:spPr>
          <a:xfrm>
            <a:off x="4038278" y="5819024"/>
            <a:ext cx="5528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ctr"/>
            <a:r>
              <a:rPr lang="en-US" sz="2400" b="1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NUML, Islamabad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Farhad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M. </a:t>
            </a:r>
            <a:r>
              <a:rPr lang="en-US" b="1" dirty="0" err="1">
                <a:solidFill>
                  <a:schemeClr val="tx1">
                    <a:lumMod val="75000"/>
                  </a:schemeClr>
                </a:solidFill>
              </a:rPr>
              <a:t>Riaz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hlinkClick r:id="rId2"/>
              </a:rPr>
              <a:t>Farhad.Muhammad@numl.edu.pk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r"/>
            <a:r>
              <a:rPr lang="en-US" sz="2800" dirty="0"/>
              <a:t>Parallel &amp; Distributed Computing</a:t>
            </a:r>
            <a:br>
              <a:rPr lang="en-US" sz="2800" dirty="0"/>
            </a:br>
            <a:r>
              <a:rPr lang="en-US" sz="2800"/>
              <a:t>Lecture 3:</a:t>
            </a:r>
            <a:br>
              <a:rPr lang="en-US" sz="2800" dirty="0"/>
            </a:br>
            <a:r>
              <a:rPr lang="en-US" sz="2800" dirty="0"/>
              <a:t>General </a:t>
            </a:r>
            <a:r>
              <a:rPr lang="en-US" sz="2800"/>
              <a:t>Parallelism Terms </a:t>
            </a:r>
            <a:endParaRPr lang="en-US" sz="2800" dirty="0"/>
          </a:p>
        </p:txBody>
      </p:sp>
      <p:pic>
        <p:nvPicPr>
          <p:cNvPr id="8" name="Picture 2" descr="NUML Logo PNG Vector (EPS) Free Download">
            <a:extLst>
              <a:ext uri="{FF2B5EF4-FFF2-40B4-BE49-F238E27FC236}">
                <a16:creationId xmlns:a16="http://schemas.microsoft.com/office/drawing/2014/main" id="{2D3C8850-28E9-44A6-8D9F-53E817636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44" y="1050131"/>
            <a:ext cx="1927513" cy="178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708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349834" cy="424641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Supercomputing / High Performance Computing (HPC)</a:t>
            </a:r>
          </a:p>
          <a:p>
            <a:pPr lvl="1"/>
            <a:r>
              <a:rPr lang="en-US" dirty="0"/>
              <a:t>Using the world's fastest and largest computers to solve large problems</a:t>
            </a:r>
          </a:p>
          <a:p>
            <a:r>
              <a:rPr lang="en-US" b="1" dirty="0"/>
              <a:t>Node</a:t>
            </a:r>
          </a:p>
          <a:p>
            <a:pPr lvl="1"/>
            <a:r>
              <a:rPr lang="en-US" dirty="0"/>
              <a:t>A standalone "computer in a box". Usually comprised of multiple CPUs/processors/cores, memory, network interfaces, etc. Nodes are networked together to comprise a supercomputer.</a:t>
            </a:r>
          </a:p>
          <a:p>
            <a:r>
              <a:rPr lang="en-US" b="1" dirty="0"/>
              <a:t>CPU / Socket / Processor / Core</a:t>
            </a:r>
          </a:p>
          <a:p>
            <a:pPr lvl="1"/>
            <a:r>
              <a:rPr lang="en-US" dirty="0"/>
              <a:t>In the past, a CPU (Central Processing Unit) was a singular execution component</a:t>
            </a:r>
          </a:p>
          <a:p>
            <a:pPr lvl="1"/>
            <a:r>
              <a:rPr lang="en-US" dirty="0"/>
              <a:t>Then, multiple CPUs were incorporated into a node</a:t>
            </a:r>
          </a:p>
          <a:p>
            <a:pPr lvl="1"/>
            <a:r>
              <a:rPr lang="en-US" dirty="0"/>
              <a:t>Then, individual CPUs were subdivided into multiple "cores", each being a unique execution unit</a:t>
            </a:r>
          </a:p>
          <a:p>
            <a:pPr lvl="1"/>
            <a:r>
              <a:rPr lang="en-US" dirty="0"/>
              <a:t>CPUs with multiple cores are sometimes called "sockets”</a:t>
            </a:r>
          </a:p>
          <a:p>
            <a:pPr lvl="1"/>
            <a:r>
              <a:rPr lang="en-US" dirty="0"/>
              <a:t>The result is a node with multiple CPUs, each containing multiple cores</a:t>
            </a:r>
          </a:p>
        </p:txBody>
      </p:sp>
    </p:spTree>
    <p:extLst>
      <p:ext uri="{BB962C8B-B14F-4D97-AF65-F5344CB8AC3E}">
        <p14:creationId xmlns:p14="http://schemas.microsoft.com/office/powerpoint/2010/main" val="172659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92" y="2468880"/>
            <a:ext cx="6913418" cy="3857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14:cNvPr>
              <p14:cNvContentPartPr/>
              <p14:nvPr/>
            </p14:nvContentPartPr>
            <p14:xfrm>
              <a:off x="4268760" y="2468880"/>
              <a:ext cx="2036880" cy="2209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740248-3D68-45F6-B8FD-DD134C5E88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9400" y="2459520"/>
                <a:ext cx="2055600" cy="22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3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2362204"/>
            <a:ext cx="7225143" cy="3724275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2900" b="1" dirty="0"/>
              <a:t>Task</a:t>
            </a:r>
          </a:p>
          <a:p>
            <a:pPr lvl="1" algn="just"/>
            <a:r>
              <a:rPr lang="en-US" sz="2900" dirty="0"/>
              <a:t>A logically discrete section of computational work. A task is typically a program or program-like set of instructions that is executed by a processor. A parallel program consists of multiple tasks running on multiple processors.</a:t>
            </a:r>
          </a:p>
          <a:p>
            <a:pPr algn="just"/>
            <a:r>
              <a:rPr lang="en-US" sz="2900" b="1" dirty="0"/>
              <a:t>Pipelining</a:t>
            </a:r>
          </a:p>
          <a:p>
            <a:pPr lvl="1" algn="just"/>
            <a:r>
              <a:rPr lang="en-US" sz="2900" dirty="0"/>
              <a:t>Breaking a task into steps performed by different processor units, with inputs streaming through, much like an assembly line; a type of parallel computing.</a:t>
            </a:r>
          </a:p>
          <a:p>
            <a:pPr algn="just"/>
            <a:r>
              <a:rPr lang="en-US" sz="2900" b="1" dirty="0"/>
              <a:t>Shared Memory</a:t>
            </a:r>
          </a:p>
          <a:p>
            <a:pPr lvl="1" algn="just"/>
            <a:r>
              <a:rPr lang="en-US" sz="2900" dirty="0"/>
              <a:t>From a strictly hardware point of view, describes a computer architecture where all processors have direct (usually bus based) access to common physical memory. In a programming sense, it describes a model where parallel tasks all have the same "picture" of memory and can directly address and access the same logical memory locations regardless of where the physical memory actually exists.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Symmetric Multi-Processor (SMP)</a:t>
            </a:r>
          </a:p>
          <a:p>
            <a:pPr lvl="1" algn="just"/>
            <a:r>
              <a:rPr lang="en-US" dirty="0"/>
              <a:t>Shared memory hardware architecture where multiple processors share a single address space and have equal access to all resources.</a:t>
            </a:r>
          </a:p>
          <a:p>
            <a:pPr algn="just"/>
            <a:r>
              <a:rPr lang="en-US" b="1" dirty="0"/>
              <a:t>Distributed Memory</a:t>
            </a:r>
          </a:p>
          <a:p>
            <a:pPr lvl="1" algn="just"/>
            <a:r>
              <a:rPr lang="en-US" dirty="0"/>
              <a:t>In hardware, refers to network based memory access for physical memory that is not common. As a programming model, tasks can only logically "see" local machine memory and must use communications to access memory on other machines where other tasks are executing.</a:t>
            </a:r>
          </a:p>
          <a:p>
            <a:pPr algn="just"/>
            <a:r>
              <a:rPr lang="en-US" b="1" dirty="0"/>
              <a:t>Communications</a:t>
            </a:r>
          </a:p>
          <a:p>
            <a:pPr lvl="1" algn="just"/>
            <a:r>
              <a:rPr lang="en-US" dirty="0"/>
              <a:t>Parallel tasks typically need to exchange data. There are several ways this can be accomplished, such as through a shared memory bus or over a network, however the actual event of data exchange is commonly referred to as communications regardless of the method employed</a:t>
            </a:r>
          </a:p>
        </p:txBody>
      </p:sp>
    </p:spTree>
    <p:extLst>
      <p:ext uri="{BB962C8B-B14F-4D97-AF65-F5344CB8AC3E}">
        <p14:creationId xmlns:p14="http://schemas.microsoft.com/office/powerpoint/2010/main" val="127434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07516"/>
            <a:ext cx="766156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Synchronization</a:t>
            </a:r>
          </a:p>
          <a:p>
            <a:pPr lvl="1"/>
            <a:r>
              <a:rPr lang="en-US" sz="1800" dirty="0"/>
              <a:t>The coordination of parallel tasks in real time, very often associated with communications. </a:t>
            </a:r>
          </a:p>
          <a:p>
            <a:pPr lvl="1"/>
            <a:r>
              <a:rPr lang="en-US" sz="1800" dirty="0"/>
              <a:t>Often implemented by establishing a synchronization point within an application where a task may not proceed further until another task(s) reaches the same or logically equivalent point.</a:t>
            </a:r>
          </a:p>
          <a:p>
            <a:pPr lvl="1"/>
            <a:r>
              <a:rPr lang="en-US" sz="1800" dirty="0"/>
              <a:t>Synchronization usually involves waiting by at least one task and can therefore cause a parallel application's wall clock execution time to increase.</a:t>
            </a:r>
          </a:p>
          <a:p>
            <a:r>
              <a:rPr lang="en-US" sz="2400" b="1" dirty="0"/>
              <a:t>Granularity</a:t>
            </a:r>
          </a:p>
          <a:p>
            <a:pPr lvl="1"/>
            <a:r>
              <a:rPr lang="en-US" sz="1800" dirty="0"/>
              <a:t>granularity is a qualitative measure of the ratio of computation to communication</a:t>
            </a:r>
          </a:p>
          <a:p>
            <a:pPr lvl="1"/>
            <a:r>
              <a:rPr lang="en-US" sz="1800" b="1" i="1" dirty="0"/>
              <a:t>Coarse: </a:t>
            </a:r>
            <a:r>
              <a:rPr lang="en-US" sz="1800" dirty="0"/>
              <a:t>relatively large amounts of computational work are done between communication events</a:t>
            </a:r>
          </a:p>
          <a:p>
            <a:pPr lvl="1"/>
            <a:r>
              <a:rPr lang="en-US" sz="1800" b="1" i="1" dirty="0"/>
              <a:t>Fine:</a:t>
            </a:r>
            <a:r>
              <a:rPr lang="en-US" sz="1800" dirty="0"/>
              <a:t> relatively small amounts of computational work are done between communication events</a:t>
            </a:r>
          </a:p>
          <a:p>
            <a:r>
              <a:rPr lang="en-US" sz="2400" b="1" dirty="0"/>
              <a:t>Observed Speedup</a:t>
            </a:r>
          </a:p>
          <a:p>
            <a:pPr lvl="1"/>
            <a:r>
              <a:rPr lang="en-US" sz="1800" dirty="0"/>
              <a:t>Observed speedup of a code which has been parallelized, defined as:</a:t>
            </a:r>
          </a:p>
          <a:p>
            <a:pPr marL="0" indent="0">
              <a:buNone/>
            </a:pPr>
            <a:r>
              <a:rPr lang="en-US" sz="2400" dirty="0"/>
              <a:t>		wall-clock time of serial execution</a:t>
            </a:r>
          </a:p>
          <a:p>
            <a:pPr marL="0" indent="0">
              <a:buNone/>
            </a:pPr>
            <a:r>
              <a:rPr lang="en-US" sz="2400" dirty="0"/>
              <a:t>		    -----------------------------------</a:t>
            </a:r>
          </a:p>
          <a:p>
            <a:pPr marL="0" indent="0">
              <a:buNone/>
            </a:pPr>
            <a:r>
              <a:rPr lang="en-US" sz="2400" dirty="0"/>
              <a:t>		wall-clock time of parallel execution</a:t>
            </a:r>
          </a:p>
          <a:p>
            <a:pPr lvl="1"/>
            <a:r>
              <a:rPr lang="en-US" sz="1800" dirty="0"/>
              <a:t>One of the simplest and most widely used indicators for a parallel program's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3950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6989616" cy="405245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Parallel Overhead</a:t>
            </a:r>
          </a:p>
          <a:p>
            <a:pPr lvl="1" algn="just"/>
            <a:r>
              <a:rPr lang="en-US" dirty="0"/>
              <a:t>The amount of time required to coordinate parallel tasks, as opposed to doing useful work. Parallel overhead can include factors such Task start-up time</a:t>
            </a:r>
          </a:p>
          <a:p>
            <a:pPr lvl="2" algn="just"/>
            <a:r>
              <a:rPr lang="en-US" dirty="0"/>
              <a:t>Synchronizations</a:t>
            </a:r>
          </a:p>
          <a:p>
            <a:pPr lvl="2" algn="just"/>
            <a:r>
              <a:rPr lang="en-US" dirty="0"/>
              <a:t>Data communications</a:t>
            </a:r>
          </a:p>
          <a:p>
            <a:pPr lvl="2" algn="just"/>
            <a:r>
              <a:rPr lang="en-US" dirty="0"/>
              <a:t>Software overhead imposed by parallel languages, libraries, operating system, etc.</a:t>
            </a:r>
          </a:p>
          <a:p>
            <a:pPr lvl="2" algn="just"/>
            <a:r>
              <a:rPr lang="en-US" dirty="0"/>
              <a:t>Task termination time</a:t>
            </a:r>
          </a:p>
          <a:p>
            <a:pPr algn="just"/>
            <a:r>
              <a:rPr lang="en-US" b="1" dirty="0"/>
              <a:t>Massively Parallel</a:t>
            </a:r>
          </a:p>
          <a:p>
            <a:pPr lvl="1" algn="just"/>
            <a:r>
              <a:rPr lang="en-US" dirty="0"/>
              <a:t>Refers to the hardware that comprises a given parallel system - having many processing elements. The meaning of "many" keeps increasing, but currently, the largest parallel computers are comprised of processing elements numbering in the hundreds of thousands </a:t>
            </a:r>
          </a:p>
          <a:p>
            <a:pPr algn="just"/>
            <a:r>
              <a:rPr lang="en-US" b="1" dirty="0"/>
              <a:t>Embarrassingly Parallel</a:t>
            </a:r>
          </a:p>
          <a:p>
            <a:pPr lvl="1" algn="just"/>
            <a:r>
              <a:rPr lang="en-US" dirty="0"/>
              <a:t>Solving many similar, but independent tasks simultaneously; little to no need for coordination between the tasks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812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General Parallel Terminology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3" y="2362204"/>
            <a:ext cx="7045034" cy="399703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Scalability </a:t>
            </a:r>
          </a:p>
          <a:p>
            <a:pPr lvl="1" algn="just"/>
            <a:r>
              <a:rPr lang="en-US" dirty="0"/>
              <a:t>Refers to a parallel system's (hardware and/or software) ability to demonstrate a proportionate increase in parallel speedup with the addition of more resources. Factors that contribute to scalability include:</a:t>
            </a:r>
          </a:p>
          <a:p>
            <a:pPr lvl="2" algn="just"/>
            <a:r>
              <a:rPr lang="en-US" dirty="0"/>
              <a:t>Hardware - particularly memory-CPU bandwidths and network communication properties</a:t>
            </a:r>
          </a:p>
          <a:p>
            <a:pPr lvl="2" algn="just"/>
            <a:r>
              <a:rPr lang="en-US" dirty="0"/>
              <a:t>Application algorithm</a:t>
            </a:r>
          </a:p>
          <a:p>
            <a:pPr lvl="2" algn="just"/>
            <a:r>
              <a:rPr lang="en-US" dirty="0"/>
              <a:t>Parallel overhead related</a:t>
            </a:r>
          </a:p>
          <a:p>
            <a:pPr lvl="2" algn="just"/>
            <a:r>
              <a:rPr lang="en-US" dirty="0"/>
              <a:t>Characteristics of your specific application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8307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46A33-3F43-3E73-D231-294BCEE5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Parallel Computing is necessary?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22F8-D245-2DD0-ABF9-A40ECC9D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36379"/>
            <a:ext cx="4405745" cy="4081174"/>
          </a:xfrm>
        </p:spPr>
        <p:txBody>
          <a:bodyPr/>
          <a:lstStyle/>
          <a:p>
            <a:r>
              <a:rPr lang="en-US" dirty="0"/>
              <a:t>Rise of multi-core computing machines</a:t>
            </a:r>
          </a:p>
          <a:p>
            <a:r>
              <a:rPr lang="en-US" dirty="0"/>
              <a:t>Under-utilization of resources</a:t>
            </a:r>
          </a:p>
          <a:p>
            <a:r>
              <a:rPr lang="en-US" dirty="0"/>
              <a:t>Hyperthreading, introduced by Intel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34CED-E546-255D-FEF8-321B9E9D1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2506662"/>
            <a:ext cx="3449783" cy="390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A9AF-ED38-C1EC-4B6F-9FEAD7390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B51F-66A5-AFF2-4D99-8B237542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54" y="2418833"/>
            <a:ext cx="4033959" cy="400967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Let’s take a 16-core CPU with hyperthreading and a 256 bit-wide vector unit, commonly found in home desktops. A serial program using a single core and no vectorization only uses 0.8% of the theoretical processing capability of this processor. </a:t>
            </a:r>
          </a:p>
          <a:p>
            <a:r>
              <a:rPr lang="en-US" dirty="0"/>
              <a:t>The calculation is </a:t>
            </a:r>
          </a:p>
          <a:p>
            <a:pPr lvl="1"/>
            <a:r>
              <a:rPr lang="en-US" dirty="0"/>
              <a:t>16 cores × 2 </a:t>
            </a:r>
            <a:r>
              <a:rPr lang="en-US" dirty="0" err="1"/>
              <a:t>hyperthreads</a:t>
            </a:r>
            <a:r>
              <a:rPr lang="en-US" dirty="0"/>
              <a:t> × (256 bit-wide vector unit)/(64-bit double) = 128-way parallelism</a:t>
            </a:r>
            <a:br>
              <a:rPr lang="en-US" dirty="0"/>
            </a:br>
            <a:r>
              <a:rPr lang="en-US" dirty="0"/>
              <a:t>where 1 serial path/128 parallel paths = .008 or 0.8%. The following figure shows that this is a small fraction of the total CPU processing power. </a:t>
            </a:r>
            <a:endParaRPr lang="LID40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3D21D-6A1B-E850-C13C-F2D0E9A0F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213" y="2418833"/>
            <a:ext cx="3865417" cy="34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4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33CE-0BAB-AEBB-D6A2-8DE65B01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Parallel Computing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C779-2318-968C-F37D-4FB08FC08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Lesser execution time with multiple cores</a:t>
            </a:r>
          </a:p>
          <a:p>
            <a:r>
              <a:rPr lang="en-US" dirty="0"/>
              <a:t>Solve larger and complex problems </a:t>
            </a:r>
          </a:p>
          <a:p>
            <a:r>
              <a:rPr lang="en-US" dirty="0"/>
              <a:t>Energy efficient system</a:t>
            </a:r>
          </a:p>
          <a:p>
            <a:r>
              <a:rPr lang="en-US" dirty="0"/>
              <a:t>Cost reduction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4453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441" y="1369106"/>
            <a:ext cx="2989180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35" y="2426588"/>
            <a:ext cx="8122285" cy="11990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 algn="just">
              <a:spcBef>
                <a:spcPts val="86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3200" spc="5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of theoretical peak</a:t>
            </a:r>
            <a:r>
              <a:rPr sz="3200" spc="-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107" y="3870579"/>
            <a:ext cx="914535" cy="2223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031" y="3965587"/>
            <a:ext cx="209629" cy="84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9419" y="3874565"/>
            <a:ext cx="863639" cy="2161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23295" y="3927280"/>
            <a:ext cx="160740" cy="1588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5131" y="3754625"/>
            <a:ext cx="607110" cy="1476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5761" y="3998703"/>
            <a:ext cx="785625" cy="2902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17178" y="3926619"/>
            <a:ext cx="156905" cy="1599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8302" y="3673828"/>
            <a:ext cx="839900" cy="615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63076" y="3927280"/>
            <a:ext cx="160740" cy="1588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60045" y="3683557"/>
            <a:ext cx="876066" cy="22241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45542" y="3998703"/>
            <a:ext cx="905613" cy="343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904" y="1442848"/>
            <a:ext cx="2672357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25" dirty="0"/>
              <a:t>FLOPS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904" y="2280978"/>
            <a:ext cx="7647530" cy="40722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only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sometimes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socket;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(desktop</a:t>
            </a:r>
            <a:r>
              <a:rPr sz="20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marL="355600" algn="just">
              <a:lnSpc>
                <a:spcPts val="2425"/>
              </a:lnSpc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laptop),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“sockets”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</a:t>
            </a:r>
            <a:r>
              <a:rPr sz="2000" spc="6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0320" indent="-342900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 per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 on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(dual-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3, 4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(quad-core),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(hexa-core),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8.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 prototype CPUs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80</a:t>
            </a:r>
            <a:r>
              <a:rPr sz="2000" spc="8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79375" indent="-342900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“Clock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 second” </a:t>
            </a:r>
            <a:r>
              <a:rPr sz="2000" spc="-3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 of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CPUs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rated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gigahertz.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GHz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2,000,000,000 </a:t>
            </a:r>
            <a:r>
              <a:rPr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cycles per</a:t>
            </a:r>
            <a:r>
              <a:rPr sz="2000" spc="7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61594" indent="-342900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0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depends on the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CPU.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</a:t>
            </a:r>
            <a:r>
              <a:rPr sz="20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fastest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(home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computer) CPUs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sz="20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 </a:t>
            </a:r>
            <a:r>
              <a:rPr sz="20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i7–970, capable of 4 double-precision or 8 single-precision  </a:t>
            </a:r>
            <a:r>
              <a:rPr sz="20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floating-point operations per cycle.</a:t>
            </a:r>
            <a:endParaRPr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532" y="1141655"/>
            <a:ext cx="1599681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395" dirty="0"/>
              <a:t>T</a:t>
            </a:r>
            <a:r>
              <a:rPr dirty="0"/>
              <a:t>e</a:t>
            </a:r>
            <a:r>
              <a:rPr spc="-40" dirty="0"/>
              <a:t>s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5062" y="2728604"/>
            <a:ext cx="8236585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32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 and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floating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</a:t>
            </a:r>
            <a:r>
              <a:rPr lang="en-US"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second, calculate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</a:t>
            </a: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this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30" y="461903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711" y="2330479"/>
            <a:ext cx="7704102" cy="40966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i7–970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cores.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it is running</a:t>
            </a:r>
            <a:r>
              <a:rPr sz="2800" spc="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just">
              <a:spcBef>
                <a:spcPts val="5"/>
              </a:spcBef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3.46 GHz, the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</a:t>
            </a:r>
            <a:r>
              <a:rPr sz="2800" spc="6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be: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60985" indent="-342900" algn="just"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sz="28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(socket)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6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(cores)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3,460,000,000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(cycles  per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8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(single-precision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 second)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166,080,000,000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single-precision 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</a:t>
            </a: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83,040,000,000 </a:t>
            </a:r>
            <a:r>
              <a:rPr sz="28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double- 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precision </a:t>
            </a:r>
            <a:r>
              <a:rPr sz="28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8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7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109</a:t>
            </a:r>
            <a:r>
              <a:rPr sz="2800" spc="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GFLOPS.</a:t>
            </a:r>
            <a:endParaRPr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352" y="2476755"/>
            <a:ext cx="7838064" cy="43351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z="3200" spc="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calculations</a:t>
            </a:r>
            <a:endParaRPr lang="en-US" sz="3200" spc="-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theoretical speedup of the execution of the whole task;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speedup of the part of the task that benefits from improved system resources;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the proportion of execution time that the part benefiting from improved resources originally occupied.</a:t>
            </a:r>
          </a:p>
          <a:p>
            <a:pPr marL="35560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32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398" y="3829715"/>
            <a:ext cx="1351947" cy="5146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5265" y="3813339"/>
            <a:ext cx="536920" cy="5078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575939" y="3996092"/>
            <a:ext cx="363220" cy="144780"/>
          </a:xfrm>
          <a:custGeom>
            <a:avLst/>
            <a:gdLst/>
            <a:ahLst/>
            <a:cxnLst/>
            <a:rect l="l" t="t" r="r" b="b"/>
            <a:pathLst>
              <a:path w="363220" h="144779">
                <a:moveTo>
                  <a:pt x="361848" y="115595"/>
                </a:moveTo>
                <a:lnTo>
                  <a:pt x="356743" y="110502"/>
                </a:lnTo>
                <a:lnTo>
                  <a:pt x="352475" y="106248"/>
                </a:lnTo>
                <a:lnTo>
                  <a:pt x="337566" y="91376"/>
                </a:lnTo>
                <a:lnTo>
                  <a:pt x="23012" y="91376"/>
                </a:lnTo>
                <a:lnTo>
                  <a:pt x="88" y="114236"/>
                </a:lnTo>
                <a:lnTo>
                  <a:pt x="18300" y="144500"/>
                </a:lnTo>
                <a:lnTo>
                  <a:pt x="338670" y="144500"/>
                </a:lnTo>
                <a:lnTo>
                  <a:pt x="351193" y="128892"/>
                </a:lnTo>
                <a:lnTo>
                  <a:pt x="354012" y="125374"/>
                </a:lnTo>
                <a:lnTo>
                  <a:pt x="331724" y="125374"/>
                </a:lnTo>
                <a:lnTo>
                  <a:pt x="334746" y="123964"/>
                </a:lnTo>
                <a:lnTo>
                  <a:pt x="334860" y="123799"/>
                </a:lnTo>
                <a:lnTo>
                  <a:pt x="355282" y="123799"/>
                </a:lnTo>
                <a:lnTo>
                  <a:pt x="361848" y="115595"/>
                </a:lnTo>
                <a:close/>
              </a:path>
              <a:path w="363220" h="144779">
                <a:moveTo>
                  <a:pt x="363105" y="25501"/>
                </a:moveTo>
                <a:lnTo>
                  <a:pt x="354596" y="17005"/>
                </a:lnTo>
                <a:lnTo>
                  <a:pt x="351066" y="13487"/>
                </a:lnTo>
                <a:lnTo>
                  <a:pt x="337566" y="0"/>
                </a:lnTo>
                <a:lnTo>
                  <a:pt x="35204" y="0"/>
                </a:lnTo>
                <a:lnTo>
                  <a:pt x="35204" y="35699"/>
                </a:lnTo>
                <a:lnTo>
                  <a:pt x="35166" y="34404"/>
                </a:lnTo>
                <a:lnTo>
                  <a:pt x="35204" y="35699"/>
                </a:lnTo>
                <a:lnTo>
                  <a:pt x="35204" y="0"/>
                </a:lnTo>
                <a:lnTo>
                  <a:pt x="19431" y="0"/>
                </a:lnTo>
                <a:lnTo>
                  <a:pt x="0" y="25844"/>
                </a:lnTo>
                <a:lnTo>
                  <a:pt x="21907" y="53124"/>
                </a:lnTo>
                <a:lnTo>
                  <a:pt x="181470" y="53124"/>
                </a:lnTo>
                <a:lnTo>
                  <a:pt x="337654" y="50888"/>
                </a:lnTo>
                <a:lnTo>
                  <a:pt x="351053" y="37515"/>
                </a:lnTo>
                <a:lnTo>
                  <a:pt x="354584" y="33997"/>
                </a:lnTo>
                <a:lnTo>
                  <a:pt x="363105" y="2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28897" y="4052733"/>
            <a:ext cx="2402205" cy="28575"/>
          </a:xfrm>
          <a:custGeom>
            <a:avLst/>
            <a:gdLst/>
            <a:ahLst/>
            <a:cxnLst/>
            <a:rect l="l" t="t" r="r" b="b"/>
            <a:pathLst>
              <a:path w="2402204" h="28575">
                <a:moveTo>
                  <a:pt x="2402192" y="0"/>
                </a:moveTo>
                <a:lnTo>
                  <a:pt x="0" y="0"/>
                </a:lnTo>
                <a:lnTo>
                  <a:pt x="0" y="28387"/>
                </a:lnTo>
                <a:lnTo>
                  <a:pt x="2402192" y="28387"/>
                </a:lnTo>
                <a:lnTo>
                  <a:pt x="2402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3622" y="3534965"/>
            <a:ext cx="198281" cy="34849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5548" y="4246837"/>
            <a:ext cx="377097" cy="50786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709507" y="4450845"/>
            <a:ext cx="325755" cy="76835"/>
          </a:xfrm>
          <a:custGeom>
            <a:avLst/>
            <a:gdLst/>
            <a:ahLst/>
            <a:cxnLst/>
            <a:rect l="l" t="t" r="r" b="b"/>
            <a:pathLst>
              <a:path w="325754" h="76835">
                <a:moveTo>
                  <a:pt x="325259" y="52044"/>
                </a:moveTo>
                <a:lnTo>
                  <a:pt x="319493" y="42506"/>
                </a:lnTo>
                <a:lnTo>
                  <a:pt x="318465" y="40805"/>
                </a:lnTo>
                <a:lnTo>
                  <a:pt x="307936" y="23380"/>
                </a:lnTo>
                <a:lnTo>
                  <a:pt x="17640" y="23380"/>
                </a:lnTo>
                <a:lnTo>
                  <a:pt x="0" y="0"/>
                </a:lnTo>
                <a:lnTo>
                  <a:pt x="0" y="46291"/>
                </a:lnTo>
                <a:lnTo>
                  <a:pt x="0" y="57378"/>
                </a:lnTo>
                <a:lnTo>
                  <a:pt x="14897" y="57378"/>
                </a:lnTo>
                <a:lnTo>
                  <a:pt x="3403" y="61201"/>
                </a:lnTo>
                <a:lnTo>
                  <a:pt x="15049" y="76504"/>
                </a:lnTo>
                <a:lnTo>
                  <a:pt x="306793" y="76504"/>
                </a:lnTo>
                <a:lnTo>
                  <a:pt x="319455" y="59728"/>
                </a:lnTo>
                <a:lnTo>
                  <a:pt x="321233" y="57378"/>
                </a:lnTo>
                <a:lnTo>
                  <a:pt x="325259" y="52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4001" y="4246837"/>
            <a:ext cx="431400" cy="50786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698075" y="4325242"/>
            <a:ext cx="357505" cy="351155"/>
          </a:xfrm>
          <a:custGeom>
            <a:avLst/>
            <a:gdLst/>
            <a:ahLst/>
            <a:cxnLst/>
            <a:rect l="l" t="t" r="r" b="b"/>
            <a:pathLst>
              <a:path w="357504" h="351154">
                <a:moveTo>
                  <a:pt x="357365" y="177850"/>
                </a:moveTo>
                <a:lnTo>
                  <a:pt x="349592" y="168109"/>
                </a:lnTo>
                <a:lnTo>
                  <a:pt x="346786" y="164592"/>
                </a:lnTo>
                <a:lnTo>
                  <a:pt x="334352" y="148983"/>
                </a:lnTo>
                <a:lnTo>
                  <a:pt x="202539" y="148983"/>
                </a:lnTo>
                <a:lnTo>
                  <a:pt x="202539" y="23609"/>
                </a:lnTo>
                <a:lnTo>
                  <a:pt x="202539" y="17233"/>
                </a:lnTo>
                <a:lnTo>
                  <a:pt x="179527" y="0"/>
                </a:lnTo>
                <a:lnTo>
                  <a:pt x="149136" y="12103"/>
                </a:lnTo>
                <a:lnTo>
                  <a:pt x="149136" y="148983"/>
                </a:lnTo>
                <a:lnTo>
                  <a:pt x="17614" y="148983"/>
                </a:lnTo>
                <a:lnTo>
                  <a:pt x="15773" y="151231"/>
                </a:lnTo>
                <a:lnTo>
                  <a:pt x="0" y="135547"/>
                </a:lnTo>
                <a:lnTo>
                  <a:pt x="0" y="170624"/>
                </a:lnTo>
                <a:lnTo>
                  <a:pt x="0" y="182981"/>
                </a:lnTo>
                <a:lnTo>
                  <a:pt x="18707" y="182981"/>
                </a:lnTo>
                <a:lnTo>
                  <a:pt x="5105" y="188620"/>
                </a:lnTo>
                <a:lnTo>
                  <a:pt x="18745" y="202107"/>
                </a:lnTo>
                <a:lnTo>
                  <a:pt x="149136" y="202107"/>
                </a:lnTo>
                <a:lnTo>
                  <a:pt x="149136" y="335978"/>
                </a:lnTo>
                <a:lnTo>
                  <a:pt x="169024" y="350850"/>
                </a:lnTo>
                <a:lnTo>
                  <a:pt x="182651" y="350850"/>
                </a:lnTo>
                <a:lnTo>
                  <a:pt x="202539" y="335978"/>
                </a:lnTo>
                <a:lnTo>
                  <a:pt x="202539" y="327469"/>
                </a:lnTo>
                <a:lnTo>
                  <a:pt x="202539" y="320243"/>
                </a:lnTo>
                <a:lnTo>
                  <a:pt x="202539" y="202107"/>
                </a:lnTo>
                <a:lnTo>
                  <a:pt x="333209" y="202107"/>
                </a:lnTo>
                <a:lnTo>
                  <a:pt x="348018" y="187223"/>
                </a:lnTo>
                <a:lnTo>
                  <a:pt x="352259" y="182981"/>
                </a:lnTo>
                <a:lnTo>
                  <a:pt x="357365" y="177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4232" y="4176943"/>
            <a:ext cx="231478" cy="33756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55143" y="4618113"/>
            <a:ext cx="157659" cy="1859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960" y="2492168"/>
            <a:ext cx="8056880" cy="389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30% of the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the 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0.3;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twice as  </a:t>
            </a:r>
            <a:r>
              <a:rPr sz="3600" spc="-2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fast, </a:t>
            </a:r>
            <a:r>
              <a:rPr sz="36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2.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</a:t>
            </a:r>
            <a:r>
              <a:rPr sz="36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states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 </a:t>
            </a:r>
            <a:r>
              <a:rPr sz="36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 of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the </a:t>
            </a:r>
            <a:r>
              <a:rPr sz="36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improvement  </a:t>
            </a:r>
            <a:r>
              <a:rPr sz="3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36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be?</a:t>
            </a:r>
            <a:endParaRPr sz="3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563" y="910665"/>
            <a:ext cx="7886700" cy="622863"/>
          </a:xfrm>
          <a:prstGeom prst="rect">
            <a:avLst/>
          </a:prstGeom>
        </p:spPr>
        <p:txBody>
          <a:bodyPr vert="horz" wrap="square" lIns="0" tIns="1333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5" dirty="0"/>
              <a:t>Example</a:t>
            </a:r>
            <a:r>
              <a:rPr spc="-6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4838" y="2295730"/>
            <a:ext cx="8058150" cy="3940822"/>
          </a:xfrm>
          <a:prstGeom prst="rect">
            <a:avLst/>
          </a:prstGeom>
        </p:spPr>
        <p:txBody>
          <a:bodyPr vert="horz" wrap="square" lIns="0" tIns="6223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55600" marR="5080" algn="just">
              <a:spcBef>
                <a:spcPts val="4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Assume that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given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serial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task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which is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split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into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four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consecutive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parts,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whose 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percentages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0.11, 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0.18,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0.23, and </a:t>
            </a:r>
            <a:r>
              <a:rPr i="1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0.48 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respectively.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told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1st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not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 = 1, while the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2nd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 = 5, 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3rd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up 20 times, 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 = 20, and the 4th 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part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sped up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1.6 times,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 =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1.6.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using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Amdahl's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law,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spc="-5" dirty="0">
                <a:latin typeface="Arial" panose="020B0604020202020204" pitchFamily="34" charset="0"/>
                <a:cs typeface="Arial" panose="020B0604020202020204" pitchFamily="34" charset="0"/>
              </a:rPr>
              <a:t>speedup</a:t>
            </a:r>
            <a:r>
              <a:rPr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spcBef>
                <a:spcPts val="105"/>
              </a:spcBef>
            </a:pPr>
            <a:r>
              <a:rPr spc="-35" dirty="0"/>
              <a:t>Amdahl’s</a:t>
            </a:r>
            <a:r>
              <a:rPr spc="-70" dirty="0"/>
              <a:t> </a:t>
            </a:r>
            <a:r>
              <a:rPr spc="-10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5" y="2482214"/>
            <a:ext cx="6858000" cy="2609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2F37E1-E6DC-1E47-058E-C304F1BF16A2}"/>
                  </a:ext>
                </a:extLst>
              </p14:cNvPr>
              <p14:cNvContentPartPr/>
              <p14:nvPr/>
            </p14:nvContentPartPr>
            <p14:xfrm>
              <a:off x="4935960" y="2865600"/>
              <a:ext cx="2953080" cy="328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2F37E1-E6DC-1E47-058E-C304F1BF16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6600" y="2856240"/>
                <a:ext cx="2971800" cy="34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7BD44-CCBA-932D-4D6F-A38538C1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67" y="2374491"/>
            <a:ext cx="6960775" cy="42985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D71514-9E15-5CF7-8F08-02ED5C48197A}"/>
                  </a:ext>
                </a:extLst>
              </p14:cNvPr>
              <p14:cNvContentPartPr/>
              <p14:nvPr/>
            </p14:nvContentPartPr>
            <p14:xfrm>
              <a:off x="2168640" y="2637720"/>
              <a:ext cx="5720400" cy="360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D71514-9E15-5CF7-8F08-02ED5C4819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9280" y="2628360"/>
                <a:ext cx="5739120" cy="36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92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2330245"/>
            <a:ext cx="6563954" cy="38751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14:cNvPr>
              <p14:cNvContentPartPr/>
              <p14:nvPr/>
            </p14:nvContentPartPr>
            <p14:xfrm>
              <a:off x="2056920" y="1571760"/>
              <a:ext cx="3000600" cy="356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26EB1F-786A-4403-81D7-B3B5DC8F4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7560" y="1562400"/>
                <a:ext cx="3019320" cy="35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E7DBB7-A612-B5A8-897B-020221DF7A91}"/>
                  </a:ext>
                </a:extLst>
              </p14:cNvPr>
              <p14:cNvContentPartPr/>
              <p14:nvPr/>
            </p14:nvContentPartPr>
            <p14:xfrm>
              <a:off x="2938680" y="2509200"/>
              <a:ext cx="3809160" cy="385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E7DBB7-A612-B5A8-897B-020221DF7A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9320" y="2499840"/>
                <a:ext cx="3827880" cy="386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85C8782E-8FD1-4DD5-B1D4-2219BDDE01B3}" vid="{796131F4-60EA-4B71-AF3A-7C794936D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677</TotalTime>
  <Words>1697</Words>
  <Application>Microsoft Office PowerPoint</Application>
  <PresentationFormat>On-screen Show (4:3)</PresentationFormat>
  <Paragraphs>115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FranklinGothic-Demi</vt:lpstr>
      <vt:lpstr>NewBaskerville-Italic</vt:lpstr>
      <vt:lpstr>NewBaskerville-Roman</vt:lpstr>
      <vt:lpstr>Times New Roman</vt:lpstr>
      <vt:lpstr>Wingdings</vt:lpstr>
      <vt:lpstr>Theme1</vt:lpstr>
      <vt:lpstr>Parallel &amp; Distributed Computing Lecture 3: General Parallelism Terms </vt:lpstr>
      <vt:lpstr>Some General Parallel Terminology</vt:lpstr>
      <vt:lpstr>PowerPoint Presentation</vt:lpstr>
      <vt:lpstr>Some General Parallel Terminology</vt:lpstr>
      <vt:lpstr>Some General Parallel Terminology</vt:lpstr>
      <vt:lpstr>Some General Parallel Terminology</vt:lpstr>
      <vt:lpstr>Some General Parallel Terminology</vt:lpstr>
      <vt:lpstr>Some General Parallel Terminology</vt:lpstr>
      <vt:lpstr>Why Parallel Computing is necessary?</vt:lpstr>
      <vt:lpstr>Example</vt:lpstr>
      <vt:lpstr>Benefits of Parallel Computing</vt:lpstr>
      <vt:lpstr>FLOPS</vt:lpstr>
      <vt:lpstr>FLOPS</vt:lpstr>
      <vt:lpstr>Test</vt:lpstr>
      <vt:lpstr>Example</vt:lpstr>
      <vt:lpstr>Amdahl’s Law</vt:lpstr>
      <vt:lpstr>Example 1</vt:lpstr>
      <vt:lpstr>Example 2</vt:lpstr>
      <vt:lpstr>Amdahl’s Law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Mateen Yaqoob</dc:creator>
  <cp:lastModifiedBy>Moorche</cp:lastModifiedBy>
  <cp:revision>69</cp:revision>
  <dcterms:created xsi:type="dcterms:W3CDTF">2020-09-03T08:42:31Z</dcterms:created>
  <dcterms:modified xsi:type="dcterms:W3CDTF">2023-10-03T13:02:06Z</dcterms:modified>
</cp:coreProperties>
</file>