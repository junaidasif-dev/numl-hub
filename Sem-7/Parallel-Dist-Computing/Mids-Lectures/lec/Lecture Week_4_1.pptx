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9"/>
  </p:notesMasterIdLst>
  <p:sldIdLst>
    <p:sldId id="333" r:id="rId2"/>
    <p:sldId id="262" r:id="rId3"/>
    <p:sldId id="263" r:id="rId4"/>
    <p:sldId id="264" r:id="rId5"/>
    <p:sldId id="265" r:id="rId6"/>
    <p:sldId id="335" r:id="rId7"/>
    <p:sldId id="266" r:id="rId8"/>
  </p:sldIdLst>
  <p:sldSz cx="9144000" cy="6858000" type="screen4x3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452" y="6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9-21T12:22:31.7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9947 14263 0</inkml:trace>
  <inkml:trace contextRef="#ctx0" brushRef="#br0" timeOffset="9697.01">13047 13965 0</inkml:trace>
  <inkml:trace contextRef="#ctx0" brushRef="#br0" timeOffset="61396.15">12030 13295 0</inkml:trace>
  <inkml:trace contextRef="#ctx0" brushRef="#br0" timeOffset="90078.15">18281 9004 0</inkml:trace>
  <inkml:trace contextRef="#ctx0" brushRef="#br0" timeOffset="117367.33">15081 5730 0</inkml:trace>
  <inkml:trace contextRef="#ctx0" brushRef="#br0" timeOffset="181922.24">16222 4390 0</inkml:trace>
  <inkml:trace contextRef="#ctx0" brushRef="#br0" timeOffset="189218.16">16197 4366 0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F9EE5-29F7-4936-BB9E-C496A010A518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D85E8A-A197-49EA-96E2-2AD1E68BD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205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C697DB89-CDD6-472D-8A6C-DAA95BB1FA3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D1A2CC5-F66F-4FF1-9C12-E4C07F549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kumimoji="1" lang="en-PK" altLang="en-PK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AutoShape 4">
              <a:extLst>
                <a:ext uri="{FF2B5EF4-FFF2-40B4-BE49-F238E27FC236}">
                  <a16:creationId xmlns:a16="http://schemas.microsoft.com/office/drawing/2014/main" id="{94194141-4B13-4C0B-9E9E-4B6DF58F22B6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kumimoji="1" lang="en-PK" altLang="en-PK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5">
            <a:extLst>
              <a:ext uri="{FF2B5EF4-FFF2-40B4-BE49-F238E27FC236}">
                <a16:creationId xmlns:a16="http://schemas.microsoft.com/office/drawing/2014/main" id="{4CCC10C4-1070-49FF-9EC0-FC19F4D37B5A}"/>
              </a:ext>
            </a:extLst>
          </p:cNvPr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8" name="AutoShape 6">
              <a:extLst>
                <a:ext uri="{FF2B5EF4-FFF2-40B4-BE49-F238E27FC236}">
                  <a16:creationId xmlns:a16="http://schemas.microsoft.com/office/drawing/2014/main" id="{95304FCF-25DE-4BD8-A83B-51D9A6ECE64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PK" altLang="en-PK" sz="1800"/>
            </a:p>
          </p:txBody>
        </p:sp>
        <p:sp>
          <p:nvSpPr>
            <p:cNvPr id="9" name="AutoShape 7">
              <a:extLst>
                <a:ext uri="{FF2B5EF4-FFF2-40B4-BE49-F238E27FC236}">
                  <a16:creationId xmlns:a16="http://schemas.microsoft.com/office/drawing/2014/main" id="{16389DA0-8CD8-4422-9A8F-A93463A81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PK" altLang="en-PK" sz="1800"/>
            </a:p>
          </p:txBody>
        </p:sp>
      </p:grpSp>
      <p:sp>
        <p:nvSpPr>
          <p:cNvPr id="5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4673601" y="2927350"/>
            <a:ext cx="4013200" cy="1822450"/>
          </a:xfrm>
        </p:spPr>
        <p:txBody>
          <a:bodyPr anchor="b"/>
          <a:lstStyle>
            <a:lvl1pPr marL="0" indent="0">
              <a:buFont typeface="Wingdings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32" name="AutoShape 1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90600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9144541-1081-4B27-9E4B-DD51FC1DCE6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0B4F17-C843-4DBB-B859-C77EA1F01CA2}" type="datetime1">
              <a:rPr lang="en-US" smtClean="0"/>
              <a:t>10/2/2023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7755DD8-7CD3-439F-A290-5D547A54A7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37CD04-9D5B-417F-A66B-C38A4D2D52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6202" y="6248400"/>
            <a:ext cx="587375" cy="488950"/>
          </a:xfrm>
        </p:spPr>
        <p:txBody>
          <a:bodyPr anchorCtr="0"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47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D41561C-CEBF-48F4-9E28-C4482E17CA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D6111C-B94E-42B8-B445-5EB7C98BDEFA}" type="datetime1">
              <a:rPr lang="en-US" smtClean="0"/>
              <a:t>10/2/2023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E5660E3-240B-41E3-888C-1B88C6F558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9180715-2C5B-4D99-B35D-5CB9C8F567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26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AE7B7F9-9B63-4C99-B240-FC12E76B58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EB5BEB-004C-45AF-9D38-AF2A5B6958D8}" type="datetime1">
              <a:rPr lang="en-US" smtClean="0"/>
              <a:t>10/2/2023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EDBDB97-8B17-4504-8ADA-64F907DF67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31478AB-4749-4D3C-8589-3B6D14C30A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266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2" y="2362204"/>
            <a:ext cx="3770313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0914" y="2362204"/>
            <a:ext cx="3770312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8D3B876-73DB-429F-B4A5-ACDB21507A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3F3847-5007-47F7-9DE7-1A8B40CDBD7A}" type="datetime1">
              <a:rPr lang="en-US" smtClean="0"/>
              <a:t>10/2/2023</a:t>
            </a:fld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730567E-7D9B-4A0A-8C19-E932DA0EC6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E332F7B6-D444-4E55-96A6-522A403CF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81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23D9AB9F-2A0C-4FBB-B382-9C21E1687A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38C468-910D-4313-A10C-FCB0AD170BFD}" type="datetime1">
              <a:rPr lang="en-US" smtClean="0"/>
              <a:t>10/2/2023</a:t>
            </a:fld>
            <a:endParaRPr lang="en-US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DA914F3E-D7BB-499F-8AAC-D29CA4F045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07F3BCB4-F714-4117-802E-711CF7676F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153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F582D231-FDF6-426E-A616-698440509C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B9082A-79BD-433F-9B5F-8BCD4EAA65BE}" type="datetime1">
              <a:rPr lang="en-US" smtClean="0"/>
              <a:t>10/2/2023</a:t>
            </a:fld>
            <a:endParaRPr lang="en-US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EDCA115-9E3C-40D4-8912-F4E20DB6BA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499D514-9105-4111-8B91-F8810A02CA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48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2939D947-A124-40F1-A1CD-BD82F65EC0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A1E931-F403-4304-9F63-1E06B9CECA24}" type="datetime1">
              <a:rPr lang="en-US" smtClean="0"/>
              <a:t>10/2/2023</a:t>
            </a:fld>
            <a:endParaRPr lang="en-US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3EDE26CF-7FFF-494A-9127-8D239D271F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008D1E9E-3392-4D0F-B80B-A17511304F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57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3958604-85A8-4A4E-97A7-ABA204D8DF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999AFF-1278-442B-856D-5DA176929955}" type="datetime1">
              <a:rPr lang="en-US" smtClean="0"/>
              <a:t>10/2/2023</a:t>
            </a:fld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4B8F9BB-0FC1-41C7-ADBB-7B2886ABC1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CABE9D4-E092-4117-9D3B-3D8D4681F1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98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D75601F-C8A4-4A90-80B4-5F520901F0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896CE0-495C-4667-B550-99C326EA790F}" type="datetime1">
              <a:rPr lang="en-US" smtClean="0"/>
              <a:t>10/2/2023</a:t>
            </a:fld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2DF7F1E-3D7B-4FB8-A9F7-B9D427D058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AFB0A65-4C06-4F69-91E5-B374EC5B44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39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64D6AB3-0BE0-4AE2-A565-F6DB7E10D8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0B1E5B-267A-4BE7-9081-5F0AACC5A54F}" type="datetime1">
              <a:rPr lang="en-US" smtClean="0"/>
              <a:t>10/2/2023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84E88F6-7B9B-48EF-88D1-8B85462701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AFD07A6-C54B-4303-8783-79A5AA51DF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89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762004"/>
            <a:ext cx="1981200" cy="5324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762004"/>
            <a:ext cx="5791200" cy="53244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E454C69-05BB-4376-BF5B-F23F07E40E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BFDB41-B124-4EA0-B637-71E64E804772}" type="datetime1">
              <a:rPr lang="en-US" smtClean="0"/>
              <a:t>10/2/2023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BE95B74-3904-4687-A858-1857057DFA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01F3940-CBCF-4E25-ACC0-395A595B03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136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0"/>
            <a:ext cx="7924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838202" y="2362204"/>
            <a:ext cx="7693025" cy="3724275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F77D68F-D4CE-414A-BDA9-E33AB488CC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9712A5-15C0-46B1-B4C5-317166927FB6}" type="datetime1">
              <a:rPr lang="en-US" smtClean="0"/>
              <a:t>10/2/2023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B1A1324-E8FC-418E-94C0-85F2BD7D6E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9B9D749-3CF9-4C82-90AE-BA2A543AFD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1995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B2A3329E-0904-47A4-ACB5-5B91293A5AE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620000" cy="6858000"/>
            <a:chOff x="0" y="0"/>
            <a:chExt cx="480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0FF77DB7-AD29-49C8-93AA-EA0184FC38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016" cy="4320"/>
              <a:chOff x="0" y="0"/>
              <a:chExt cx="2016" cy="4320"/>
            </a:xfrm>
          </p:grpSpPr>
          <p:sp>
            <p:nvSpPr>
              <p:cNvPr id="1036" name="Rectangle 4">
                <a:extLst>
                  <a:ext uri="{FF2B5EF4-FFF2-40B4-BE49-F238E27FC236}">
                    <a16:creationId xmlns:a16="http://schemas.microsoft.com/office/drawing/2014/main" id="{D438BB5E-926C-4E0C-9E77-FE8E0784A0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0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PK" altLang="en-PK" sz="1800"/>
              </a:p>
            </p:txBody>
          </p:sp>
          <p:sp>
            <p:nvSpPr>
              <p:cNvPr id="1037" name="Freeform 5">
                <a:extLst>
                  <a:ext uri="{FF2B5EF4-FFF2-40B4-BE49-F238E27FC236}">
                    <a16:creationId xmlns:a16="http://schemas.microsoft.com/office/drawing/2014/main" id="{95302D45-DF44-4885-8F20-439784359D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" y="0"/>
                <a:ext cx="1728" cy="735"/>
              </a:xfrm>
              <a:custGeom>
                <a:avLst/>
                <a:gdLst>
                  <a:gd name="T0" fmla="*/ 1728 w 1728"/>
                  <a:gd name="T1" fmla="*/ 0 h 735"/>
                  <a:gd name="T2" fmla="*/ 1728 w 1728"/>
                  <a:gd name="T3" fmla="*/ 480 h 735"/>
                  <a:gd name="T4" fmla="*/ 380 w 1728"/>
                  <a:gd name="T5" fmla="*/ 482 h 735"/>
                  <a:gd name="T6" fmla="*/ 354 w 1728"/>
                  <a:gd name="T7" fmla="*/ 480 h 735"/>
                  <a:gd name="T8" fmla="*/ 308 w 1728"/>
                  <a:gd name="T9" fmla="*/ 489 h 735"/>
                  <a:gd name="T10" fmla="*/ 246 w 1728"/>
                  <a:gd name="T11" fmla="*/ 531 h 735"/>
                  <a:gd name="T12" fmla="*/ 206 w 1728"/>
                  <a:gd name="T13" fmla="*/ 597 h 735"/>
                  <a:gd name="T14" fmla="*/ 192 w 1728"/>
                  <a:gd name="T15" fmla="*/ 666 h 735"/>
                  <a:gd name="T16" fmla="*/ 192 w 1728"/>
                  <a:gd name="T17" fmla="*/ 735 h 735"/>
                  <a:gd name="T18" fmla="*/ 0 w 1728"/>
                  <a:gd name="T19" fmla="*/ 735 h 735"/>
                  <a:gd name="T20" fmla="*/ 0 w 1728"/>
                  <a:gd name="T21" fmla="*/ 480 h 735"/>
                  <a:gd name="T22" fmla="*/ 0 w 1728"/>
                  <a:gd name="T23" fmla="*/ 0 h 735"/>
                  <a:gd name="T24" fmla="*/ 1728 w 1728"/>
                  <a:gd name="T25" fmla="*/ 0 h 73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/>
              <a:lstStyle/>
              <a:p>
                <a:endParaRPr lang="en-PK" sz="1800"/>
              </a:p>
            </p:txBody>
          </p:sp>
        </p:grpSp>
        <p:grpSp>
          <p:nvGrpSpPr>
            <p:cNvPr id="1033" name="Group 6">
              <a:extLst>
                <a:ext uri="{FF2B5EF4-FFF2-40B4-BE49-F238E27FC236}">
                  <a16:creationId xmlns:a16="http://schemas.microsoft.com/office/drawing/2014/main" id="{165704AF-ADD4-4E42-9951-9885E2AF3F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1248"/>
              <a:ext cx="4656" cy="201"/>
              <a:chOff x="144" y="1248"/>
              <a:chExt cx="4656" cy="201"/>
            </a:xfrm>
          </p:grpSpPr>
          <p:sp>
            <p:nvSpPr>
              <p:cNvPr id="1034" name="AutoShape 7">
                <a:extLst>
                  <a:ext uri="{FF2B5EF4-FFF2-40B4-BE49-F238E27FC236}">
                    <a16:creationId xmlns:a16="http://schemas.microsoft.com/office/drawing/2014/main" id="{AD015C4F-F9D0-48B2-8315-4799ABF1D8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248"/>
                <a:ext cx="4416" cy="200"/>
              </a:xfrm>
              <a:prstGeom prst="roundRect">
                <a:avLst>
                  <a:gd name="adj" fmla="val 0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PK" altLang="en-PK" sz="1800"/>
              </a:p>
            </p:txBody>
          </p:sp>
          <p:sp>
            <p:nvSpPr>
              <p:cNvPr id="1035" name="AutoShape 8">
                <a:extLst>
                  <a:ext uri="{FF2B5EF4-FFF2-40B4-BE49-F238E27FC236}">
                    <a16:creationId xmlns:a16="http://schemas.microsoft.com/office/drawing/2014/main" id="{7C227202-0AB4-426A-A6CB-F2C45BDC74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44" y="1248"/>
                <a:ext cx="248" cy="201"/>
              </a:xfrm>
              <a:prstGeom prst="flowChartDelay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PK" altLang="en-PK" sz="1800"/>
              </a:p>
            </p:txBody>
          </p:sp>
        </p:grpSp>
      </p:grpSp>
      <p:sp>
        <p:nvSpPr>
          <p:cNvPr id="1027" name="AutoShape 9">
            <a:extLst>
              <a:ext uri="{FF2B5EF4-FFF2-40B4-BE49-F238E27FC236}">
                <a16:creationId xmlns:a16="http://schemas.microsoft.com/office/drawing/2014/main" id="{A90FCFEC-9F9D-4254-8D92-7B25B6EE3A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762000"/>
            <a:ext cx="79248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PK"/>
              <a:t>Click to edit Master title style</a:t>
            </a:r>
          </a:p>
        </p:txBody>
      </p:sp>
      <p:sp>
        <p:nvSpPr>
          <p:cNvPr id="1028" name="Rectangle 10">
            <a:extLst>
              <a:ext uri="{FF2B5EF4-FFF2-40B4-BE49-F238E27FC236}">
                <a16:creationId xmlns:a16="http://schemas.microsoft.com/office/drawing/2014/main" id="{B398F237-95A9-4BFF-B4A1-C78F7FF69C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2" y="2362204"/>
            <a:ext cx="7693025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PK"/>
              <a:t>Edit Master text styles</a:t>
            </a:r>
          </a:p>
          <a:p>
            <a:pPr lvl="1"/>
            <a:r>
              <a:rPr lang="en-US" altLang="en-PK"/>
              <a:t>Second level</a:t>
            </a:r>
          </a:p>
          <a:p>
            <a:pPr lvl="2"/>
            <a:r>
              <a:rPr lang="en-US" altLang="en-PK"/>
              <a:t>Third level</a:t>
            </a:r>
          </a:p>
          <a:p>
            <a:pPr lvl="3"/>
            <a:r>
              <a:rPr lang="en-US" altLang="en-PK"/>
              <a:t>Fourth level</a:t>
            </a:r>
          </a:p>
          <a:p>
            <a:pPr lvl="4"/>
            <a:r>
              <a:rPr lang="en-US" altLang="en-PK"/>
              <a:t>Fifth level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1D379FF3-7792-4E0A-B32B-CDBBF4ABCF0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8402" y="6248404"/>
            <a:ext cx="2130425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charset="0"/>
              </a:defRPr>
            </a:lvl1pPr>
          </a:lstStyle>
          <a:p>
            <a:fld id="{3C9712A5-15C0-46B1-B4C5-317166927FB6}" type="datetime1">
              <a:rPr lang="en-US" smtClean="0"/>
              <a:t>10/2/2023</a:t>
            </a:fld>
            <a:endParaRPr lang="en-US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5F8406A0-86DE-4CF8-BE66-1FC1EC81C11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91200" y="6248404"/>
            <a:ext cx="28971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B08A31F9-D76D-43DC-8BDE-F2140B37C31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40" y="6242050"/>
            <a:ext cx="58737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eaLnBrk="1" hangingPunct="1">
              <a:defRPr sz="2600" b="1">
                <a:solidFill>
                  <a:schemeClr val="bg1"/>
                </a:solidFill>
              </a:defRPr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64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Farhad.Muhammad@numl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78AC916-7461-472A-83D2-C4792120EBB9}"/>
              </a:ext>
            </a:extLst>
          </p:cNvPr>
          <p:cNvSpPr txBox="1"/>
          <p:nvPr/>
        </p:nvSpPr>
        <p:spPr>
          <a:xfrm>
            <a:off x="4038278" y="5819024"/>
            <a:ext cx="55286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</a:t>
            </a:r>
          </a:p>
          <a:p>
            <a:pPr algn="ctr"/>
            <a:r>
              <a:rPr lang="en-US" sz="2400" b="1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NUML, Islamabad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1">
                    <a:lumMod val="75000"/>
                  </a:schemeClr>
                </a:solidFill>
              </a:rPr>
              <a:t>Farhad</a:t>
            </a: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 M. </a:t>
            </a:r>
            <a:r>
              <a:rPr lang="en-US" b="1" dirty="0" err="1">
                <a:solidFill>
                  <a:schemeClr val="tx1">
                    <a:lumMod val="75000"/>
                  </a:schemeClr>
                </a:solidFill>
              </a:rPr>
              <a:t>Riaz</a:t>
            </a:r>
            <a:endParaRPr lang="en-US" b="1" dirty="0">
              <a:solidFill>
                <a:schemeClr val="tx1">
                  <a:lumMod val="75000"/>
                </a:schemeClr>
              </a:solidFill>
            </a:endParaRPr>
          </a:p>
          <a:p>
            <a:r>
              <a:rPr lang="en-US" sz="1800" b="1" dirty="0">
                <a:solidFill>
                  <a:schemeClr val="tx1">
                    <a:lumMod val="75000"/>
                  </a:schemeClr>
                </a:solidFill>
                <a:hlinkClick r:id="rId2"/>
              </a:rPr>
              <a:t>Farhad.Muhammad@numl.edu.pk</a:t>
            </a: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7" name="Title 6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pPr algn="r"/>
            <a:r>
              <a:rPr lang="en-US" sz="2800" dirty="0"/>
              <a:t>Parallel &amp; Distributed Computing</a:t>
            </a:r>
            <a:br>
              <a:rPr lang="en-US" sz="2800" dirty="0"/>
            </a:br>
            <a:r>
              <a:rPr lang="en-US" sz="2800" dirty="0"/>
              <a:t>Lecture Week 4</a:t>
            </a:r>
            <a:br>
              <a:rPr lang="en-US" sz="2800" dirty="0"/>
            </a:br>
            <a:r>
              <a:rPr lang="en-US" sz="2800" spc="-35" dirty="0"/>
              <a:t>Amdahl’s</a:t>
            </a:r>
            <a:r>
              <a:rPr lang="en-US" sz="2800" spc="-70" dirty="0"/>
              <a:t> </a:t>
            </a:r>
            <a:r>
              <a:rPr lang="en-US" sz="2800" spc="-10" dirty="0"/>
              <a:t>Law</a:t>
            </a:r>
            <a:br>
              <a:rPr lang="en-US" sz="2800" dirty="0"/>
            </a:br>
            <a:endParaRPr lang="en-US" sz="2800" dirty="0"/>
          </a:p>
        </p:txBody>
      </p:sp>
      <p:pic>
        <p:nvPicPr>
          <p:cNvPr id="8" name="Picture 2" descr="NUML Logo PNG Vector (EPS) Free Download">
            <a:extLst>
              <a:ext uri="{FF2B5EF4-FFF2-40B4-BE49-F238E27FC236}">
                <a16:creationId xmlns:a16="http://schemas.microsoft.com/office/drawing/2014/main" id="{2D3C8850-28E9-44A6-8D9F-53E817636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44" y="1050131"/>
            <a:ext cx="1927513" cy="1785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4708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">
              <a:spcBef>
                <a:spcPts val="105"/>
              </a:spcBef>
            </a:pPr>
            <a:r>
              <a:rPr spc="-35" dirty="0"/>
              <a:t>Amdahl’s</a:t>
            </a:r>
            <a:r>
              <a:rPr spc="-70" dirty="0"/>
              <a:t> </a:t>
            </a:r>
            <a:r>
              <a:rPr spc="-10" dirty="0"/>
              <a:t>Law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3352" y="2476755"/>
            <a:ext cx="7838064" cy="43351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Theoretical </a:t>
            </a:r>
            <a:r>
              <a:rPr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speedup</a:t>
            </a:r>
            <a:r>
              <a:rPr sz="3200" spc="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calculations</a:t>
            </a:r>
            <a:endParaRPr lang="en-US" sz="3200" spc="-5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</a:p>
          <a:p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latency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is the theoretical speedup of the execution of the whole task;</a:t>
            </a:r>
          </a:p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is the speedup of the part of the task that benefits from improved system resources;</a:t>
            </a:r>
          </a:p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is the proportion of execution time that the part benefiting from improved resources originally occupied.</a:t>
            </a:r>
          </a:p>
          <a:p>
            <a:pPr marL="355600" indent="-342900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sz="320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9398" y="3829715"/>
            <a:ext cx="1351947" cy="5146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75265" y="3813339"/>
            <a:ext cx="536920" cy="50787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575939" y="3996092"/>
            <a:ext cx="363220" cy="144780"/>
          </a:xfrm>
          <a:custGeom>
            <a:avLst/>
            <a:gdLst/>
            <a:ahLst/>
            <a:cxnLst/>
            <a:rect l="l" t="t" r="r" b="b"/>
            <a:pathLst>
              <a:path w="363220" h="144779">
                <a:moveTo>
                  <a:pt x="361848" y="115595"/>
                </a:moveTo>
                <a:lnTo>
                  <a:pt x="356743" y="110502"/>
                </a:lnTo>
                <a:lnTo>
                  <a:pt x="352475" y="106248"/>
                </a:lnTo>
                <a:lnTo>
                  <a:pt x="337566" y="91376"/>
                </a:lnTo>
                <a:lnTo>
                  <a:pt x="23012" y="91376"/>
                </a:lnTo>
                <a:lnTo>
                  <a:pt x="88" y="114236"/>
                </a:lnTo>
                <a:lnTo>
                  <a:pt x="18300" y="144500"/>
                </a:lnTo>
                <a:lnTo>
                  <a:pt x="338670" y="144500"/>
                </a:lnTo>
                <a:lnTo>
                  <a:pt x="351193" y="128892"/>
                </a:lnTo>
                <a:lnTo>
                  <a:pt x="354012" y="125374"/>
                </a:lnTo>
                <a:lnTo>
                  <a:pt x="331724" y="125374"/>
                </a:lnTo>
                <a:lnTo>
                  <a:pt x="334746" y="123964"/>
                </a:lnTo>
                <a:lnTo>
                  <a:pt x="334860" y="123799"/>
                </a:lnTo>
                <a:lnTo>
                  <a:pt x="355282" y="123799"/>
                </a:lnTo>
                <a:lnTo>
                  <a:pt x="361848" y="115595"/>
                </a:lnTo>
                <a:close/>
              </a:path>
              <a:path w="363220" h="144779">
                <a:moveTo>
                  <a:pt x="363105" y="25501"/>
                </a:moveTo>
                <a:lnTo>
                  <a:pt x="354596" y="17005"/>
                </a:lnTo>
                <a:lnTo>
                  <a:pt x="351066" y="13487"/>
                </a:lnTo>
                <a:lnTo>
                  <a:pt x="337566" y="0"/>
                </a:lnTo>
                <a:lnTo>
                  <a:pt x="35204" y="0"/>
                </a:lnTo>
                <a:lnTo>
                  <a:pt x="35204" y="35699"/>
                </a:lnTo>
                <a:lnTo>
                  <a:pt x="35166" y="34404"/>
                </a:lnTo>
                <a:lnTo>
                  <a:pt x="35204" y="35699"/>
                </a:lnTo>
                <a:lnTo>
                  <a:pt x="35204" y="0"/>
                </a:lnTo>
                <a:lnTo>
                  <a:pt x="19431" y="0"/>
                </a:lnTo>
                <a:lnTo>
                  <a:pt x="0" y="25844"/>
                </a:lnTo>
                <a:lnTo>
                  <a:pt x="21907" y="53124"/>
                </a:lnTo>
                <a:lnTo>
                  <a:pt x="181470" y="53124"/>
                </a:lnTo>
                <a:lnTo>
                  <a:pt x="337654" y="50888"/>
                </a:lnTo>
                <a:lnTo>
                  <a:pt x="351053" y="37515"/>
                </a:lnTo>
                <a:lnTo>
                  <a:pt x="354584" y="33997"/>
                </a:lnTo>
                <a:lnTo>
                  <a:pt x="363105" y="255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28897" y="4052733"/>
            <a:ext cx="2402205" cy="28575"/>
          </a:xfrm>
          <a:custGeom>
            <a:avLst/>
            <a:gdLst/>
            <a:ahLst/>
            <a:cxnLst/>
            <a:rect l="l" t="t" r="r" b="b"/>
            <a:pathLst>
              <a:path w="2402204" h="28575">
                <a:moveTo>
                  <a:pt x="2402192" y="0"/>
                </a:moveTo>
                <a:lnTo>
                  <a:pt x="0" y="0"/>
                </a:lnTo>
                <a:lnTo>
                  <a:pt x="0" y="28387"/>
                </a:lnTo>
                <a:lnTo>
                  <a:pt x="2402192" y="28387"/>
                </a:lnTo>
                <a:lnTo>
                  <a:pt x="24021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33622" y="3534965"/>
            <a:ext cx="198281" cy="3484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85548" y="4246837"/>
            <a:ext cx="377097" cy="507866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4709507" y="4450845"/>
            <a:ext cx="325755" cy="76835"/>
          </a:xfrm>
          <a:custGeom>
            <a:avLst/>
            <a:gdLst/>
            <a:ahLst/>
            <a:cxnLst/>
            <a:rect l="l" t="t" r="r" b="b"/>
            <a:pathLst>
              <a:path w="325754" h="76835">
                <a:moveTo>
                  <a:pt x="325259" y="52044"/>
                </a:moveTo>
                <a:lnTo>
                  <a:pt x="319493" y="42506"/>
                </a:lnTo>
                <a:lnTo>
                  <a:pt x="318465" y="40805"/>
                </a:lnTo>
                <a:lnTo>
                  <a:pt x="307936" y="23380"/>
                </a:lnTo>
                <a:lnTo>
                  <a:pt x="17640" y="23380"/>
                </a:lnTo>
                <a:lnTo>
                  <a:pt x="0" y="0"/>
                </a:lnTo>
                <a:lnTo>
                  <a:pt x="0" y="46291"/>
                </a:lnTo>
                <a:lnTo>
                  <a:pt x="0" y="57378"/>
                </a:lnTo>
                <a:lnTo>
                  <a:pt x="14897" y="57378"/>
                </a:lnTo>
                <a:lnTo>
                  <a:pt x="3403" y="61201"/>
                </a:lnTo>
                <a:lnTo>
                  <a:pt x="15049" y="76504"/>
                </a:lnTo>
                <a:lnTo>
                  <a:pt x="306793" y="76504"/>
                </a:lnTo>
                <a:lnTo>
                  <a:pt x="319455" y="59728"/>
                </a:lnTo>
                <a:lnTo>
                  <a:pt x="321233" y="57378"/>
                </a:lnTo>
                <a:lnTo>
                  <a:pt x="325259" y="520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24001" y="4246837"/>
            <a:ext cx="431400" cy="507866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5698075" y="4325242"/>
            <a:ext cx="357505" cy="351155"/>
          </a:xfrm>
          <a:custGeom>
            <a:avLst/>
            <a:gdLst/>
            <a:ahLst/>
            <a:cxnLst/>
            <a:rect l="l" t="t" r="r" b="b"/>
            <a:pathLst>
              <a:path w="357504" h="351154">
                <a:moveTo>
                  <a:pt x="357365" y="177850"/>
                </a:moveTo>
                <a:lnTo>
                  <a:pt x="349592" y="168109"/>
                </a:lnTo>
                <a:lnTo>
                  <a:pt x="346786" y="164592"/>
                </a:lnTo>
                <a:lnTo>
                  <a:pt x="334352" y="148983"/>
                </a:lnTo>
                <a:lnTo>
                  <a:pt x="202539" y="148983"/>
                </a:lnTo>
                <a:lnTo>
                  <a:pt x="202539" y="23609"/>
                </a:lnTo>
                <a:lnTo>
                  <a:pt x="202539" y="17233"/>
                </a:lnTo>
                <a:lnTo>
                  <a:pt x="179527" y="0"/>
                </a:lnTo>
                <a:lnTo>
                  <a:pt x="149136" y="12103"/>
                </a:lnTo>
                <a:lnTo>
                  <a:pt x="149136" y="148983"/>
                </a:lnTo>
                <a:lnTo>
                  <a:pt x="17614" y="148983"/>
                </a:lnTo>
                <a:lnTo>
                  <a:pt x="15773" y="151231"/>
                </a:lnTo>
                <a:lnTo>
                  <a:pt x="0" y="135547"/>
                </a:lnTo>
                <a:lnTo>
                  <a:pt x="0" y="170624"/>
                </a:lnTo>
                <a:lnTo>
                  <a:pt x="0" y="182981"/>
                </a:lnTo>
                <a:lnTo>
                  <a:pt x="18707" y="182981"/>
                </a:lnTo>
                <a:lnTo>
                  <a:pt x="5105" y="188620"/>
                </a:lnTo>
                <a:lnTo>
                  <a:pt x="18745" y="202107"/>
                </a:lnTo>
                <a:lnTo>
                  <a:pt x="149136" y="202107"/>
                </a:lnTo>
                <a:lnTo>
                  <a:pt x="149136" y="335978"/>
                </a:lnTo>
                <a:lnTo>
                  <a:pt x="169024" y="350850"/>
                </a:lnTo>
                <a:lnTo>
                  <a:pt x="182651" y="350850"/>
                </a:lnTo>
                <a:lnTo>
                  <a:pt x="202539" y="335978"/>
                </a:lnTo>
                <a:lnTo>
                  <a:pt x="202539" y="327469"/>
                </a:lnTo>
                <a:lnTo>
                  <a:pt x="202539" y="320243"/>
                </a:lnTo>
                <a:lnTo>
                  <a:pt x="202539" y="202107"/>
                </a:lnTo>
                <a:lnTo>
                  <a:pt x="333209" y="202107"/>
                </a:lnTo>
                <a:lnTo>
                  <a:pt x="348018" y="187223"/>
                </a:lnTo>
                <a:lnTo>
                  <a:pt x="352259" y="182981"/>
                </a:lnTo>
                <a:lnTo>
                  <a:pt x="357365" y="177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14232" y="4176943"/>
            <a:ext cx="231478" cy="33756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55143" y="4618113"/>
            <a:ext cx="157659" cy="1859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5960" y="2492168"/>
            <a:ext cx="8056880" cy="389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30% of the </a:t>
            </a:r>
            <a:r>
              <a:rPr sz="36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execution </a:t>
            </a:r>
            <a:r>
              <a:rPr sz="3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</a:t>
            </a:r>
            <a:r>
              <a:rPr sz="36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the  </a:t>
            </a:r>
            <a:r>
              <a:rPr sz="3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subject of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sz="3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speedup, </a:t>
            </a:r>
            <a:r>
              <a:rPr sz="36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 </a:t>
            </a:r>
            <a:r>
              <a:rPr sz="3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0.3;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 </a:t>
            </a:r>
            <a:r>
              <a:rPr sz="36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improvement </a:t>
            </a:r>
            <a:r>
              <a:rPr sz="36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makes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3600" spc="-2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affected </a:t>
            </a:r>
            <a:r>
              <a:rPr sz="3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twice as  </a:t>
            </a:r>
            <a:r>
              <a:rPr sz="36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fast, </a:t>
            </a:r>
            <a:r>
              <a:rPr sz="36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sz="3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2. </a:t>
            </a:r>
            <a:r>
              <a:rPr sz="3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Amdahl's </a:t>
            </a:r>
            <a:r>
              <a:rPr sz="36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law </a:t>
            </a:r>
            <a:r>
              <a:rPr sz="3600" spc="-2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states </a:t>
            </a:r>
            <a:r>
              <a:rPr sz="36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 </a:t>
            </a:r>
            <a:r>
              <a:rPr sz="36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 </a:t>
            </a:r>
            <a:r>
              <a:rPr sz="3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speedup of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applying the </a:t>
            </a:r>
            <a:r>
              <a:rPr sz="36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improvement 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</a:t>
            </a:r>
            <a:r>
              <a:rPr sz="3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be?</a:t>
            </a:r>
            <a:endParaRPr sz="3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0563" y="910665"/>
            <a:ext cx="7886700" cy="622863"/>
          </a:xfrm>
          <a:prstGeom prst="rect">
            <a:avLst/>
          </a:prstGeom>
        </p:spPr>
        <p:txBody>
          <a:bodyPr vert="horz" wrap="square" lIns="0" tIns="13335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5" dirty="0"/>
              <a:t>Example</a:t>
            </a:r>
            <a:r>
              <a:rPr spc="-65" dirty="0"/>
              <a:t> </a:t>
            </a:r>
            <a:r>
              <a:rPr dirty="0"/>
              <a:t>2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4838" y="2295730"/>
            <a:ext cx="8058150" cy="3940822"/>
          </a:xfrm>
          <a:prstGeom prst="rect">
            <a:avLst/>
          </a:prstGeom>
        </p:spPr>
        <p:txBody>
          <a:bodyPr vert="horz" wrap="square" lIns="0" tIns="6223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55600" marR="5080" algn="just">
              <a:spcBef>
                <a:spcPts val="49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Assume that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we 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given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serial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task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which is 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split 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four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consecutive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parts,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whose  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percentages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execution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time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i="1" spc="-5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= 0.11,  </a:t>
            </a:r>
            <a:r>
              <a:rPr i="1" spc="-5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0.18, </a:t>
            </a:r>
            <a:r>
              <a:rPr i="1" spc="-5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= 0.23, and </a:t>
            </a:r>
            <a:r>
              <a:rPr i="1" spc="-5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0.48 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respectively.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Then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we 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told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that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1st 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part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 not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sped up, so </a:t>
            </a:r>
            <a:r>
              <a:rPr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1 = 1, while the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2nd 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part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sped up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5 times,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so </a:t>
            </a:r>
            <a:r>
              <a:rPr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2 = 5, the 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3rd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part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sped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up 20 times, so </a:t>
            </a:r>
            <a:r>
              <a:rPr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3 = 20, and the 4th 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part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sped up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1.6 times,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so </a:t>
            </a:r>
            <a:r>
              <a:rPr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4 =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1.6.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using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Amdahl's </a:t>
            </a:r>
            <a:r>
              <a:rPr spc="-75" dirty="0">
                <a:latin typeface="Arial" panose="020B0604020202020204" pitchFamily="34" charset="0"/>
                <a:cs typeface="Arial" panose="020B0604020202020204" pitchFamily="34" charset="0"/>
              </a:rPr>
              <a:t>law,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overall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speedup</a:t>
            </a:r>
            <a:r>
              <a:rPr spc="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">
              <a:spcBef>
                <a:spcPts val="105"/>
              </a:spcBef>
            </a:pPr>
            <a:r>
              <a:rPr spc="-35" dirty="0"/>
              <a:t>Amdahl’s</a:t>
            </a:r>
            <a:r>
              <a:rPr spc="-70" dirty="0"/>
              <a:t> </a:t>
            </a:r>
            <a:r>
              <a:rPr spc="-10" dirty="0"/>
              <a:t>Law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925" y="2482214"/>
            <a:ext cx="6858000" cy="2609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87BD44-CCBA-932D-4D6F-A38538C17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367" y="2374491"/>
            <a:ext cx="6960775" cy="429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26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975" y="2330245"/>
            <a:ext cx="6563954" cy="387511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F26EB1F-786A-4403-81D7-B3B5DC8F4DB5}"/>
                  </a:ext>
                </a:extLst>
              </p14:cNvPr>
              <p14:cNvContentPartPr/>
              <p14:nvPr/>
            </p14:nvContentPartPr>
            <p14:xfrm>
              <a:off x="2056920" y="1571760"/>
              <a:ext cx="3000600" cy="3563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F26EB1F-786A-4403-81D7-B3B5DC8F4D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47560" y="1562400"/>
                <a:ext cx="3019320" cy="358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apsule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Capsul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85C8782E-8FD1-4DD5-B1D4-2219BDDE01B3}" vid="{796131F4-60EA-4B71-AF3A-7C794936D8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589</TotalTime>
  <Words>253</Words>
  <Application>Microsoft Office PowerPoint</Application>
  <PresentationFormat>On-screen Show (4:3)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Times New Roman</vt:lpstr>
      <vt:lpstr>Wingdings</vt:lpstr>
      <vt:lpstr>Theme1</vt:lpstr>
      <vt:lpstr>Parallel &amp; Distributed Computing Lecture Week 4 Amdahl’s Law </vt:lpstr>
      <vt:lpstr>Amdahl’s Law</vt:lpstr>
      <vt:lpstr>Example 1</vt:lpstr>
      <vt:lpstr>Example 2</vt:lpstr>
      <vt:lpstr>Amdahl’s Law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Mateen Yaqoob</dc:creator>
  <cp:lastModifiedBy>Moorche</cp:lastModifiedBy>
  <cp:revision>70</cp:revision>
  <dcterms:created xsi:type="dcterms:W3CDTF">2020-09-03T08:42:31Z</dcterms:created>
  <dcterms:modified xsi:type="dcterms:W3CDTF">2023-10-02T06:36:02Z</dcterms:modified>
</cp:coreProperties>
</file>